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0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85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20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0095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266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29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11" Type="http://schemas.openxmlformats.org/officeDocument/2006/relationships/image" Target="../media/image109.png"/><Relationship Id="rId5" Type="http://schemas.openxmlformats.org/officeDocument/2006/relationships/image" Target="../media/image10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12" Type="http://schemas.openxmlformats.org/officeDocument/2006/relationships/image" Target="../media/image1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19.png"/><Relationship Id="rId5" Type="http://schemas.openxmlformats.org/officeDocument/2006/relationships/image" Target="../media/image113.png"/><Relationship Id="rId10" Type="http://schemas.openxmlformats.org/officeDocument/2006/relationships/image" Target="../media/image118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13" Type="http://schemas.openxmlformats.org/officeDocument/2006/relationships/image" Target="../media/image132.png"/><Relationship Id="rId3" Type="http://schemas.openxmlformats.org/officeDocument/2006/relationships/image" Target="../media/image123.png"/><Relationship Id="rId7" Type="http://schemas.openxmlformats.org/officeDocument/2006/relationships/image" Target="../media/image126.png"/><Relationship Id="rId12" Type="http://schemas.openxmlformats.org/officeDocument/2006/relationships/image" Target="../media/image13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png"/><Relationship Id="rId11" Type="http://schemas.openxmlformats.org/officeDocument/2006/relationships/image" Target="../media/image130.png"/><Relationship Id="rId5" Type="http://schemas.openxmlformats.org/officeDocument/2006/relationships/image" Target="../media/image124.png"/><Relationship Id="rId15" Type="http://schemas.openxmlformats.org/officeDocument/2006/relationships/image" Target="../media/image36.png"/><Relationship Id="rId10" Type="http://schemas.openxmlformats.org/officeDocument/2006/relationships/image" Target="../media/image129.png"/><Relationship Id="rId4" Type="http://schemas.openxmlformats.org/officeDocument/2006/relationships/image" Target="../media/image102.png"/><Relationship Id="rId9" Type="http://schemas.openxmlformats.org/officeDocument/2006/relationships/image" Target="../media/image128.png"/><Relationship Id="rId14" Type="http://schemas.openxmlformats.org/officeDocument/2006/relationships/image" Target="../media/image1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png"/><Relationship Id="rId3" Type="http://schemas.openxmlformats.org/officeDocument/2006/relationships/image" Target="../media/image143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image" Target="../media/image15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png"/><Relationship Id="rId3" Type="http://schemas.openxmlformats.org/officeDocument/2006/relationships/image" Target="../media/image32.png"/><Relationship Id="rId7" Type="http://schemas.openxmlformats.org/officeDocument/2006/relationships/image" Target="../media/image1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0.png"/><Relationship Id="rId5" Type="http://schemas.openxmlformats.org/officeDocument/2006/relationships/image" Target="../media/image159.png"/><Relationship Id="rId4" Type="http://schemas.openxmlformats.org/officeDocument/2006/relationships/image" Target="../media/image1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7" Type="http://schemas.openxmlformats.org/officeDocument/2006/relationships/image" Target="../media/image16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6.png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2.png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0.png"/><Relationship Id="rId5" Type="http://schemas.openxmlformats.org/officeDocument/2006/relationships/image" Target="../media/image169.png"/><Relationship Id="rId4" Type="http://schemas.openxmlformats.org/officeDocument/2006/relationships/image" Target="../media/image16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3" Type="http://schemas.openxmlformats.org/officeDocument/2006/relationships/image" Target="../media/image172.png"/><Relationship Id="rId7" Type="http://schemas.openxmlformats.org/officeDocument/2006/relationships/image" Target="../media/image10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7" Type="http://schemas.openxmlformats.org/officeDocument/2006/relationships/image" Target="../media/image18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0.png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5715000" y="1495044"/>
            <a:ext cx="761695" cy="761695"/>
          </a:xfrm>
          <a:prstGeom prst="roundRect">
            <a:avLst>
              <a:gd name="adj" fmla="val 120048"/>
            </a:avLst>
          </a:prstGeom>
          <a:solidFill>
            <a:srgbClr val="1E3A8A">
              <a:alpha val="50000"/>
            </a:srgbClr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24398" y="1705356"/>
            <a:ext cx="342900" cy="342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945636" y="2562149"/>
            <a:ext cx="43059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0" b="1" kern="0" spc="-11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인프라 구축</a:t>
            </a:r>
            <a:endParaRPr lang="en-US" sz="4500" dirty="0"/>
          </a:p>
        </p:txBody>
      </p:sp>
      <p:sp>
        <p:nvSpPr>
          <p:cNvPr id="8" name="Text 4"/>
          <p:cNvSpPr txBox="1"/>
          <p:nvPr/>
        </p:nvSpPr>
        <p:spPr>
          <a:xfrm>
            <a:off x="3964838" y="3353105"/>
            <a:ext cx="42675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아키텍처 설계 및 구현 프로젝트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524805" y="4190695"/>
            <a:ext cx="1143000" cy="38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6"/>
          <p:cNvSpPr/>
          <p:nvPr/>
        </p:nvSpPr>
        <p:spPr>
          <a:xfrm>
            <a:off x="3111703" y="4533595"/>
            <a:ext cx="1209751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3273552" y="4653382"/>
            <a:ext cx="114300" cy="13350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414370" y="4619549"/>
            <a:ext cx="79552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469587" y="4533595"/>
            <a:ext cx="1086307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4631436" y="4653382"/>
            <a:ext cx="171907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29861" y="4619549"/>
            <a:ext cx="6144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702198" y="4533595"/>
            <a:ext cx="857707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5864047" y="4653382"/>
            <a:ext cx="171907" cy="13350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061558" y="4619549"/>
            <a:ext cx="3858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6708038" y="4533595"/>
            <a:ext cx="1162202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870802" y="4653382"/>
            <a:ext cx="133502" cy="13350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29907" y="4619549"/>
            <a:ext cx="7287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8022946" y="4533595"/>
            <a:ext cx="1067105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184794" y="4653382"/>
            <a:ext cx="133502" cy="13350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343900" y="4619549"/>
            <a:ext cx="63367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vSphere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0" y="5629046"/>
            <a:ext cx="12191695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7"/>
          <p:cNvSpPr txBox="1"/>
          <p:nvPr/>
        </p:nvSpPr>
        <p:spPr>
          <a:xfrm>
            <a:off x="457200" y="5867705"/>
            <a:ext cx="1185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</a:t>
            </a:r>
            <a:endParaRPr lang="en-US" sz="100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096305"/>
            <a:ext cx="12573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KSL</a:t>
            </a:r>
            <a:endParaRPr lang="en-US" sz="1800" dirty="0"/>
          </a:p>
        </p:txBody>
      </p:sp>
      <p:sp>
        <p:nvSpPr>
          <p:cNvPr id="28" name="Text 19"/>
          <p:cNvSpPr txBox="1"/>
          <p:nvPr/>
        </p:nvSpPr>
        <p:spPr>
          <a:xfrm>
            <a:off x="4648810" y="59051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MEMBERS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634179" y="6133795"/>
            <a:ext cx="314827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3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김찬혁</a:t>
            </a:r>
            <a:r>
              <a:rPr lang="en-US" altLang="ko-KR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3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송은수</a:t>
            </a:r>
            <a:r>
              <a:rPr lang="ko-KR" alt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이광준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10778033" y="5905195"/>
            <a:ext cx="9573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00" dirty="0"/>
          </a:p>
        </p:txBody>
      </p:sp>
      <p:sp>
        <p:nvSpPr>
          <p:cNvPr id="31" name="Text 22"/>
          <p:cNvSpPr txBox="1"/>
          <p:nvPr/>
        </p:nvSpPr>
        <p:spPr>
          <a:xfrm>
            <a:off x="10748772" y="6133795"/>
            <a:ext cx="98663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2026.02.02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429500" y="-952805"/>
            <a:ext cx="5715000" cy="5715000"/>
          </a:xfrm>
          <a:prstGeom prst="ellipse">
            <a:avLst/>
          </a:prstGeom>
          <a:solidFill>
            <a:srgbClr val="22D3EE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476402" y="3524098"/>
            <a:ext cx="3810305" cy="3810305"/>
          </a:xfrm>
          <a:prstGeom prst="ellipse">
            <a:avLst/>
          </a:prstGeom>
          <a:solidFill>
            <a:srgbClr val="22D3EE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990295"/>
            <a:ext cx="761695" cy="57607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71500" y="133319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인프라 구축 프로젝트 발표 순서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276149"/>
            <a:ext cx="11622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71500" y="18672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18672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0005" y="20189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48079" y="2157070"/>
            <a:ext cx="181051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057400" y="20208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057400" y="22914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범위 및 산출물 정의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81598" y="18672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381598" y="18672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7220102" y="20189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403" r="-1403"/>
          <a:stretch/>
        </p:blipFill>
        <p:spPr>
          <a:xfrm>
            <a:off x="7343546" y="2157070"/>
            <a:ext cx="209398" cy="18105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67498" y="20208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네트워크 구조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867498" y="22914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조직도 및 트래픽 흐름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71500" y="28190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571500" y="28190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6381598" y="28190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6381598" y="28190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3"/>
          <p:cNvSpPr/>
          <p:nvPr/>
        </p:nvSpPr>
        <p:spPr>
          <a:xfrm>
            <a:off x="1410004" y="2959838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48079" y="3097912"/>
            <a:ext cx="181051" cy="181051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2057400" y="2961667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운영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2057400" y="3232329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Routing, NAT, Suricata IDS/IPS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71500" y="3771900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571500" y="3771900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7220103" y="29718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7334403" y="3109874"/>
            <a:ext cx="228600" cy="181051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867498" y="29736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하이브리드 연동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867498" y="32442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활용 및 OpenVPN 구성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381598" y="3771900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6381598" y="3771900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7220102" y="392460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358177" y="4062679"/>
            <a:ext cx="181051" cy="181051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7867498" y="392643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통합 관제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7867498" y="419709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수집 파이프라인 및 대시보드</a:t>
            </a:r>
            <a:endParaRPr lang="en-US" sz="900" dirty="0"/>
          </a:p>
        </p:txBody>
      </p:sp>
      <p:sp>
        <p:nvSpPr>
          <p:cNvPr id="44" name="Shape 36"/>
          <p:cNvSpPr/>
          <p:nvPr/>
        </p:nvSpPr>
        <p:spPr>
          <a:xfrm>
            <a:off x="571500" y="47247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7"/>
          <p:cNvSpPr/>
          <p:nvPr/>
        </p:nvSpPr>
        <p:spPr>
          <a:xfrm>
            <a:off x="571500" y="47247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8"/>
          <p:cNvSpPr/>
          <p:nvPr/>
        </p:nvSpPr>
        <p:spPr>
          <a:xfrm>
            <a:off x="1410005" y="48764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548079" y="5014570"/>
            <a:ext cx="181051" cy="181051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2057400" y="48783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vSphere 백업 전략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2057400" y="51489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가상머신 스냅샷 및 복구 계획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6381598" y="47247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2"/>
          <p:cNvSpPr/>
          <p:nvPr/>
        </p:nvSpPr>
        <p:spPr>
          <a:xfrm>
            <a:off x="6381598" y="47247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3"/>
          <p:cNvSpPr/>
          <p:nvPr/>
        </p:nvSpPr>
        <p:spPr>
          <a:xfrm>
            <a:off x="7220102" y="48764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9"/>
          <a:srcRect l="-1082" r="-1082"/>
          <a:stretch/>
        </p:blipFill>
        <p:spPr>
          <a:xfrm>
            <a:off x="7367321" y="5014570"/>
            <a:ext cx="161849" cy="181051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7867498" y="48783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시스템별 보안 설정</a:t>
            </a:r>
            <a:endParaRPr lang="en-US" sz="1300" dirty="0"/>
          </a:p>
        </p:txBody>
      </p:sp>
      <p:sp>
        <p:nvSpPr>
          <p:cNvPr id="55" name="Text 45"/>
          <p:cNvSpPr txBox="1"/>
          <p:nvPr/>
        </p:nvSpPr>
        <p:spPr>
          <a:xfrm>
            <a:off x="7867498" y="51489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구성요소별 보안 하드닝(Hardening)</a:t>
            </a:r>
            <a:endParaRPr lang="en-US" sz="900" dirty="0"/>
          </a:p>
        </p:txBody>
      </p:sp>
      <p:sp>
        <p:nvSpPr>
          <p:cNvPr id="56" name="Shape 46"/>
          <p:cNvSpPr/>
          <p:nvPr/>
        </p:nvSpPr>
        <p:spPr>
          <a:xfrm>
            <a:off x="571500" y="56765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47"/>
          <p:cNvSpPr/>
          <p:nvPr/>
        </p:nvSpPr>
        <p:spPr>
          <a:xfrm>
            <a:off x="571500" y="56765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8"/>
          <p:cNvSpPr/>
          <p:nvPr/>
        </p:nvSpPr>
        <p:spPr>
          <a:xfrm>
            <a:off x="1410005" y="58293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8" descr="preencoded.png"/>
          <p:cNvPicPr>
            <a:picLocks noChangeAspect="1"/>
          </p:cNvPicPr>
          <p:nvPr/>
        </p:nvPicPr>
        <p:blipFill>
          <a:blip r:embed="rId10"/>
          <a:srcRect l="-1082" r="-1082"/>
          <a:stretch/>
        </p:blipFill>
        <p:spPr>
          <a:xfrm>
            <a:off x="1557223" y="5967374"/>
            <a:ext cx="161849" cy="181051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2057400" y="58311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&amp; 대응</a:t>
            </a:r>
            <a:endParaRPr lang="en-US" sz="1300" dirty="0"/>
          </a:p>
        </p:txBody>
      </p:sp>
      <p:sp>
        <p:nvSpPr>
          <p:cNvPr id="61" name="Text 50"/>
          <p:cNvSpPr txBox="1"/>
          <p:nvPr/>
        </p:nvSpPr>
        <p:spPr>
          <a:xfrm>
            <a:off x="2057400" y="61017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공격 및 계정 탈취 시도 실습</a:t>
            </a:r>
            <a:endParaRPr lang="en-US" sz="900" dirty="0"/>
          </a:p>
        </p:txBody>
      </p:sp>
      <p:sp>
        <p:nvSpPr>
          <p:cNvPr id="62" name="Shape 51"/>
          <p:cNvSpPr/>
          <p:nvPr/>
        </p:nvSpPr>
        <p:spPr>
          <a:xfrm>
            <a:off x="6381598" y="56765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52"/>
          <p:cNvSpPr/>
          <p:nvPr/>
        </p:nvSpPr>
        <p:spPr>
          <a:xfrm>
            <a:off x="6381598" y="56765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53"/>
          <p:cNvSpPr/>
          <p:nvPr/>
        </p:nvSpPr>
        <p:spPr>
          <a:xfrm>
            <a:off x="7220102" y="58293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9" descr="preencoded.png"/>
          <p:cNvPicPr>
            <a:picLocks noChangeAspect="1"/>
          </p:cNvPicPr>
          <p:nvPr/>
        </p:nvPicPr>
        <p:blipFill>
          <a:blip r:embed="rId11"/>
          <a:srcRect l="-505" r="-505"/>
          <a:stretch/>
        </p:blipFill>
        <p:spPr>
          <a:xfrm>
            <a:off x="7334402" y="5967374"/>
            <a:ext cx="228600" cy="181051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7867498" y="58311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Q&amp;A</a:t>
            </a:r>
            <a:endParaRPr lang="en-US" sz="1300" dirty="0"/>
          </a:p>
        </p:txBody>
      </p:sp>
      <p:sp>
        <p:nvSpPr>
          <p:cNvPr id="67" name="Text 55"/>
          <p:cNvSpPr txBox="1"/>
          <p:nvPr/>
        </p:nvSpPr>
        <p:spPr>
          <a:xfrm>
            <a:off x="7867498" y="61017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한계, 의의 및 질의응답</a:t>
            </a:r>
            <a:endParaRPr lang="en-US" sz="900" dirty="0"/>
          </a:p>
        </p:txBody>
      </p:sp>
      <p:sp>
        <p:nvSpPr>
          <p:cNvPr id="68" name="Text 56"/>
          <p:cNvSpPr txBox="1"/>
          <p:nvPr/>
        </p:nvSpPr>
        <p:spPr>
          <a:xfrm>
            <a:off x="769010" y="20766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69" name="Text 57"/>
          <p:cNvSpPr txBox="1"/>
          <p:nvPr/>
        </p:nvSpPr>
        <p:spPr>
          <a:xfrm>
            <a:off x="6579108" y="20766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70" name="Text 58"/>
          <p:cNvSpPr txBox="1"/>
          <p:nvPr/>
        </p:nvSpPr>
        <p:spPr>
          <a:xfrm>
            <a:off x="769010" y="30294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71" name="Text 59"/>
          <p:cNvSpPr txBox="1"/>
          <p:nvPr/>
        </p:nvSpPr>
        <p:spPr>
          <a:xfrm>
            <a:off x="6579108" y="30294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72" name="Text 60"/>
          <p:cNvSpPr txBox="1"/>
          <p:nvPr/>
        </p:nvSpPr>
        <p:spPr>
          <a:xfrm>
            <a:off x="769010" y="3981298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73" name="Text 61"/>
          <p:cNvSpPr txBox="1"/>
          <p:nvPr/>
        </p:nvSpPr>
        <p:spPr>
          <a:xfrm>
            <a:off x="6579108" y="3981298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74" name="Text 62"/>
          <p:cNvSpPr txBox="1"/>
          <p:nvPr/>
        </p:nvSpPr>
        <p:spPr>
          <a:xfrm>
            <a:off x="769010" y="49341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75" name="Text 63"/>
          <p:cNvSpPr txBox="1"/>
          <p:nvPr/>
        </p:nvSpPr>
        <p:spPr>
          <a:xfrm>
            <a:off x="6579108" y="49341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800" dirty="0"/>
          </a:p>
        </p:txBody>
      </p:sp>
      <p:sp>
        <p:nvSpPr>
          <p:cNvPr id="76" name="Text 64"/>
          <p:cNvSpPr txBox="1"/>
          <p:nvPr/>
        </p:nvSpPr>
        <p:spPr>
          <a:xfrm>
            <a:off x="769010" y="58869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800" dirty="0"/>
          </a:p>
        </p:txBody>
      </p:sp>
      <p:sp>
        <p:nvSpPr>
          <p:cNvPr id="77" name="Text 65"/>
          <p:cNvSpPr txBox="1"/>
          <p:nvPr/>
        </p:nvSpPr>
        <p:spPr>
          <a:xfrm>
            <a:off x="6579108" y="58869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410004" y="3916823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12"/>
          <a:srcRect l="-1082" r="-1082"/>
          <a:stretch/>
        </p:blipFill>
        <p:spPr>
          <a:xfrm>
            <a:off x="1557222" y="4054897"/>
            <a:ext cx="161849" cy="18105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057399" y="3918652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구성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2057399" y="4189314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Controller, Compute, Network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인프라 구축 프로젝트의 방향성 정의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752905"/>
            <a:ext cx="5296205" cy="1752905"/>
          </a:xfrm>
          <a:prstGeom prst="roundRect">
            <a:avLst>
              <a:gd name="adj" fmla="val 226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933602" y="2104949"/>
            <a:ext cx="133502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9244" y="2523744"/>
            <a:ext cx="4934102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클라우드(AWS)와 온프레미스(OpenStack) 환경을 아우르는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보안 인프라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설계하고, 실전적인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검증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통해 안전하고 가시성 높은 관제 체계를 구현합니다.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56745" y="3714293"/>
            <a:ext cx="5296205" cy="3019348"/>
          </a:xfrm>
          <a:prstGeom prst="roundRect">
            <a:avLst>
              <a:gd name="adj" fmla="val 3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23544" y="4086454"/>
            <a:ext cx="152705" cy="152705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4562856"/>
            <a:ext cx="114300" cy="1335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90549" y="4505249"/>
            <a:ext cx="2981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기반 온프레미스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190549" y="4733849"/>
            <a:ext cx="2967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Compute, Network, Storage 구성 및 서비스 배포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5095951"/>
            <a:ext cx="114300" cy="1335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90549" y="5038344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보안 게이트웨이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1190549" y="5266944"/>
            <a:ext cx="2777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방화벽 정책, NAT, Suricata IDS/IPS, VPN 연동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5629046"/>
            <a:ext cx="114300" cy="1335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90549" y="5572354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하이브리드 확장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1190549" y="5800954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서버 구축 및 관리망 접근 경로 확보</a:t>
            </a:r>
            <a:endParaRPr lang="en-US" sz="10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6163056"/>
            <a:ext cx="114300" cy="13350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190549" y="6105449"/>
            <a:ext cx="2753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보안 관제 &amp; vSphere 백업</a:t>
            </a:r>
            <a:endParaRPr lang="en-US" sz="1200" dirty="0"/>
          </a:p>
        </p:txBody>
      </p:sp>
      <p:sp>
        <p:nvSpPr>
          <p:cNvPr id="21" name="Text 13"/>
          <p:cNvSpPr txBox="1"/>
          <p:nvPr/>
        </p:nvSpPr>
        <p:spPr>
          <a:xfrm>
            <a:off x="1190549" y="6334049"/>
            <a:ext cx="27386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로그 수집, 대시보드 시각화 및 시스템 백업</a:t>
            </a:r>
            <a:endParaRPr lang="en-US" sz="1000" dirty="0"/>
          </a:p>
        </p:txBody>
      </p:sp>
      <p:sp>
        <p:nvSpPr>
          <p:cNvPr id="58" name="Text 47"/>
          <p:cNvSpPr txBox="1"/>
          <p:nvPr/>
        </p:nvSpPr>
        <p:spPr>
          <a:xfrm>
            <a:off x="571500" y="323698"/>
            <a:ext cx="3200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목표와 범위</a:t>
            </a:r>
            <a:endParaRPr lang="en-US" sz="2700" dirty="0"/>
          </a:p>
        </p:txBody>
      </p:sp>
      <p:sp>
        <p:nvSpPr>
          <p:cNvPr id="59" name="Text 48"/>
          <p:cNvSpPr txBox="1"/>
          <p:nvPr/>
        </p:nvSpPr>
        <p:spPr>
          <a:xfrm>
            <a:off x="1304849" y="2038198"/>
            <a:ext cx="12481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500" dirty="0"/>
          </a:p>
        </p:txBody>
      </p:sp>
      <p:sp>
        <p:nvSpPr>
          <p:cNvPr id="60" name="Text 49"/>
          <p:cNvSpPr txBox="1"/>
          <p:nvPr/>
        </p:nvSpPr>
        <p:spPr>
          <a:xfrm>
            <a:off x="1304849" y="4019702"/>
            <a:ext cx="16669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 범위 (Scope)</a:t>
            </a:r>
            <a:endParaRPr lang="en-US" sz="1500" dirty="0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17C2E719-2785-FF00-1A7F-943B476279CE}"/>
              </a:ext>
            </a:extLst>
          </p:cNvPr>
          <p:cNvGrpSpPr/>
          <p:nvPr/>
        </p:nvGrpSpPr>
        <p:grpSpPr>
          <a:xfrm>
            <a:off x="6324905" y="1752905"/>
            <a:ext cx="5310350" cy="1550121"/>
            <a:chOff x="6324905" y="1752905"/>
            <a:chExt cx="5296204" cy="1904695"/>
          </a:xfrm>
        </p:grpSpPr>
        <p:sp>
          <p:nvSpPr>
            <p:cNvPr id="22" name="Shape 14"/>
            <p:cNvSpPr/>
            <p:nvPr/>
          </p:nvSpPr>
          <p:spPr>
            <a:xfrm>
              <a:off x="6324905" y="1752905"/>
              <a:ext cx="2572207" cy="875995"/>
            </a:xfrm>
            <a:prstGeom prst="roundRect">
              <a:avLst>
                <a:gd name="adj" fmla="val 9077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94A3B8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5"/>
            <p:cNvSpPr txBox="1"/>
            <p:nvPr/>
          </p:nvSpPr>
          <p:spPr>
            <a:xfrm>
              <a:off x="6429146" y="2238451"/>
              <a:ext cx="2362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네트워크 조직도</a:t>
              </a:r>
              <a:endParaRPr lang="en-US" sz="1200" dirty="0"/>
            </a:p>
          </p:txBody>
        </p:sp>
        <p:sp>
          <p:nvSpPr>
            <p:cNvPr id="24" name="Shape 16"/>
            <p:cNvSpPr/>
            <p:nvPr/>
          </p:nvSpPr>
          <p:spPr>
            <a:xfrm>
              <a:off x="9048902" y="1752905"/>
              <a:ext cx="2572207" cy="875995"/>
            </a:xfrm>
            <a:prstGeom prst="roundRect">
              <a:avLst>
                <a:gd name="adj" fmla="val 9077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94A3B8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7"/>
            <p:cNvSpPr txBox="1"/>
            <p:nvPr/>
          </p:nvSpPr>
          <p:spPr>
            <a:xfrm>
              <a:off x="9153144" y="2238451"/>
              <a:ext cx="2362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구성 문서</a:t>
              </a:r>
              <a:endParaRPr lang="en-US" sz="1200" dirty="0"/>
            </a:p>
          </p:txBody>
        </p:sp>
        <p:sp>
          <p:nvSpPr>
            <p:cNvPr id="26" name="Shape 18"/>
            <p:cNvSpPr/>
            <p:nvPr/>
          </p:nvSpPr>
          <p:spPr>
            <a:xfrm>
              <a:off x="6324905" y="2781605"/>
              <a:ext cx="2572207" cy="875995"/>
            </a:xfrm>
            <a:prstGeom prst="roundRect">
              <a:avLst>
                <a:gd name="adj" fmla="val 9077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94A3B8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6429146" y="3267151"/>
              <a:ext cx="2362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보안 정책서</a:t>
              </a:r>
              <a:endParaRPr lang="en-US" sz="1200" dirty="0"/>
            </a:p>
          </p:txBody>
        </p:sp>
        <p:sp>
          <p:nvSpPr>
            <p:cNvPr id="28" name="Shape 20"/>
            <p:cNvSpPr/>
            <p:nvPr/>
          </p:nvSpPr>
          <p:spPr>
            <a:xfrm>
              <a:off x="9048902" y="2781605"/>
              <a:ext cx="2572207" cy="875995"/>
            </a:xfrm>
            <a:prstGeom prst="roundRect">
              <a:avLst>
                <a:gd name="adj" fmla="val 9077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94A3B8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9153144" y="3267151"/>
              <a:ext cx="2362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공격/탐지 로그</a:t>
              </a:r>
              <a:endParaRPr lang="en-US" sz="1200" dirty="0"/>
            </a:p>
          </p:txBody>
        </p:sp>
        <p:pic>
          <p:nvPicPr>
            <p:cNvPr id="61" name="Image 9" descr="preencoded.png"/>
            <p:cNvPicPr>
              <a:picLocks noChangeAspect="1"/>
            </p:cNvPicPr>
            <p:nvPr/>
          </p:nvPicPr>
          <p:blipFill>
            <a:blip r:embed="rId6"/>
            <a:srcRect t="-45" b="-45"/>
            <a:stretch/>
          </p:blipFill>
          <p:spPr>
            <a:xfrm>
              <a:off x="7481621" y="1914754"/>
              <a:ext cx="256946" cy="228600"/>
            </a:xfrm>
            <a:prstGeom prst="rect">
              <a:avLst/>
            </a:prstGeom>
          </p:spPr>
        </p:pic>
        <p:pic>
          <p:nvPicPr>
            <p:cNvPr id="62" name="Image 10" descr="preencoded.png"/>
            <p:cNvPicPr>
              <a:picLocks noChangeAspect="1"/>
            </p:cNvPicPr>
            <p:nvPr/>
          </p:nvPicPr>
          <p:blipFill>
            <a:blip r:embed="rId7"/>
            <a:srcRect l="-133" r="-133"/>
            <a:stretch/>
          </p:blipFill>
          <p:spPr>
            <a:xfrm>
              <a:off x="10248595" y="1914754"/>
              <a:ext cx="171907" cy="228600"/>
            </a:xfrm>
            <a:prstGeom prst="rect">
              <a:avLst/>
            </a:prstGeom>
          </p:spPr>
        </p:pic>
        <p:pic>
          <p:nvPicPr>
            <p:cNvPr id="63" name="Image 11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7496251" y="2943454"/>
              <a:ext cx="228600" cy="228600"/>
            </a:xfrm>
            <a:prstGeom prst="rect">
              <a:avLst/>
            </a:prstGeom>
          </p:spPr>
        </p:pic>
        <p:pic>
          <p:nvPicPr>
            <p:cNvPr id="64" name="Image 12" descr="preencoded.png"/>
            <p:cNvPicPr>
              <a:picLocks noChangeAspect="1"/>
            </p:cNvPicPr>
            <p:nvPr/>
          </p:nvPicPr>
          <p:blipFill>
            <a:blip r:embed="rId9"/>
            <a:srcRect t="-45" b="-45"/>
            <a:stretch/>
          </p:blipFill>
          <p:spPr>
            <a:xfrm>
              <a:off x="10205618" y="2943454"/>
              <a:ext cx="256946" cy="228600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461DEF3-5CD5-8866-485C-3C7C2F72D374}"/>
              </a:ext>
            </a:extLst>
          </p:cNvPr>
          <p:cNvGrpSpPr/>
          <p:nvPr/>
        </p:nvGrpSpPr>
        <p:grpSpPr>
          <a:xfrm>
            <a:off x="6324447" y="3434746"/>
            <a:ext cx="5310808" cy="3298895"/>
            <a:chOff x="6324447" y="4028180"/>
            <a:chExt cx="5296205" cy="4457700"/>
          </a:xfrm>
        </p:grpSpPr>
        <p:sp>
          <p:nvSpPr>
            <p:cNvPr id="30" name="Shape 22"/>
            <p:cNvSpPr/>
            <p:nvPr/>
          </p:nvSpPr>
          <p:spPr>
            <a:xfrm>
              <a:off x="6324447" y="4028180"/>
              <a:ext cx="5296205" cy="4457700"/>
            </a:xfrm>
            <a:prstGeom prst="roundRect">
              <a:avLst>
                <a:gd name="adj" fmla="val 351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94A3B8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3"/>
            <p:cNvSpPr/>
            <p:nvPr/>
          </p:nvSpPr>
          <p:spPr>
            <a:xfrm>
              <a:off x="6562649" y="4543654"/>
              <a:ext cx="1447495" cy="437998"/>
            </a:xfrm>
            <a:prstGeom prst="rect">
              <a:avLst/>
            </a:prstGeom>
            <a:solidFill>
              <a:srgbClr val="0F172A">
                <a:alpha val="8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24"/>
            <p:cNvSpPr/>
            <p:nvPr/>
          </p:nvSpPr>
          <p:spPr>
            <a:xfrm>
              <a:off x="6562649" y="4962449"/>
              <a:ext cx="1447495" cy="19202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25"/>
            <p:cNvSpPr/>
            <p:nvPr/>
          </p:nvSpPr>
          <p:spPr>
            <a:xfrm>
              <a:off x="8010894" y="4543652"/>
              <a:ext cx="1695298" cy="437998"/>
            </a:xfrm>
            <a:prstGeom prst="rect">
              <a:avLst/>
            </a:prstGeom>
            <a:solidFill>
              <a:srgbClr val="0F172A">
                <a:alpha val="8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6"/>
            <p:cNvSpPr/>
            <p:nvPr/>
          </p:nvSpPr>
          <p:spPr>
            <a:xfrm>
              <a:off x="8008315" y="4962449"/>
              <a:ext cx="1695298" cy="19202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7"/>
            <p:cNvSpPr/>
            <p:nvPr/>
          </p:nvSpPr>
          <p:spPr>
            <a:xfrm>
              <a:off x="9695383" y="4543654"/>
              <a:ext cx="1695298" cy="437998"/>
            </a:xfrm>
            <a:prstGeom prst="rect">
              <a:avLst/>
            </a:prstGeom>
            <a:solidFill>
              <a:srgbClr val="0F172A">
                <a:alpha val="8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28"/>
            <p:cNvSpPr/>
            <p:nvPr/>
          </p:nvSpPr>
          <p:spPr>
            <a:xfrm>
              <a:off x="9695383" y="4962449"/>
              <a:ext cx="1695298" cy="19202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29"/>
            <p:cNvSpPr/>
            <p:nvPr/>
          </p:nvSpPr>
          <p:spPr>
            <a:xfrm>
              <a:off x="6562649" y="4981651"/>
              <a:ext cx="1447495" cy="428854"/>
            </a:xfrm>
            <a:prstGeom prst="rect">
              <a:avLst/>
            </a:prstGeom>
            <a:solidFill>
              <a:srgbClr val="1E293B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30"/>
            <p:cNvSpPr/>
            <p:nvPr/>
          </p:nvSpPr>
          <p:spPr>
            <a:xfrm>
              <a:off x="6562649" y="5401361"/>
              <a:ext cx="1447495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1"/>
            <p:cNvSpPr/>
            <p:nvPr/>
          </p:nvSpPr>
          <p:spPr>
            <a:xfrm>
              <a:off x="8008315" y="5401361"/>
              <a:ext cx="1695298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32"/>
            <p:cNvSpPr/>
            <p:nvPr/>
          </p:nvSpPr>
          <p:spPr>
            <a:xfrm>
              <a:off x="9695383" y="5401361"/>
              <a:ext cx="1695298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Shape 33"/>
            <p:cNvSpPr/>
            <p:nvPr/>
          </p:nvSpPr>
          <p:spPr>
            <a:xfrm>
              <a:off x="6562649" y="5410505"/>
              <a:ext cx="1447495" cy="619049"/>
            </a:xfrm>
            <a:prstGeom prst="rect">
              <a:avLst/>
            </a:prstGeom>
            <a:solidFill>
              <a:srgbClr val="1E293B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Shape 34"/>
            <p:cNvSpPr/>
            <p:nvPr/>
          </p:nvSpPr>
          <p:spPr>
            <a:xfrm>
              <a:off x="6562649" y="6020410"/>
              <a:ext cx="1447495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8008315" y="6020410"/>
              <a:ext cx="1695298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6"/>
            <p:cNvSpPr/>
            <p:nvPr/>
          </p:nvSpPr>
          <p:spPr>
            <a:xfrm>
              <a:off x="9695383" y="6020410"/>
              <a:ext cx="1695298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Shape 37"/>
            <p:cNvSpPr/>
            <p:nvPr/>
          </p:nvSpPr>
          <p:spPr>
            <a:xfrm>
              <a:off x="6562649" y="6029554"/>
              <a:ext cx="1447495" cy="619049"/>
            </a:xfrm>
            <a:prstGeom prst="rect">
              <a:avLst/>
            </a:prstGeom>
            <a:solidFill>
              <a:srgbClr val="1E293B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38"/>
            <p:cNvSpPr/>
            <p:nvPr/>
          </p:nvSpPr>
          <p:spPr>
            <a:xfrm>
              <a:off x="6562649" y="6639458"/>
              <a:ext cx="1447495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39"/>
            <p:cNvSpPr/>
            <p:nvPr/>
          </p:nvSpPr>
          <p:spPr>
            <a:xfrm>
              <a:off x="8008315" y="6639458"/>
              <a:ext cx="1695298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Shape 40"/>
            <p:cNvSpPr/>
            <p:nvPr/>
          </p:nvSpPr>
          <p:spPr>
            <a:xfrm>
              <a:off x="9695383" y="6639458"/>
              <a:ext cx="1695298" cy="9144"/>
            </a:xfrm>
            <a:prstGeom prst="rect">
              <a:avLst/>
            </a:prstGeom>
            <a:solidFill>
              <a:srgbClr val="33415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Shape 41"/>
            <p:cNvSpPr/>
            <p:nvPr/>
          </p:nvSpPr>
          <p:spPr>
            <a:xfrm>
              <a:off x="6562649" y="6648602"/>
              <a:ext cx="1447495" cy="609905"/>
            </a:xfrm>
            <a:prstGeom prst="rect">
              <a:avLst/>
            </a:prstGeom>
            <a:solidFill>
              <a:srgbClr val="1E293B">
                <a:alpha val="4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2"/>
            <p:cNvSpPr/>
            <p:nvPr/>
          </p:nvSpPr>
          <p:spPr>
            <a:xfrm>
              <a:off x="6562649" y="7487107"/>
              <a:ext cx="4819802" cy="9144"/>
            </a:xfrm>
            <a:prstGeom prst="rect">
              <a:avLst/>
            </a:prstGeom>
            <a:solidFill>
              <a:srgbClr val="E5E7E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562649" y="7648956"/>
              <a:ext cx="4920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kern="0" spc="52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성공 기준 (Success Criteria)</a:t>
              </a:r>
              <a:endParaRPr lang="en-US" sz="1000" dirty="0"/>
            </a:p>
          </p:txBody>
        </p:sp>
        <p:pic>
          <p:nvPicPr>
            <p:cNvPr id="52" name="Image 6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562649" y="7944307"/>
              <a:ext cx="133502" cy="133502"/>
            </a:xfrm>
            <a:prstGeom prst="rect">
              <a:avLst/>
            </a:prstGeom>
          </p:spPr>
        </p:pic>
        <p:sp>
          <p:nvSpPr>
            <p:cNvPr id="53" name="Text 44"/>
            <p:cNvSpPr txBox="1"/>
            <p:nvPr/>
          </p:nvSpPr>
          <p:spPr>
            <a:xfrm>
              <a:off x="6772046" y="7915046"/>
              <a:ext cx="7580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34D39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가용성 확보</a:t>
              </a:r>
              <a:endParaRPr lang="en-US" sz="1000" dirty="0"/>
            </a:p>
          </p:txBody>
        </p:sp>
        <p:pic>
          <p:nvPicPr>
            <p:cNvPr id="54" name="Image 7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8542325" y="7944307"/>
              <a:ext cx="133502" cy="133502"/>
            </a:xfrm>
            <a:prstGeom prst="rect">
              <a:avLst/>
            </a:prstGeom>
          </p:spPr>
        </p:pic>
        <p:sp>
          <p:nvSpPr>
            <p:cNvPr id="55" name="Text 45"/>
            <p:cNvSpPr txBox="1"/>
            <p:nvPr/>
          </p:nvSpPr>
          <p:spPr>
            <a:xfrm>
              <a:off x="8751722" y="7915046"/>
              <a:ext cx="7580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34D39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보안성 강화</a:t>
              </a:r>
              <a:endParaRPr lang="en-US" sz="1000" dirty="0"/>
            </a:p>
          </p:txBody>
        </p:sp>
        <p:pic>
          <p:nvPicPr>
            <p:cNvPr id="56" name="Image 8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10522001" y="7944307"/>
              <a:ext cx="133502" cy="133502"/>
            </a:xfrm>
            <a:prstGeom prst="rect">
              <a:avLst/>
            </a:prstGeom>
          </p:spPr>
        </p:pic>
        <p:sp>
          <p:nvSpPr>
            <p:cNvPr id="57" name="Text 46"/>
            <p:cNvSpPr txBox="1"/>
            <p:nvPr/>
          </p:nvSpPr>
          <p:spPr>
            <a:xfrm>
              <a:off x="10731398" y="7915046"/>
              <a:ext cx="7580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34D39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관제 가시성</a:t>
              </a:r>
              <a:endParaRPr lang="en-US" sz="1000" dirty="0"/>
            </a:p>
          </p:txBody>
        </p:sp>
        <p:sp>
          <p:nvSpPr>
            <p:cNvPr id="65" name="Text 50"/>
            <p:cNvSpPr txBox="1"/>
            <p:nvPr/>
          </p:nvSpPr>
          <p:spPr>
            <a:xfrm>
              <a:off x="6562649" y="4114800"/>
              <a:ext cx="1305763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범위 상세 정의</a:t>
              </a:r>
              <a:endParaRPr lang="en-US" sz="1500" dirty="0"/>
            </a:p>
          </p:txBody>
        </p:sp>
        <p:sp>
          <p:nvSpPr>
            <p:cNvPr id="66" name="Text 51"/>
            <p:cNvSpPr txBox="1"/>
            <p:nvPr/>
          </p:nvSpPr>
          <p:spPr>
            <a:xfrm>
              <a:off x="6676949" y="4657954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22D3E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구분</a:t>
              </a:r>
              <a:endParaRPr lang="en-US" sz="1000" dirty="0"/>
            </a:p>
          </p:txBody>
        </p:sp>
        <p:sp>
          <p:nvSpPr>
            <p:cNvPr id="67" name="Text 52"/>
            <p:cNvSpPr txBox="1"/>
            <p:nvPr/>
          </p:nvSpPr>
          <p:spPr>
            <a:xfrm>
              <a:off x="8122615" y="4657954"/>
              <a:ext cx="10625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22D3E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In-Scope (포함)</a:t>
              </a:r>
              <a:endParaRPr lang="en-US" sz="1000" dirty="0"/>
            </a:p>
          </p:txBody>
        </p:sp>
        <p:sp>
          <p:nvSpPr>
            <p:cNvPr id="68" name="Text 53"/>
            <p:cNvSpPr txBox="1"/>
            <p:nvPr/>
          </p:nvSpPr>
          <p:spPr>
            <a:xfrm>
              <a:off x="9809683" y="4657954"/>
              <a:ext cx="135788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22D3E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Out-of-Scope (제외)</a:t>
              </a:r>
              <a:endParaRPr lang="en-US" sz="1000" dirty="0"/>
            </a:p>
          </p:txBody>
        </p:sp>
        <p:sp>
          <p:nvSpPr>
            <p:cNvPr id="69" name="Text 54"/>
            <p:cNvSpPr txBox="1"/>
            <p:nvPr/>
          </p:nvSpPr>
          <p:spPr>
            <a:xfrm>
              <a:off x="6676949" y="5095951"/>
              <a:ext cx="4718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인프라</a:t>
              </a:r>
              <a:endParaRPr lang="en-US" sz="1000" dirty="0"/>
            </a:p>
          </p:txBody>
        </p:sp>
        <p:sp>
          <p:nvSpPr>
            <p:cNvPr id="70" name="Text 55"/>
            <p:cNvSpPr txBox="1"/>
            <p:nvPr/>
          </p:nvSpPr>
          <p:spPr>
            <a:xfrm>
              <a:off x="8122615" y="5095951"/>
              <a:ext cx="146212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OpenStack, AWS(EC2)</a:t>
              </a:r>
              <a:endParaRPr lang="en-US" sz="1000" dirty="0"/>
            </a:p>
          </p:txBody>
        </p:sp>
        <p:sp>
          <p:nvSpPr>
            <p:cNvPr id="71" name="Text 56"/>
            <p:cNvSpPr txBox="1"/>
            <p:nvPr/>
          </p:nvSpPr>
          <p:spPr>
            <a:xfrm>
              <a:off x="9809683" y="5095951"/>
              <a:ext cx="119603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물리적 서버 랙 설치</a:t>
              </a:r>
              <a:endParaRPr lang="en-US" sz="1000" dirty="0"/>
            </a:p>
          </p:txBody>
        </p:sp>
        <p:sp>
          <p:nvSpPr>
            <p:cNvPr id="72" name="Text 57"/>
            <p:cNvSpPr txBox="1"/>
            <p:nvPr/>
          </p:nvSpPr>
          <p:spPr>
            <a:xfrm>
              <a:off x="6676949" y="5619902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보안</a:t>
              </a:r>
              <a:endParaRPr lang="en-US" sz="1000" dirty="0"/>
            </a:p>
          </p:txBody>
        </p:sp>
        <p:sp>
          <p:nvSpPr>
            <p:cNvPr id="73" name="Text 58"/>
            <p:cNvSpPr txBox="1"/>
            <p:nvPr/>
          </p:nvSpPr>
          <p:spPr>
            <a:xfrm>
              <a:off x="8122615" y="5524805"/>
              <a:ext cx="1205179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FW, IDS/IPS, VPN</a:t>
              </a:r>
              <a:endParaRPr lang="en-US" sz="1000" dirty="0"/>
            </a:p>
          </p:txBody>
        </p:sp>
        <p:sp>
          <p:nvSpPr>
            <p:cNvPr id="74" name="Text 59"/>
            <p:cNvSpPr txBox="1"/>
            <p:nvPr/>
          </p:nvSpPr>
          <p:spPr>
            <a:xfrm>
              <a:off x="9809683" y="5524805"/>
              <a:ext cx="1357884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?</a:t>
              </a:r>
              <a:endParaRPr lang="en-US" sz="1000" dirty="0"/>
            </a:p>
          </p:txBody>
        </p:sp>
        <p:sp>
          <p:nvSpPr>
            <p:cNvPr id="75" name="Text 60"/>
            <p:cNvSpPr txBox="1"/>
            <p:nvPr/>
          </p:nvSpPr>
          <p:spPr>
            <a:xfrm>
              <a:off x="6676949" y="6238951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관제</a:t>
              </a:r>
              <a:endParaRPr lang="en-US" sz="1000" dirty="0"/>
            </a:p>
          </p:txBody>
        </p:sp>
        <p:sp>
          <p:nvSpPr>
            <p:cNvPr id="76" name="Text 61"/>
            <p:cNvSpPr txBox="1"/>
            <p:nvPr/>
          </p:nvSpPr>
          <p:spPr>
            <a:xfrm>
              <a:off x="8122615" y="6143854"/>
              <a:ext cx="1548079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System/App/Net Log 통합</a:t>
              </a:r>
              <a:endParaRPr lang="en-US" sz="1000" dirty="0"/>
            </a:p>
          </p:txBody>
        </p:sp>
        <p:sp>
          <p:nvSpPr>
            <p:cNvPr id="77" name="Text 62"/>
            <p:cNvSpPr txBox="1"/>
            <p:nvPr/>
          </p:nvSpPr>
          <p:spPr>
            <a:xfrm>
              <a:off x="9809683" y="6143854"/>
              <a:ext cx="1443838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머신러닝 기반 이상 탐지(AI)</a:t>
              </a:r>
              <a:endParaRPr lang="en-US" sz="1000" dirty="0"/>
            </a:p>
          </p:txBody>
        </p:sp>
        <p:sp>
          <p:nvSpPr>
            <p:cNvPr id="78" name="Text 63"/>
            <p:cNvSpPr txBox="1"/>
            <p:nvPr/>
          </p:nvSpPr>
          <p:spPr>
            <a:xfrm>
              <a:off x="6676949" y="6858000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검증</a:t>
              </a:r>
              <a:endParaRPr lang="en-US" sz="1000" dirty="0"/>
            </a:p>
          </p:txBody>
        </p:sp>
        <p:sp>
          <p:nvSpPr>
            <p:cNvPr id="79" name="Text 64"/>
            <p:cNvSpPr txBox="1"/>
            <p:nvPr/>
          </p:nvSpPr>
          <p:spPr>
            <a:xfrm>
              <a:off x="8122615" y="6762902"/>
              <a:ext cx="1519733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웹 취약점, 계정 탈취 시나리오</a:t>
              </a:r>
              <a:endParaRPr lang="en-US" sz="1000" dirty="0"/>
            </a:p>
          </p:txBody>
        </p:sp>
        <p:sp>
          <p:nvSpPr>
            <p:cNvPr id="80" name="Text 65"/>
            <p:cNvSpPr txBox="1"/>
            <p:nvPr/>
          </p:nvSpPr>
          <p:spPr>
            <a:xfrm>
              <a:off x="9809683" y="6762902"/>
              <a:ext cx="1443838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상용 서비스 모의해킹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952805"/>
            <a:ext cx="41934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온프레미스 &amp; AWS 하이브리드 아키텍처 개요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10111435" y="1042416"/>
            <a:ext cx="152705" cy="1335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1305" y="390449"/>
            <a:ext cx="321045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네트워크 구조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0340035" y="1013155"/>
            <a:ext cx="15764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 Overview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81305" y="1547165"/>
            <a:ext cx="7563002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76325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934249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776325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7934249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8229600" y="1542593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8229600" y="1542593"/>
            <a:ext cx="38405" cy="1181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419795" y="169529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22D3E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86546" y="1762049"/>
            <a:ext cx="133502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781898" y="1708099"/>
            <a:ext cx="22731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Gateway (통합 관문)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8419795" y="2018995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트래픽의 진입점이자 보안 경계입니다. NAT, 포트포워딩, Suricata IPS가 동작하며 내부망을 보호합니다.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8229600" y="2858414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8229600" y="2858414"/>
            <a:ext cx="38405" cy="1181405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8419795" y="301111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72B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8467344" y="3077870"/>
            <a:ext cx="171907" cy="1335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781898" y="3023921"/>
            <a:ext cx="138714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&amp; VPN Link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419795" y="3334817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클라우드 자원과 온프레미스 간 OpenVPN 터널링을 통해 안전한 관리자 접근 및 하이브리드 연결을 제공합니다.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8229600" y="4174236"/>
            <a:ext cx="3581705" cy="1000354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8229600" y="4174236"/>
            <a:ext cx="38405" cy="1000354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8419795" y="432694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BBF2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6546" y="4393692"/>
            <a:ext cx="133502" cy="13350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81898" y="4339742"/>
            <a:ext cx="148224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Cloud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8419795" y="4650638"/>
            <a:ext cx="333573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프라이빗 클라우드로, 웹/DB 서버 및 로드밸런서 등 핵심 서비스 인스턴스가 가상화되어 구동됩니다.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8229600" y="5309006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8229600" y="5309006"/>
            <a:ext cx="38405" cy="1181405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3"/>
          <p:cNvSpPr/>
          <p:nvPr/>
        </p:nvSpPr>
        <p:spPr>
          <a:xfrm>
            <a:off x="8419795" y="546079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4D3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8477402" y="5527548"/>
            <a:ext cx="152705" cy="133502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781898" y="5474513"/>
            <a:ext cx="12444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 관제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8419795" y="5784494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시스템, 네트워크, 보안 장비에서 발생하는 모든 로그를 수집하여 실시간 대시보드로 시각화하고 위협을 탐지합니다.</a:t>
            </a:r>
            <a:endParaRPr lang="en-US" sz="1000" dirty="0"/>
          </a:p>
        </p:txBody>
      </p:sp>
      <p:pic>
        <p:nvPicPr>
          <p:cNvPr id="45" name="그림 44"/>
          <p:cNvPicPr>
            <a:picLocks noChangeAspect="1"/>
          </p:cNvPicPr>
          <p:nvPr/>
        </p:nvPicPr>
        <p:blipFill rotWithShape="1">
          <a:blip r:embed="rId8"/>
          <a:srcRect l="3282" t="-165" r="1845" b="165"/>
          <a:stretch/>
        </p:blipFill>
        <p:spPr>
          <a:xfrm>
            <a:off x="406299" y="1551127"/>
            <a:ext cx="7518806" cy="49109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시스템의 데이터 이동 경로 및 단계별 보안 통제 포인트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25813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트래픽 흐름 요약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2632558" y="3614623"/>
            <a:ext cx="114300" cy="18105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4903927" y="3614623"/>
            <a:ext cx="114300" cy="18105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7174382" y="3614623"/>
            <a:ext cx="114300" cy="18105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9444838" y="3614623"/>
            <a:ext cx="114300" cy="181051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7150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5"/>
          <p:cNvSpPr/>
          <p:nvPr/>
        </p:nvSpPr>
        <p:spPr>
          <a:xfrm>
            <a:off x="1269187" y="1990649"/>
            <a:ext cx="571500" cy="571500"/>
          </a:xfrm>
          <a:prstGeom prst="ellipse">
            <a:avLst/>
          </a:prstGeom>
          <a:solidFill>
            <a:srgbClr val="94A3B8">
              <a:alpha val="10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411834" y="2162556"/>
            <a:ext cx="286207" cy="2286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73913" y="2704795"/>
            <a:ext cx="176479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사용자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트래픽 진입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67574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사용자 또는 공격자가 외부 인터넷망을 통해 접근 시도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2420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9"/>
          <p:cNvSpPr/>
          <p:nvPr/>
        </p:nvSpPr>
        <p:spPr>
          <a:xfrm>
            <a:off x="724205" y="5484571"/>
            <a:ext cx="1666951" cy="1920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0"/>
          <p:cNvSpPr txBox="1"/>
          <p:nvPr/>
        </p:nvSpPr>
        <p:spPr>
          <a:xfrm>
            <a:off x="77906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18" name="Text 11"/>
          <p:cNvSpPr txBox="1"/>
          <p:nvPr/>
        </p:nvSpPr>
        <p:spPr>
          <a:xfrm>
            <a:off x="77083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필터링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84195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3539642" y="1990649"/>
            <a:ext cx="571500" cy="5715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10635" y="2162556"/>
            <a:ext cx="228600" cy="2286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931566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게이트웨이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294619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보안 경계로 패킷 필터링 및 포트포워딩 수행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99466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2994660" y="5484571"/>
            <a:ext cx="1666951" cy="19202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304952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304129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IPS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11332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810098" y="1990649"/>
            <a:ext cx="571500" cy="571500"/>
          </a:xfrm>
          <a:prstGeom prst="ellipse">
            <a:avLst/>
          </a:prstGeom>
          <a:solidFill>
            <a:srgbClr val="818CF8">
              <a:alpha val="10000"/>
            </a:srgbClr>
          </a:solidFill>
          <a:ln w="127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5995721" y="2162556"/>
            <a:ext cx="200254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202936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서비스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521665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L4 로드밸런서를 거쳐 웹/DB 서버 등 실제 서비스 처리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526511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5265115" y="5484571"/>
            <a:ext cx="1666951" cy="19202"/>
          </a:xfrm>
          <a:prstGeom prst="rect">
            <a:avLst/>
          </a:prstGeom>
          <a:solidFill>
            <a:srgbClr val="818C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32089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531266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보안그룹 (SG)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738378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9"/>
          <p:cNvSpPr/>
          <p:nvPr/>
        </p:nvSpPr>
        <p:spPr>
          <a:xfrm>
            <a:off x="8081467" y="1990649"/>
            <a:ext cx="571500" cy="571500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52460" y="2162556"/>
            <a:ext cx="228600" cy="2286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564831" y="2704795"/>
            <a:ext cx="161208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수집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748802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단계의 시스템/보안 로그를 중앙으로 전송 및 저장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53648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3"/>
          <p:cNvSpPr/>
          <p:nvPr/>
        </p:nvSpPr>
        <p:spPr>
          <a:xfrm>
            <a:off x="7536485" y="5484571"/>
            <a:ext cx="1666951" cy="19202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4"/>
          <p:cNvSpPr txBox="1"/>
          <p:nvPr/>
        </p:nvSpPr>
        <p:spPr>
          <a:xfrm>
            <a:off x="759134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758311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TLS 암호화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65515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10351922" y="1990649"/>
            <a:ext cx="571500" cy="571500"/>
          </a:xfrm>
          <a:prstGeom prst="ellipse">
            <a:avLst/>
          </a:prstGeom>
          <a:solidFill>
            <a:srgbClr val="F472B6">
              <a:alpha val="1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10494569" y="2162556"/>
            <a:ext cx="286207" cy="22860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789566" y="2704795"/>
            <a:ext cx="169804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VPN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접근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975847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관리자나 개발자는 별도의 VPN 터널을 통해 내부망 접근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980694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9806940" y="5484571"/>
            <a:ext cx="1666951" cy="19202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9862718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54" name="Text 43"/>
          <p:cNvSpPr txBox="1"/>
          <p:nvPr/>
        </p:nvSpPr>
        <p:spPr>
          <a:xfrm>
            <a:off x="985357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MFA 인증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140177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45"/>
          <p:cNvSpPr txBox="1"/>
          <p:nvPr/>
        </p:nvSpPr>
        <p:spPr>
          <a:xfrm>
            <a:off x="1419149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57" name="Shape 46"/>
          <p:cNvSpPr/>
          <p:nvPr/>
        </p:nvSpPr>
        <p:spPr>
          <a:xfrm>
            <a:off x="367314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369051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594360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5960974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821497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232343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1048542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1050279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381305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1037844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인프라를 구성하는 핵심 서비스 아키텍처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23951"/>
            <a:ext cx="33814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구성요소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71500" y="1591056"/>
            <a:ext cx="3495751" cy="5266944"/>
          </a:xfrm>
          <a:prstGeom prst="roundRect">
            <a:avLst>
              <a:gd name="adj" fmla="val 114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9244" y="359084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09244" y="441380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9244" y="523676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00220" y="6131759"/>
            <a:ext cx="3476549" cy="514807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67512" y="6131759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760323" y="6441117"/>
            <a:ext cx="31171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요청의 진입점이자 두뇌 역할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49801" y="1591056"/>
            <a:ext cx="3495751" cy="5266944"/>
          </a:xfrm>
          <a:prstGeom prst="roundRect">
            <a:avLst>
              <a:gd name="adj" fmla="val 114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87545" y="359084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587545" y="441380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87545" y="5226711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349801" y="6123280"/>
            <a:ext cx="3476549" cy="514807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358945" y="7111289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4630979" y="6441117"/>
            <a:ext cx="31171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CPU/Memory 자원 제공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28102" y="1591056"/>
            <a:ext cx="3495751" cy="5266944"/>
          </a:xfrm>
          <a:prstGeom prst="roundRect">
            <a:avLst>
              <a:gd name="adj" fmla="val 114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365846" y="359084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365846" y="441380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365846" y="523676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186166" y="6131759"/>
            <a:ext cx="3476549" cy="514807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137246" y="7111289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8316925" y="6437833"/>
            <a:ext cx="31171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지속성(Persistence) 보장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81405" y="3715207"/>
            <a:ext cx="810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Keystone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81405" y="3943807"/>
            <a:ext cx="10405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 및 권한 관리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181405" y="4538167"/>
            <a:ext cx="629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Glance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81405" y="4766767"/>
            <a:ext cx="9454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이미지 관리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62202" y="5361127"/>
            <a:ext cx="810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Nova-API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162202" y="5589727"/>
            <a:ext cx="9646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컴퓨트 제어 API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959706" y="3715207"/>
            <a:ext cx="1239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Nova-Compute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959706" y="3943807"/>
            <a:ext cx="13075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라이프사이클 관리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977994" y="4538167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Libvirt / KVM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977994" y="4766767"/>
            <a:ext cx="1211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하이퍼바이저 가상화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961535" y="5402275"/>
            <a:ext cx="1248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Group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961535" y="5680544"/>
            <a:ext cx="12499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iptables 방화벽 규칙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718804" y="3715207"/>
            <a:ext cx="1239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Cinder-Volume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718804" y="3943807"/>
            <a:ext cx="12499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스토리지 서비스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756294" y="4538167"/>
            <a:ext cx="943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LVM / Ceph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756294" y="4766767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스토리지 백엔드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775497" y="5361127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Swift (Option)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775497" y="5589727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오브젝트 스토리지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80644" y="1600200"/>
            <a:ext cx="3476549" cy="57607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580644" y="3353105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809244" y="1828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39700" dist="12700" dir="16200000" algn="bl" rotWithShape="0">
              <a:srgbClr val="22D3EE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0" descr="preencoded.png"/>
          <p:cNvPicPr>
            <a:picLocks noChangeAspect="1"/>
          </p:cNvPicPr>
          <p:nvPr/>
        </p:nvPicPr>
        <p:blipFill>
          <a:blip r:embed="rId3"/>
          <a:srcRect l="-90" r="-90"/>
          <a:stretch/>
        </p:blipFill>
        <p:spPr>
          <a:xfrm>
            <a:off x="923544" y="1981505"/>
            <a:ext cx="381305" cy="304495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809244" y="2572207"/>
            <a:ext cx="1991563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Controller Node</a:t>
            </a:r>
            <a:endParaRPr lang="en-US" sz="1800" dirty="0"/>
          </a:p>
        </p:txBody>
      </p:sp>
      <p:sp>
        <p:nvSpPr>
          <p:cNvPr id="60" name="Text 57"/>
          <p:cNvSpPr txBox="1"/>
          <p:nvPr/>
        </p:nvSpPr>
        <p:spPr>
          <a:xfrm>
            <a:off x="809244" y="29333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및 오케스트레이션</a:t>
            </a:r>
            <a:endParaRPr lang="en-US" sz="1000" dirty="0"/>
          </a:p>
        </p:txBody>
      </p:sp>
      <p:pic>
        <p:nvPicPr>
          <p:cNvPr id="61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rcRect/>
          <a:stretch/>
        </p:blipFill>
        <p:spPr>
          <a:xfrm>
            <a:off x="933602" y="3859682"/>
            <a:ext cx="133502" cy="133502"/>
          </a:xfrm>
          <a:prstGeom prst="rect">
            <a:avLst/>
          </a:prstGeom>
        </p:spPr>
      </p:pic>
      <p:pic>
        <p:nvPicPr>
          <p:cNvPr id="62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/>
          <a:stretch/>
        </p:blipFill>
        <p:spPr>
          <a:xfrm>
            <a:off x="933602" y="4682642"/>
            <a:ext cx="133502" cy="133502"/>
          </a:xfrm>
          <a:prstGeom prst="rect">
            <a:avLst/>
          </a:prstGeom>
        </p:spPr>
      </p:pic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t="-1100" b="-1100"/>
          <a:stretch/>
        </p:blipFill>
        <p:spPr>
          <a:xfrm>
            <a:off x="933602" y="5505602"/>
            <a:ext cx="114300" cy="133502"/>
          </a:xfrm>
          <a:prstGeom prst="rect">
            <a:avLst/>
          </a:prstGeom>
        </p:spPr>
      </p:pic>
      <p:sp>
        <p:nvSpPr>
          <p:cNvPr id="65" name="Shape 58"/>
          <p:cNvSpPr/>
          <p:nvPr/>
        </p:nvSpPr>
        <p:spPr>
          <a:xfrm>
            <a:off x="4358945" y="1600200"/>
            <a:ext cx="3476549" cy="57607"/>
          </a:xfrm>
          <a:prstGeom prst="rect">
            <a:avLst/>
          </a:prstGeom>
          <a:solidFill>
            <a:srgbClr val="818C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59"/>
          <p:cNvSpPr/>
          <p:nvPr/>
        </p:nvSpPr>
        <p:spPr>
          <a:xfrm>
            <a:off x="4358945" y="3353105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0"/>
          <p:cNvSpPr/>
          <p:nvPr/>
        </p:nvSpPr>
        <p:spPr>
          <a:xfrm>
            <a:off x="4587545" y="1828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39700" dist="12700" dir="16200000" algn="bl" rotWithShape="0">
              <a:srgbClr val="818CF8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740250" y="1981505"/>
            <a:ext cx="304495" cy="304495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4587545" y="2572207"/>
            <a:ext cx="18672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 Node</a:t>
            </a:r>
            <a:endParaRPr lang="en-US" sz="1800" dirty="0"/>
          </a:p>
        </p:txBody>
      </p:sp>
      <p:sp>
        <p:nvSpPr>
          <p:cNvPr id="70" name="Text 62"/>
          <p:cNvSpPr txBox="1"/>
          <p:nvPr/>
        </p:nvSpPr>
        <p:spPr>
          <a:xfrm>
            <a:off x="4587545" y="29333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7D2FE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워크로드 실행 환경</a:t>
            </a:r>
            <a:endParaRPr lang="en-US" sz="1000" dirty="0"/>
          </a:p>
        </p:txBody>
      </p:sp>
      <p:pic>
        <p:nvPicPr>
          <p:cNvPr id="71" name="Image 6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/>
          <a:stretch/>
        </p:blipFill>
        <p:spPr>
          <a:xfrm>
            <a:off x="4711903" y="3859682"/>
            <a:ext cx="133502" cy="133502"/>
          </a:xfrm>
          <a:prstGeom prst="rect">
            <a:avLst/>
          </a:prstGeom>
        </p:spPr>
      </p:pic>
      <p:pic>
        <p:nvPicPr>
          <p:cNvPr id="72" name="Image 7" descr="preencoded.png"/>
          <p:cNvPicPr>
            <a:picLocks noChangeAspect="1"/>
          </p:cNvPicPr>
          <p:nvPr/>
        </p:nvPicPr>
        <p:blipFill>
          <a:blip r:embed="rId9">
            <a:alphaModFix amt="80000"/>
          </a:blip>
          <a:srcRect l="-837" r="-837"/>
          <a:stretch/>
        </p:blipFill>
        <p:spPr>
          <a:xfrm>
            <a:off x="4711903" y="4682642"/>
            <a:ext cx="152705" cy="133502"/>
          </a:xfrm>
          <a:prstGeom prst="rect">
            <a:avLst/>
          </a:prstGeom>
        </p:spPr>
      </p:pic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10">
            <a:alphaModFix amt="80000"/>
          </a:blip>
          <a:srcRect/>
          <a:stretch/>
        </p:blipFill>
        <p:spPr>
          <a:xfrm>
            <a:off x="4721504" y="5536152"/>
            <a:ext cx="133502" cy="133502"/>
          </a:xfrm>
          <a:prstGeom prst="rect">
            <a:avLst/>
          </a:prstGeom>
        </p:spPr>
      </p:pic>
      <p:sp>
        <p:nvSpPr>
          <p:cNvPr id="75" name="Shape 63"/>
          <p:cNvSpPr/>
          <p:nvPr/>
        </p:nvSpPr>
        <p:spPr>
          <a:xfrm>
            <a:off x="8137246" y="1600200"/>
            <a:ext cx="3476549" cy="57607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64"/>
          <p:cNvSpPr/>
          <p:nvPr/>
        </p:nvSpPr>
        <p:spPr>
          <a:xfrm>
            <a:off x="8137246" y="3353105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65"/>
          <p:cNvSpPr/>
          <p:nvPr/>
        </p:nvSpPr>
        <p:spPr>
          <a:xfrm>
            <a:off x="8365846" y="1828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39700" dist="12700" dir="16200000" algn="bl" rotWithShape="0">
              <a:srgbClr val="34D399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8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518550" y="1981505"/>
            <a:ext cx="304495" cy="304495"/>
          </a:xfrm>
          <a:prstGeom prst="rect">
            <a:avLst/>
          </a:prstGeom>
        </p:spPr>
      </p:pic>
      <p:sp>
        <p:nvSpPr>
          <p:cNvPr id="79" name="Text 66"/>
          <p:cNvSpPr txBox="1"/>
          <p:nvPr/>
        </p:nvSpPr>
        <p:spPr>
          <a:xfrm>
            <a:off x="8365846" y="2572207"/>
            <a:ext cx="169621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Node</a:t>
            </a:r>
            <a:endParaRPr lang="en-US" sz="1800" dirty="0"/>
          </a:p>
        </p:txBody>
      </p:sp>
      <p:sp>
        <p:nvSpPr>
          <p:cNvPr id="80" name="Text 67"/>
          <p:cNvSpPr txBox="1"/>
          <p:nvPr/>
        </p:nvSpPr>
        <p:spPr>
          <a:xfrm>
            <a:off x="8365846" y="29333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</a:rPr>
              <a:t>네트워크 </a:t>
            </a:r>
            <a:endParaRPr lang="en-US" sz="1000" dirty="0"/>
          </a:p>
        </p:txBody>
      </p:sp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12">
            <a:alphaModFix amt="80000"/>
          </a:blip>
          <a:srcRect t="-1100" b="-1100"/>
          <a:stretch/>
        </p:blipFill>
        <p:spPr>
          <a:xfrm>
            <a:off x="8490204" y="3859682"/>
            <a:ext cx="114300" cy="133502"/>
          </a:xfrm>
          <a:prstGeom prst="rect">
            <a:avLst/>
          </a:prstGeom>
        </p:spPr>
      </p:pic>
      <p:pic>
        <p:nvPicPr>
          <p:cNvPr id="82" name="Image 12" descr="preencoded.png"/>
          <p:cNvPicPr>
            <a:picLocks noChangeAspect="1"/>
          </p:cNvPicPr>
          <p:nvPr/>
        </p:nvPicPr>
        <p:blipFill>
          <a:blip r:embed="rId13">
            <a:alphaModFix amt="80000"/>
          </a:blip>
          <a:srcRect l="-837" r="-837"/>
          <a:stretch/>
        </p:blipFill>
        <p:spPr>
          <a:xfrm>
            <a:off x="8490204" y="4682642"/>
            <a:ext cx="152705" cy="133502"/>
          </a:xfrm>
          <a:prstGeom prst="rect">
            <a:avLst/>
          </a:prstGeom>
        </p:spPr>
      </p:pic>
      <p:pic>
        <p:nvPicPr>
          <p:cNvPr id="83" name="Image 13" descr="preencoded.png"/>
          <p:cNvPicPr>
            <a:picLocks noChangeAspect="1"/>
          </p:cNvPicPr>
          <p:nvPr/>
        </p:nvPicPr>
        <p:blipFill>
          <a:blip r:embed="rId14">
            <a:alphaModFix amt="80000"/>
          </a:blip>
          <a:srcRect l="-1507" r="-1507"/>
          <a:stretch/>
        </p:blipFill>
        <p:spPr>
          <a:xfrm>
            <a:off x="8490204" y="5505602"/>
            <a:ext cx="171907" cy="1335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952805"/>
            <a:ext cx="551749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네트워크 구조 및 보안 격리 전략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253167" y="1042416"/>
            <a:ext cx="171907" cy="1335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1305" y="390449"/>
            <a:ext cx="56775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네트워킹 (Neutron)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0500970" y="1013155"/>
            <a:ext cx="1414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Neutron Architecture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81305" y="1547165"/>
            <a:ext cx="7563002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76325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934249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776325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7934249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144829" y="1937614"/>
            <a:ext cx="6038698" cy="571500"/>
          </a:xfrm>
          <a:prstGeom prst="roundRect">
            <a:avLst>
              <a:gd name="adj" fmla="val 21333"/>
            </a:avLst>
          </a:prstGeom>
          <a:solidFill>
            <a:srgbClr val="EF4444">
              <a:alpha val="10000"/>
            </a:srgbClr>
          </a:solidFill>
          <a:ln w="25400">
            <a:solidFill>
              <a:srgbClr val="EF4444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52344" y="2156155"/>
            <a:ext cx="152705" cy="15270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924251" y="2108606"/>
            <a:ext cx="271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External Network (Public Internet)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162349" y="2509114"/>
            <a:ext cx="19202" cy="47640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4162349" y="4128516"/>
            <a:ext cx="19202" cy="47640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1144829" y="4181551"/>
            <a:ext cx="6038698" cy="1904695"/>
          </a:xfrm>
          <a:prstGeom prst="roundRect">
            <a:avLst>
              <a:gd name="adj" fmla="val 1920"/>
            </a:avLst>
          </a:prstGeom>
          <a:solidFill>
            <a:srgbClr val="22D3EE">
              <a:alpha val="5000"/>
            </a:srgbClr>
          </a:solidFill>
          <a:ln w="25400">
            <a:solidFill>
              <a:srgbClr val="22D3EE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1316736" y="4312310"/>
            <a:ext cx="171907" cy="13350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514246" y="4276649"/>
            <a:ext cx="22439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Tenant Network (VXLAN/Private)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2258568" y="4924044"/>
            <a:ext cx="952805" cy="952805"/>
          </a:xfrm>
          <a:prstGeom prst="roundRect">
            <a:avLst>
              <a:gd name="adj" fmla="val 5758"/>
            </a:avLst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2181758" y="4848149"/>
            <a:ext cx="1104595" cy="1104595"/>
          </a:xfrm>
          <a:prstGeom prst="roundRect">
            <a:avLst>
              <a:gd name="adj" fmla="val 5709"/>
            </a:avLst>
          </a:prstGeom>
          <a:noFill/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582266" y="5134356"/>
            <a:ext cx="304495" cy="3044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478938" y="5505602"/>
            <a:ext cx="5148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VM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2403043" y="4705502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 Group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114239" y="4924044"/>
            <a:ext cx="952805" cy="952805"/>
          </a:xfrm>
          <a:prstGeom prst="roundRect">
            <a:avLst>
              <a:gd name="adj" fmla="val 5758"/>
            </a:avLst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5037430" y="4848149"/>
            <a:ext cx="1104595" cy="1104595"/>
          </a:xfrm>
          <a:prstGeom prst="roundRect">
            <a:avLst>
              <a:gd name="adj" fmla="val 5709"/>
            </a:avLst>
          </a:prstGeom>
          <a:noFill/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 l="-107" r="-107"/>
          <a:stretch/>
        </p:blipFill>
        <p:spPr>
          <a:xfrm>
            <a:off x="5457139" y="5134356"/>
            <a:ext cx="267005" cy="3044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374843" y="5505602"/>
            <a:ext cx="438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VM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5257800" y="4705502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 Group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313225" y="4223614"/>
            <a:ext cx="1133856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4399178" y="4261104"/>
            <a:ext cx="10479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SNAT / Floating IP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8229600" y="1452067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229600" y="1452067"/>
            <a:ext cx="38405" cy="1181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8419795" y="160385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22D3E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8477402" y="1670609"/>
            <a:ext cx="152705" cy="133502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8781898" y="1617574"/>
            <a:ext cx="197784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네트워크 (Overlay)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419795" y="1928470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VXLAN/GRE 터널링을 통해 각 프로젝트(테넌트) 간 완벽한 논리적 네트워크 격리를 제공하여 멀티 테넌시 보안을 보장합니다.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8229600" y="2767889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8229600" y="2767889"/>
            <a:ext cx="38405" cy="1181405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7"/>
          <p:cNvSpPr/>
          <p:nvPr/>
        </p:nvSpPr>
        <p:spPr>
          <a:xfrm>
            <a:off x="8419795" y="291967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72B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486546" y="2986430"/>
            <a:ext cx="133502" cy="133502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8781898" y="2933395"/>
            <a:ext cx="187269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Neutron Router &amp; NAT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8419795" y="3244291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라우터가 내부망과 외부망을 연결하며, Floating IP(1:1 NAT)와 SNAT를 통해 인바운드/아웃바운드 통신을 제어합니다.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8229600" y="4083710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1"/>
          <p:cNvSpPr/>
          <p:nvPr/>
        </p:nvSpPr>
        <p:spPr>
          <a:xfrm>
            <a:off x="8229600" y="4083710"/>
            <a:ext cx="38405" cy="1181405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2"/>
          <p:cNvSpPr/>
          <p:nvPr/>
        </p:nvSpPr>
        <p:spPr>
          <a:xfrm>
            <a:off x="8419795" y="423550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4D3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86546" y="4302252"/>
            <a:ext cx="133502" cy="133502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8781898" y="4249217"/>
            <a:ext cx="25017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그룹 (Micro-segmentation)</a:t>
            </a:r>
            <a:endParaRPr lang="en-US" sz="1200" dirty="0"/>
          </a:p>
        </p:txBody>
      </p:sp>
      <p:sp>
        <p:nvSpPr>
          <p:cNvPr id="54" name="Text 44"/>
          <p:cNvSpPr txBox="1"/>
          <p:nvPr/>
        </p:nvSpPr>
        <p:spPr>
          <a:xfrm>
            <a:off x="8419795" y="4559198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VM의 vNIC 앞단에서 작동하는 L4 방화벽입니다. 기본적으로 모든 인바운드를 차단(Deny)하고 명시된 트래픽만 허용합니다.</a:t>
            </a:r>
            <a:endParaRPr lang="en-US" sz="1000" dirty="0"/>
          </a:p>
        </p:txBody>
      </p:sp>
      <p:sp>
        <p:nvSpPr>
          <p:cNvPr id="55" name="Shape 45"/>
          <p:cNvSpPr/>
          <p:nvPr/>
        </p:nvSpPr>
        <p:spPr>
          <a:xfrm>
            <a:off x="8229600" y="5399532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6"/>
          <p:cNvSpPr/>
          <p:nvPr/>
        </p:nvSpPr>
        <p:spPr>
          <a:xfrm>
            <a:off x="8229600" y="5399532"/>
            <a:ext cx="38405" cy="1181405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47"/>
          <p:cNvSpPr/>
          <p:nvPr/>
        </p:nvSpPr>
        <p:spPr>
          <a:xfrm>
            <a:off x="8419795" y="55513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BBF2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86546" y="5618074"/>
            <a:ext cx="133502" cy="133502"/>
          </a:xfrm>
          <a:prstGeom prst="rect">
            <a:avLst/>
          </a:prstGeom>
        </p:spPr>
      </p:pic>
      <p:sp>
        <p:nvSpPr>
          <p:cNvPr id="59" name="Text 48"/>
          <p:cNvSpPr txBox="1"/>
          <p:nvPr/>
        </p:nvSpPr>
        <p:spPr>
          <a:xfrm>
            <a:off x="8781898" y="5565038"/>
            <a:ext cx="12444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망 분리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419795" y="5875020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관리망(Mgmt), API망, 데이터망(Tunnel), 스토리지망을 물리적/논리적으로 분리하여 트래픽 간섭과 보안 위협을 최소화합니다.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3590849" y="2985516"/>
            <a:ext cx="1143000" cy="1143000"/>
          </a:xfrm>
          <a:prstGeom prst="ellipse">
            <a:avLst/>
          </a:prstGeom>
          <a:solidFill>
            <a:srgbClr val="FBBF24">
              <a:alpha val="10000"/>
            </a:srgbClr>
          </a:solidFill>
          <a:ln w="25400">
            <a:solidFill>
              <a:srgbClr val="FBBF24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028846" y="3116275"/>
            <a:ext cx="267005" cy="267005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3889858" y="3425342"/>
            <a:ext cx="5477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Virtual Router</a:t>
            </a:r>
            <a:endParaRPr lang="en-US" sz="1000" dirty="0"/>
          </a:p>
        </p:txBody>
      </p:sp>
      <p:sp>
        <p:nvSpPr>
          <p:cNvPr id="64" name="Text 52"/>
          <p:cNvSpPr txBox="1"/>
          <p:nvPr/>
        </p:nvSpPr>
        <p:spPr>
          <a:xfrm>
            <a:off x="3774643" y="3806647"/>
            <a:ext cx="776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(L3 Agent)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IaaS 자원 구성 및 운영/배포 전략 정의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44769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서비스 제공 모델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71500" y="1600200"/>
            <a:ext cx="3047695" cy="2038198"/>
          </a:xfrm>
          <a:prstGeom prst="roundRect">
            <a:avLst>
              <a:gd name="adj" fmla="val 2516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09244" y="1837944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895198" y="195224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9244" y="2775204"/>
            <a:ext cx="2675534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직접 Compute, Network, Storage 자원을 생성하고 관리하는 셀프 서비스 환경을 제공합니다.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71500" y="3822192"/>
            <a:ext cx="3047695" cy="2038198"/>
          </a:xfrm>
          <a:prstGeom prst="roundRect">
            <a:avLst>
              <a:gd name="adj" fmla="val 2516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09244" y="405993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23544" y="41742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09244" y="4997196"/>
            <a:ext cx="2675534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사전에 정의된 Flavor(사양)와 검증된 골든 이미지(Golden Image)를 통해 운영 효율성과 보안성을 확보합니다.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71500" y="6043270"/>
            <a:ext cx="3047695" cy="1218895"/>
          </a:xfrm>
          <a:prstGeom prst="roundRect">
            <a:avLst>
              <a:gd name="adj" fmla="val 7033"/>
            </a:avLst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809244" y="6281014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Principle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" y="6548018"/>
            <a:ext cx="2701138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"자원은유연하게,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통제는엄격하게"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000500" y="1600200"/>
            <a:ext cx="7619695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4009644" y="1609344"/>
            <a:ext cx="1438351" cy="514807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009644" y="2104949"/>
            <a:ext cx="1438351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441594" y="1609344"/>
            <a:ext cx="1848002" cy="514807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5441594" y="2104949"/>
            <a:ext cx="1848002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7283196" y="1609344"/>
            <a:ext cx="4334256" cy="514807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7283196" y="2104949"/>
            <a:ext cx="4334256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4009644" y="3653028"/>
            <a:ext cx="1438351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5441594" y="2890418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7283196" y="2890418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7511796" y="2280514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 Flavor(CPU/RAM) 제공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511796" y="2535631"/>
            <a:ext cx="397672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m1.small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(1vCPU/2GB) ~</a:t>
            </a: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m1.large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(4vCPU/8GB)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441594" y="3645713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7283196" y="3645713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7511796" y="3049524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전용 VXLAN 네트워크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7511796" y="3305556"/>
            <a:ext cx="3976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Floating IP를 통한 외부 연결, Security Group(L4 ACL) 적용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009644" y="5358384"/>
            <a:ext cx="1438351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5441594" y="4596689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1"/>
          <p:cNvSpPr/>
          <p:nvPr/>
        </p:nvSpPr>
        <p:spPr>
          <a:xfrm>
            <a:off x="7283196" y="4596689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/>
          <p:cNvSpPr txBox="1"/>
          <p:nvPr/>
        </p:nvSpPr>
        <p:spPr>
          <a:xfrm>
            <a:off x="7511796" y="3810305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Golden Image 사용 원칙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7511796" y="4065422"/>
            <a:ext cx="39767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Cloud-init 탑재된 Ubuntu 22.04 LTS / CentOS 7 기반, 주기적 보안 패치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441594" y="5355641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5"/>
          <p:cNvSpPr/>
          <p:nvPr/>
        </p:nvSpPr>
        <p:spPr>
          <a:xfrm>
            <a:off x="7283196" y="5355641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 txBox="1"/>
          <p:nvPr/>
        </p:nvSpPr>
        <p:spPr>
          <a:xfrm>
            <a:off x="7511796" y="4760366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Key Pair 인증 강제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7511796" y="5015484"/>
            <a:ext cx="3976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접속 비활성화, root 직접 로그인 차단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009644" y="7069226"/>
            <a:ext cx="1438351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9"/>
          <p:cNvSpPr/>
          <p:nvPr/>
        </p:nvSpPr>
        <p:spPr>
          <a:xfrm>
            <a:off x="5441594" y="6307531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0"/>
          <p:cNvSpPr/>
          <p:nvPr/>
        </p:nvSpPr>
        <p:spPr>
          <a:xfrm>
            <a:off x="7283196" y="6307531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1"/>
          <p:cNvSpPr txBox="1"/>
          <p:nvPr/>
        </p:nvSpPr>
        <p:spPr>
          <a:xfrm>
            <a:off x="7511796" y="5520233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프로젝트별 리소스 제한 설정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7511796" y="5776265"/>
            <a:ext cx="39767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vCPU: 20, RAM: 50GB, Instances: 10, Volumes: 10 (초과 시 승인 필요)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7511796" y="6471209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Volume Snapshot &amp; Image Backup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7511796" y="6726326"/>
            <a:ext cx="3976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데이터 볼륨 일일 스냅샷, 변경 전 이미지 백업 수행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09244" y="2447849"/>
            <a:ext cx="1773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Private Cloud (IaaS)</a:t>
            </a:r>
            <a:endParaRPr lang="en-US" sz="1300" dirty="0"/>
          </a:p>
        </p:txBody>
      </p:sp>
      <p:sp>
        <p:nvSpPr>
          <p:cNvPr id="50" name="Text 46"/>
          <p:cNvSpPr txBox="1"/>
          <p:nvPr/>
        </p:nvSpPr>
        <p:spPr>
          <a:xfrm>
            <a:off x="809244" y="4669841"/>
            <a:ext cx="14502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Standardization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4238244" y="1762049"/>
            <a:ext cx="354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000" dirty="0"/>
          </a:p>
        </p:txBody>
      </p:sp>
      <p:sp>
        <p:nvSpPr>
          <p:cNvPr id="52" name="Text 48"/>
          <p:cNvSpPr txBox="1"/>
          <p:nvPr/>
        </p:nvSpPr>
        <p:spPr>
          <a:xfrm>
            <a:off x="5670194" y="1762049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항목</a:t>
            </a:r>
            <a:endParaRPr lang="en-US" sz="1000" dirty="0"/>
          </a:p>
        </p:txBody>
      </p:sp>
      <p:sp>
        <p:nvSpPr>
          <p:cNvPr id="53" name="Text 49"/>
          <p:cNvSpPr txBox="1"/>
          <p:nvPr/>
        </p:nvSpPr>
        <p:spPr>
          <a:xfrm>
            <a:off x="7511796" y="1762049"/>
            <a:ext cx="1107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구성 및 정책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4238244" y="2669134"/>
            <a:ext cx="981151" cy="437998"/>
          </a:xfrm>
          <a:prstGeom prst="roundRect">
            <a:avLst>
              <a:gd name="adj" fmla="val 9076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1"/>
          <p:cNvSpPr txBox="1"/>
          <p:nvPr/>
        </p:nvSpPr>
        <p:spPr>
          <a:xfrm>
            <a:off x="4343400" y="2716682"/>
            <a:ext cx="7050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IAAS RESOURCE</a:t>
            </a:r>
            <a:endParaRPr lang="en-US" sz="900" dirty="0"/>
          </a:p>
        </p:txBody>
      </p:sp>
      <p:pic>
        <p:nvPicPr>
          <p:cNvPr id="56" name="Image 2" descr="preencoded.png"/>
          <p:cNvPicPr>
            <a:picLocks noChangeAspect="1"/>
          </p:cNvPicPr>
          <p:nvPr/>
        </p:nvPicPr>
        <p:blipFill>
          <a:blip r:embed="rId5"/>
          <a:srcRect l="-16667" r="-16667"/>
          <a:stretch/>
        </p:blipFill>
        <p:spPr>
          <a:xfrm>
            <a:off x="5670194" y="2337206"/>
            <a:ext cx="190195" cy="142646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5670194" y="2290572"/>
            <a:ext cx="861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Virtual Machine</a:t>
            </a:r>
            <a:endParaRPr lang="en-US" sz="1100" dirty="0"/>
          </a:p>
        </p:txBody>
      </p:sp>
      <p:pic>
        <p:nvPicPr>
          <p:cNvPr id="58" name="Image 3" descr="preencoded.png"/>
          <p:cNvPicPr>
            <a:picLocks noChangeAspect="1"/>
          </p:cNvPicPr>
          <p:nvPr/>
        </p:nvPicPr>
        <p:blipFill>
          <a:blip r:embed="rId6"/>
          <a:srcRect l="-3333" r="-3333"/>
          <a:stretch/>
        </p:blipFill>
        <p:spPr>
          <a:xfrm>
            <a:off x="5670194" y="3210458"/>
            <a:ext cx="190195" cy="142646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5937199" y="3163824"/>
            <a:ext cx="9473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00" dirty="0"/>
          </a:p>
        </p:txBody>
      </p:sp>
      <p:sp>
        <p:nvSpPr>
          <p:cNvPr id="60" name="Shape 54"/>
          <p:cNvSpPr/>
          <p:nvPr/>
        </p:nvSpPr>
        <p:spPr>
          <a:xfrm>
            <a:off x="4238244" y="4374490"/>
            <a:ext cx="981151" cy="267005"/>
          </a:xfrm>
          <a:prstGeom prst="roundRect">
            <a:avLst>
              <a:gd name="adj" fmla="val 244618"/>
            </a:avLst>
          </a:prstGeom>
          <a:solidFill>
            <a:srgbClr val="10B981">
              <a:alpha val="2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5"/>
          <p:cNvSpPr txBox="1"/>
          <p:nvPr/>
        </p:nvSpPr>
        <p:spPr>
          <a:xfrm>
            <a:off x="4343400" y="4422038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DEPLOYMENT</a:t>
            </a:r>
            <a:endParaRPr lang="en-US" sz="90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7"/>
          <a:srcRect l="-16667" r="-16667"/>
          <a:stretch/>
        </p:blipFill>
        <p:spPr>
          <a:xfrm>
            <a:off x="5670194" y="4066337"/>
            <a:ext cx="190195" cy="142646"/>
          </a:xfrm>
          <a:prstGeom prst="rect">
            <a:avLst/>
          </a:prstGeom>
        </p:spPr>
      </p:pic>
      <p:sp>
        <p:nvSpPr>
          <p:cNvPr id="63" name="Text 56"/>
          <p:cNvSpPr txBox="1"/>
          <p:nvPr/>
        </p:nvSpPr>
        <p:spPr>
          <a:xfrm>
            <a:off x="5937199" y="4019702"/>
            <a:ext cx="10040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 Mgmt</a:t>
            </a:r>
            <a:endParaRPr lang="en-US" sz="1100" dirty="0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rcRect l="-16667" r="-16667"/>
          <a:stretch/>
        </p:blipFill>
        <p:spPr>
          <a:xfrm>
            <a:off x="5670194" y="4921301"/>
            <a:ext cx="190195" cy="142646"/>
          </a:xfrm>
          <a:prstGeom prst="rect">
            <a:avLst/>
          </a:prstGeom>
        </p:spPr>
      </p:pic>
      <p:sp>
        <p:nvSpPr>
          <p:cNvPr id="65" name="Text 57"/>
          <p:cNvSpPr txBox="1"/>
          <p:nvPr/>
        </p:nvSpPr>
        <p:spPr>
          <a:xfrm>
            <a:off x="5937199" y="4874666"/>
            <a:ext cx="11567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Control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4238244" y="6083503"/>
            <a:ext cx="942746" cy="267005"/>
          </a:xfrm>
          <a:prstGeom prst="roundRect">
            <a:avLst>
              <a:gd name="adj" fmla="val 244618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59"/>
          <p:cNvSpPr txBox="1"/>
          <p:nvPr/>
        </p:nvSpPr>
        <p:spPr>
          <a:xfrm>
            <a:off x="4343400" y="6131052"/>
            <a:ext cx="8193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OPERATIONS</a:t>
            </a:r>
            <a:endParaRPr lang="en-US" sz="900" dirty="0"/>
          </a:p>
        </p:txBody>
      </p:sp>
      <p:pic>
        <p:nvPicPr>
          <p:cNvPr id="68" name="Image 6" descr="preencoded.png"/>
          <p:cNvPicPr>
            <a:picLocks noChangeAspect="1"/>
          </p:cNvPicPr>
          <p:nvPr/>
        </p:nvPicPr>
        <p:blipFill>
          <a:blip r:embed="rId9"/>
          <a:srcRect l="-3333" r="-3333"/>
          <a:stretch/>
        </p:blipFill>
        <p:spPr>
          <a:xfrm>
            <a:off x="5670194" y="5777179"/>
            <a:ext cx="190195" cy="142646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5937199" y="5730545"/>
            <a:ext cx="10899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Quota (할당량)</a:t>
            </a:r>
            <a:endParaRPr lang="en-US" sz="1100" dirty="0"/>
          </a:p>
        </p:txBody>
      </p:sp>
      <p:pic>
        <p:nvPicPr>
          <p:cNvPr id="70" name="Image 7" descr="preencoded.png"/>
          <p:cNvPicPr>
            <a:picLocks noChangeAspect="1"/>
          </p:cNvPicPr>
          <p:nvPr/>
        </p:nvPicPr>
        <p:blipFill>
          <a:blip r:embed="rId10"/>
          <a:srcRect l="-16667" r="-16667"/>
          <a:stretch/>
        </p:blipFill>
        <p:spPr>
          <a:xfrm>
            <a:off x="5670194" y="6523330"/>
            <a:ext cx="190195" cy="142646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5670194" y="6476695"/>
            <a:ext cx="90891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 Strategy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보안의 핵심 관문 (Core Gateway of Security Infrastructure)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676095"/>
            <a:ext cx="5333695" cy="4800600"/>
          </a:xfrm>
          <a:prstGeom prst="roundRect">
            <a:avLst>
              <a:gd name="adj" fmla="val 302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2746" y="242864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9149" y="2562149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Stateful Packet Inspection 기반의 트래픽 제어. In/Outbound 정책을 엄격히 적용하여 비인가 접근을 원천 봉쇄합니다.</a:t>
            </a:r>
            <a:endParaRPr lang="en-US" sz="1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8972" y="3396082"/>
            <a:ext cx="237744" cy="1901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9149" y="3528670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IP(192.168.x.x) 구조를 은닉하고, 웹 서비스 등 필수 포트만 제한적으로 외부(WAN)에 노출시켜 공격 면적을 최소화합니다.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929030" y="4362602"/>
            <a:ext cx="219456" cy="1901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9149" y="4496105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시그니처 기반의 실시간 침입 탐지 및 차단 시스템. 웹쉘(WebShell) 업로드 시도나 악성 스캔 트래픽을 패킷 레벨에서 감지합니다.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2746" y="5329123"/>
            <a:ext cx="190195" cy="1901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419149" y="5462626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OpenVPN과 연동하여 하이브리드 클라우드 간 안전한 터널링을 제공하고, 원격 관리자의 안전한 내부망 접근을 보장합니다.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6286500" y="167609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rcRect t="-530" b="-530"/>
          <a:stretch/>
        </p:blipFill>
        <p:spPr>
          <a:xfrm>
            <a:off x="7457846" y="2257654"/>
            <a:ext cx="247802" cy="28620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858914" y="3200400"/>
            <a:ext cx="14529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Policy-based Filtering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7164324" y="3429000"/>
            <a:ext cx="8385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&amp; Alias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>
            <a:off x="9029700" y="167609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181844" y="2257654"/>
            <a:ext cx="286207" cy="28620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823399" y="3200400"/>
            <a:ext cx="1004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&amp; Routing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9870034" y="3429000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Load Balancing</a:t>
            </a:r>
            <a:endParaRPr lang="en-US" sz="900" dirty="0"/>
          </a:p>
        </p:txBody>
      </p:sp>
      <p:sp>
        <p:nvSpPr>
          <p:cNvPr id="22" name="Shape 14"/>
          <p:cNvSpPr/>
          <p:nvPr/>
        </p:nvSpPr>
        <p:spPr>
          <a:xfrm>
            <a:off x="6286500" y="415320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rcRect l="-607" r="-607"/>
          <a:stretch/>
        </p:blipFill>
        <p:spPr>
          <a:xfrm>
            <a:off x="7401154" y="4733849"/>
            <a:ext cx="362102" cy="286207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63079" y="5676595"/>
            <a:ext cx="6437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IDS / IPS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6911035" y="5905195"/>
            <a:ext cx="13432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 Packet Inspection</a:t>
            </a:r>
            <a:endParaRPr lang="en-US" sz="900" dirty="0"/>
          </a:p>
        </p:txBody>
      </p:sp>
      <p:sp>
        <p:nvSpPr>
          <p:cNvPr id="26" name="Shape 17"/>
          <p:cNvSpPr/>
          <p:nvPr/>
        </p:nvSpPr>
        <p:spPr>
          <a:xfrm>
            <a:off x="9029700" y="415320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181844" y="4733849"/>
            <a:ext cx="286207" cy="286207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9715500" y="5676595"/>
            <a:ext cx="1224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Hybrid Cloud VPN</a:t>
            </a:r>
            <a:endParaRPr lang="en-US" sz="1000" dirty="0"/>
          </a:p>
        </p:txBody>
      </p:sp>
      <p:sp>
        <p:nvSpPr>
          <p:cNvPr id="29" name="Text 19"/>
          <p:cNvSpPr txBox="1"/>
          <p:nvPr/>
        </p:nvSpPr>
        <p:spPr>
          <a:xfrm>
            <a:off x="9983419" y="5905195"/>
            <a:ext cx="685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Site-to-Site</a:t>
            </a:r>
            <a:endParaRPr lang="en-US" sz="900" dirty="0"/>
          </a:p>
        </p:txBody>
      </p:sp>
      <p:sp>
        <p:nvSpPr>
          <p:cNvPr id="30" name="Text 20"/>
          <p:cNvSpPr txBox="1"/>
          <p:nvPr/>
        </p:nvSpPr>
        <p:spPr>
          <a:xfrm>
            <a:off x="571500" y="323698"/>
            <a:ext cx="2600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pfSense의 역할</a:t>
            </a:r>
            <a:endParaRPr lang="en-US" sz="2700" dirty="0"/>
          </a:p>
        </p:txBody>
      </p:sp>
      <p:sp>
        <p:nvSpPr>
          <p:cNvPr id="31" name="Text 21"/>
          <p:cNvSpPr txBox="1"/>
          <p:nvPr/>
        </p:nvSpPr>
        <p:spPr>
          <a:xfrm>
            <a:off x="1419149" y="2247595"/>
            <a:ext cx="2724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방화벽 (Border Firewall)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419149" y="3215030"/>
            <a:ext cx="16770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및 포트포워딩</a:t>
            </a:r>
            <a:endParaRPr lang="en-US" sz="1500" dirty="0"/>
          </a:p>
        </p:txBody>
      </p:sp>
      <p:sp>
        <p:nvSpPr>
          <p:cNvPr id="33" name="Text 23"/>
          <p:cNvSpPr txBox="1"/>
          <p:nvPr/>
        </p:nvSpPr>
        <p:spPr>
          <a:xfrm>
            <a:off x="1419149" y="4181551"/>
            <a:ext cx="20766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IDS/IPS 연동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1419149" y="5148072"/>
            <a:ext cx="14676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게이트웨이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901891" y="2866644"/>
            <a:ext cx="13670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Control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9726473" y="2866644"/>
            <a:ext cx="12051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Traffic Mgmt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6879031" y="5343754"/>
            <a:ext cx="14145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Threat Defence</a:t>
            </a:r>
            <a:endParaRPr lang="en-US" sz="1300" dirty="0"/>
          </a:p>
        </p:txBody>
      </p:sp>
      <p:sp>
        <p:nvSpPr>
          <p:cNvPr id="38" name="Text 28"/>
          <p:cNvSpPr txBox="1"/>
          <p:nvPr/>
        </p:nvSpPr>
        <p:spPr>
          <a:xfrm>
            <a:off x="9724644" y="5343754"/>
            <a:ext cx="12051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Connectivity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381305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1037844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흐름 제어 및 외부 서비스 연결 정책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23951"/>
            <a:ext cx="53538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라우팅 · NAT · 포트포워딩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71500" y="1495044"/>
            <a:ext cx="3534156" cy="2447849"/>
          </a:xfrm>
          <a:prstGeom prst="roundRect">
            <a:avLst>
              <a:gd name="adj" fmla="val 174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0598" y="1495044"/>
            <a:ext cx="3534156" cy="2447849"/>
          </a:xfrm>
          <a:prstGeom prst="roundRect">
            <a:avLst>
              <a:gd name="adj" fmla="val 174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71500" y="4125773"/>
            <a:ext cx="11048695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089697" y="1495044"/>
            <a:ext cx="3534156" cy="2447849"/>
          </a:xfrm>
          <a:prstGeom prst="roundRect">
            <a:avLst>
              <a:gd name="adj" fmla="val 174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1754" y="4364431"/>
            <a:ext cx="152705" cy="152705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771754" y="4668926"/>
            <a:ext cx="2133295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771754" y="5050231"/>
            <a:ext cx="2133295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901391" y="4668926"/>
            <a:ext cx="1600200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2901391" y="5050231"/>
            <a:ext cx="1600200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4498848" y="4668926"/>
            <a:ext cx="1600200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498848" y="5050231"/>
            <a:ext cx="1600200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6095390" y="4668926"/>
            <a:ext cx="2667305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4"/>
          <p:cNvSpPr/>
          <p:nvPr/>
        </p:nvSpPr>
        <p:spPr>
          <a:xfrm>
            <a:off x="6095390" y="5050231"/>
            <a:ext cx="2667305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8758123" y="4668926"/>
            <a:ext cx="2667305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8758123" y="5050231"/>
            <a:ext cx="2667305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771754" y="5472684"/>
            <a:ext cx="213329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8"/>
          <p:cNvSpPr/>
          <p:nvPr/>
        </p:nvSpPr>
        <p:spPr>
          <a:xfrm>
            <a:off x="2901391" y="5472684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4498848" y="5472684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6095390" y="5472684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1"/>
          <p:cNvSpPr/>
          <p:nvPr/>
        </p:nvSpPr>
        <p:spPr>
          <a:xfrm>
            <a:off x="8758123" y="5472684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771754" y="5878678"/>
            <a:ext cx="213329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2901391" y="5878678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4498848" y="5878678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6095390" y="5878678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6"/>
          <p:cNvSpPr/>
          <p:nvPr/>
        </p:nvSpPr>
        <p:spPr>
          <a:xfrm>
            <a:off x="8758123" y="5878678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6"/>
          <p:cNvSpPr txBox="1"/>
          <p:nvPr/>
        </p:nvSpPr>
        <p:spPr>
          <a:xfrm>
            <a:off x="1086307" y="4326026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서비스 포트 목록 (Public Service Ports)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923544" y="4764024"/>
            <a:ext cx="10497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(Service)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3054096" y="4764024"/>
            <a:ext cx="5833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프로토콜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4650638" y="4764024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포트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6248095" y="4764024"/>
            <a:ext cx="11457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대상 (Target)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8909914" y="4764024"/>
            <a:ext cx="3456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비고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923544" y="5175504"/>
            <a:ext cx="831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Server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3054096" y="5175504"/>
            <a:ext cx="3456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TCP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4650638" y="5175504"/>
            <a:ext cx="5833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 / 443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6248095" y="5175504"/>
            <a:ext cx="14026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192.168.10.10 (Nginx)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909914" y="5168189"/>
            <a:ext cx="838505" cy="209398"/>
          </a:xfrm>
          <a:prstGeom prst="roundRect">
            <a:avLst>
              <a:gd name="adj" fmla="val 79396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7"/>
          <p:cNvSpPr txBox="1"/>
          <p:nvPr/>
        </p:nvSpPr>
        <p:spPr>
          <a:xfrm>
            <a:off x="8986723" y="5187391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DE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Open</a:t>
            </a:r>
            <a:endParaRPr lang="en-US" sz="900" dirty="0"/>
          </a:p>
        </p:txBody>
      </p:sp>
      <p:sp>
        <p:nvSpPr>
          <p:cNvPr id="71" name="Text 68"/>
          <p:cNvSpPr txBox="1"/>
          <p:nvPr/>
        </p:nvSpPr>
        <p:spPr>
          <a:xfrm>
            <a:off x="923544" y="5585155"/>
            <a:ext cx="7068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3054096" y="5585155"/>
            <a:ext cx="3639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UDP</a:t>
            </a:r>
            <a:endParaRPr lang="en-US" sz="1000" dirty="0"/>
          </a:p>
        </p:txBody>
      </p:sp>
      <p:sp>
        <p:nvSpPr>
          <p:cNvPr id="73" name="Text 70"/>
          <p:cNvSpPr txBox="1"/>
          <p:nvPr/>
        </p:nvSpPr>
        <p:spPr>
          <a:xfrm>
            <a:off x="4650638" y="5585155"/>
            <a:ext cx="3931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1194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248095" y="5585155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127.0.0.1 (Local)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8909914" y="5577840"/>
            <a:ext cx="714146" cy="209398"/>
          </a:xfrm>
          <a:prstGeom prst="roundRect">
            <a:avLst>
              <a:gd name="adj" fmla="val 79396"/>
            </a:avLst>
          </a:prstGeom>
          <a:solidFill>
            <a:srgbClr val="A855F7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3"/>
          <p:cNvSpPr txBox="1"/>
          <p:nvPr/>
        </p:nvSpPr>
        <p:spPr>
          <a:xfrm>
            <a:off x="8986723" y="5597042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08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Tunneling</a:t>
            </a:r>
            <a:endParaRPr lang="en-US" sz="900" dirty="0"/>
          </a:p>
        </p:txBody>
      </p:sp>
      <p:sp>
        <p:nvSpPr>
          <p:cNvPr id="77" name="Text 74"/>
          <p:cNvSpPr txBox="1"/>
          <p:nvPr/>
        </p:nvSpPr>
        <p:spPr>
          <a:xfrm>
            <a:off x="923544" y="5987491"/>
            <a:ext cx="8787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Bastion SSH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3054096" y="5987491"/>
            <a:ext cx="3456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TCP</a:t>
            </a:r>
            <a:endParaRPr lang="en-US" sz="1000" dirty="0"/>
          </a:p>
        </p:txBody>
      </p:sp>
      <p:sp>
        <p:nvSpPr>
          <p:cNvPr id="79" name="Text 76"/>
          <p:cNvSpPr txBox="1"/>
          <p:nvPr/>
        </p:nvSpPr>
        <p:spPr>
          <a:xfrm>
            <a:off x="4650638" y="5987491"/>
            <a:ext cx="7552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2222 (변경)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6248095" y="5987491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192.168.20.5 (Bastion)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8909914" y="5987491"/>
            <a:ext cx="12499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화이트리스트 적용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580644" y="1505102"/>
            <a:ext cx="3514954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0"/>
          <p:cNvSpPr/>
          <p:nvPr/>
        </p:nvSpPr>
        <p:spPr>
          <a:xfrm>
            <a:off x="580644" y="2229307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1"/>
          <p:cNvSpPr/>
          <p:nvPr/>
        </p:nvSpPr>
        <p:spPr>
          <a:xfrm>
            <a:off x="771754" y="167609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01600" dist="12700" dir="16200000" algn="bl" rotWithShape="0">
              <a:srgbClr val="3B82F6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5995" y="1781251"/>
            <a:ext cx="171907" cy="171907"/>
          </a:xfrm>
          <a:prstGeom prst="rect">
            <a:avLst/>
          </a:prstGeom>
        </p:spPr>
      </p:pic>
      <p:sp>
        <p:nvSpPr>
          <p:cNvPr id="86" name="Text 82"/>
          <p:cNvSpPr txBox="1"/>
          <p:nvPr/>
        </p:nvSpPr>
        <p:spPr>
          <a:xfrm>
            <a:off x="1266444" y="1647749"/>
            <a:ext cx="8860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Routing</a:t>
            </a:r>
            <a:endParaRPr lang="en-US" sz="1500" dirty="0"/>
          </a:p>
        </p:txBody>
      </p:sp>
      <p:sp>
        <p:nvSpPr>
          <p:cNvPr id="87" name="Text 83"/>
          <p:cNvSpPr txBox="1"/>
          <p:nvPr/>
        </p:nvSpPr>
        <p:spPr>
          <a:xfrm>
            <a:off x="1266444" y="1923898"/>
            <a:ext cx="8293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경로 제어</a:t>
            </a:r>
            <a:endParaRPr lang="en-US" sz="900" dirty="0"/>
          </a:p>
        </p:txBody>
      </p:sp>
      <p:grpSp>
        <p:nvGrpSpPr>
          <p:cNvPr id="109" name="그룹 108"/>
          <p:cNvGrpSpPr/>
          <p:nvPr/>
        </p:nvGrpSpPr>
        <p:grpSpPr>
          <a:xfrm>
            <a:off x="771754" y="2391157"/>
            <a:ext cx="3133649" cy="1449324"/>
            <a:chOff x="771754" y="2391156"/>
            <a:chExt cx="3133649" cy="2046427"/>
          </a:xfrm>
        </p:grpSpPr>
        <p:sp>
          <p:nvSpPr>
            <p:cNvPr id="8" name="Shape 6"/>
            <p:cNvSpPr/>
            <p:nvPr/>
          </p:nvSpPr>
          <p:spPr>
            <a:xfrm>
              <a:off x="771754" y="2391156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14654" y="2731313"/>
              <a:ext cx="2053742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내부망(MGMT, SVC, DB) 간 통신 중계</a:t>
              </a:r>
              <a:endParaRPr lang="en-US" sz="9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771754" y="3108960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086307" y="3450031"/>
              <a:ext cx="193029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OpenVPN 및 특수 목적망 경로 지정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71754" y="3827678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1104595" y="4168750"/>
              <a:ext cx="1805940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Multi-WAN 페일오버 및 우선순위</a:t>
              </a:r>
              <a:endParaRPr lang="en-US" sz="900" dirty="0"/>
            </a:p>
          </p:txBody>
        </p:sp>
        <p:sp>
          <p:nvSpPr>
            <p:cNvPr id="50" name="Text 47"/>
            <p:cNvSpPr txBox="1"/>
            <p:nvPr/>
          </p:nvSpPr>
          <p:spPr>
            <a:xfrm>
              <a:off x="1114654" y="2495398"/>
              <a:ext cx="149047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Inter-VLAN Routing</a:t>
              </a:r>
              <a:endParaRPr lang="en-US" sz="1100" dirty="0"/>
            </a:p>
          </p:txBody>
        </p:sp>
        <p:sp>
          <p:nvSpPr>
            <p:cNvPr id="51" name="Text 48"/>
            <p:cNvSpPr txBox="1"/>
            <p:nvPr/>
          </p:nvSpPr>
          <p:spPr>
            <a:xfrm>
              <a:off x="1086307" y="3214116"/>
              <a:ext cx="105247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Static Routes</a:t>
              </a:r>
              <a:endParaRPr lang="en-US" sz="1100" dirty="0"/>
            </a:p>
          </p:txBody>
        </p:sp>
        <p:sp>
          <p:nvSpPr>
            <p:cNvPr id="52" name="Text 49"/>
            <p:cNvSpPr txBox="1"/>
            <p:nvPr/>
          </p:nvSpPr>
          <p:spPr>
            <a:xfrm>
              <a:off x="1104595" y="3932834"/>
              <a:ext cx="1318565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Gateway Priority</a:t>
              </a:r>
              <a:endParaRPr lang="en-US" sz="1100" dirty="0"/>
            </a:p>
          </p:txBody>
        </p:sp>
        <p:pic>
          <p:nvPicPr>
            <p:cNvPr id="88" name="Image 2" descr="preencoded.png"/>
            <p:cNvPicPr>
              <a:picLocks noChangeAspect="1"/>
            </p:cNvPicPr>
            <p:nvPr/>
          </p:nvPicPr>
          <p:blipFill>
            <a:blip r:embed="rId5">
              <a:alphaModFix amt="80000"/>
            </a:blip>
            <a:srcRect t="-80" b="-80"/>
            <a:stretch/>
          </p:blipFill>
          <p:spPr>
            <a:xfrm>
              <a:off x="875995" y="2533802"/>
              <a:ext cx="142646" cy="114300"/>
            </a:xfrm>
            <a:prstGeom prst="rect">
              <a:avLst/>
            </a:prstGeom>
          </p:spPr>
        </p:pic>
        <p:pic>
          <p:nvPicPr>
            <p:cNvPr id="89" name="Image 3" descr="preencoded.png"/>
            <p:cNvPicPr>
              <a:picLocks noChangeAspect="1"/>
            </p:cNvPicPr>
            <p:nvPr/>
          </p:nvPicPr>
          <p:blipFill>
            <a:blip r:embed="rId6">
              <a:alphaModFix amt="80000"/>
            </a:blip>
            <a:srcRect/>
            <a:stretch/>
          </p:blipFill>
          <p:spPr>
            <a:xfrm>
              <a:off x="875995" y="3252521"/>
              <a:ext cx="114300" cy="114300"/>
            </a:xfrm>
            <a:prstGeom prst="rect">
              <a:avLst/>
            </a:prstGeom>
          </p:spPr>
        </p:pic>
        <p:pic>
          <p:nvPicPr>
            <p:cNvPr id="90" name="Image 4" descr="preencoded.png"/>
            <p:cNvPicPr>
              <a:picLocks noChangeAspect="1"/>
            </p:cNvPicPr>
            <p:nvPr/>
          </p:nvPicPr>
          <p:blipFill>
            <a:blip r:embed="rId7">
              <a:alphaModFix amt="80000"/>
            </a:blip>
            <a:srcRect l="-1911" r="-1911"/>
            <a:stretch/>
          </p:blipFill>
          <p:spPr>
            <a:xfrm>
              <a:off x="875995" y="3970325"/>
              <a:ext cx="133502" cy="114300"/>
            </a:xfrm>
            <a:prstGeom prst="rect">
              <a:avLst/>
            </a:prstGeom>
          </p:spPr>
        </p:pic>
      </p:grpSp>
      <p:sp>
        <p:nvSpPr>
          <p:cNvPr id="91" name="Shape 84"/>
          <p:cNvSpPr/>
          <p:nvPr/>
        </p:nvSpPr>
        <p:spPr>
          <a:xfrm>
            <a:off x="4340657" y="1505102"/>
            <a:ext cx="3514954" cy="38405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85"/>
          <p:cNvSpPr/>
          <p:nvPr/>
        </p:nvSpPr>
        <p:spPr>
          <a:xfrm>
            <a:off x="4340657" y="2229307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Shape 86"/>
          <p:cNvSpPr/>
          <p:nvPr/>
        </p:nvSpPr>
        <p:spPr>
          <a:xfrm>
            <a:off x="4530852" y="167609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01600" dist="12700" dir="16200000" algn="bl" rotWithShape="0">
              <a:srgbClr val="F97316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35094" y="1781251"/>
            <a:ext cx="171907" cy="171907"/>
          </a:xfrm>
          <a:prstGeom prst="rect">
            <a:avLst/>
          </a:prstGeom>
        </p:spPr>
      </p:pic>
      <p:sp>
        <p:nvSpPr>
          <p:cNvPr id="95" name="Text 87"/>
          <p:cNvSpPr txBox="1"/>
          <p:nvPr/>
        </p:nvSpPr>
        <p:spPr>
          <a:xfrm>
            <a:off x="5026457" y="1647749"/>
            <a:ext cx="514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</a:t>
            </a:r>
            <a:endParaRPr lang="en-US" sz="1500" dirty="0"/>
          </a:p>
        </p:txBody>
      </p:sp>
      <p:sp>
        <p:nvSpPr>
          <p:cNvPr id="96" name="Text 88"/>
          <p:cNvSpPr txBox="1"/>
          <p:nvPr/>
        </p:nvSpPr>
        <p:spPr>
          <a:xfrm>
            <a:off x="5026457" y="1923898"/>
            <a:ext cx="5431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주소 변환</a:t>
            </a:r>
            <a:endParaRPr lang="en-US" sz="900" dirty="0"/>
          </a:p>
        </p:txBody>
      </p:sp>
      <p:grpSp>
        <p:nvGrpSpPr>
          <p:cNvPr id="110" name="그룹 109"/>
          <p:cNvGrpSpPr/>
          <p:nvPr/>
        </p:nvGrpSpPr>
        <p:grpSpPr>
          <a:xfrm>
            <a:off x="4530852" y="2391156"/>
            <a:ext cx="3133649" cy="1449325"/>
            <a:chOff x="4530852" y="2391156"/>
            <a:chExt cx="3133649" cy="2046427"/>
          </a:xfrm>
        </p:grpSpPr>
        <p:sp>
          <p:nvSpPr>
            <p:cNvPr id="15" name="Shape 13"/>
            <p:cNvSpPr/>
            <p:nvPr/>
          </p:nvSpPr>
          <p:spPr>
            <a:xfrm>
              <a:off x="4530852" y="2391156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4845406" y="2731313"/>
              <a:ext cx="204459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내부 사설 IP → 공인 IP 변환 (Hybrid)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30852" y="3108960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4863694" y="3450031"/>
              <a:ext cx="1644091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소스 IP 은닉 및 외부 통신 지원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30852" y="3827678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4816145" y="4168750"/>
              <a:ext cx="1720901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변환 이벤트 기록 및 추적성 확보</a:t>
              </a:r>
              <a:endParaRPr lang="en-US" sz="900" dirty="0"/>
            </a:p>
          </p:txBody>
        </p:sp>
        <p:sp>
          <p:nvSpPr>
            <p:cNvPr id="53" name="Text 50"/>
            <p:cNvSpPr txBox="1"/>
            <p:nvPr/>
          </p:nvSpPr>
          <p:spPr>
            <a:xfrm>
              <a:off x="4845406" y="2495398"/>
              <a:ext cx="115671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Outbound NAT</a:t>
              </a:r>
              <a:endParaRPr lang="en-US" sz="1100" dirty="0"/>
            </a:p>
          </p:txBody>
        </p:sp>
        <p:sp>
          <p:nvSpPr>
            <p:cNvPr id="54" name="Text 51"/>
            <p:cNvSpPr txBox="1"/>
            <p:nvPr/>
          </p:nvSpPr>
          <p:spPr>
            <a:xfrm>
              <a:off x="4863694" y="3214116"/>
              <a:ext cx="111831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Masquerading</a:t>
              </a:r>
              <a:endParaRPr lang="en-US" sz="1100" dirty="0"/>
            </a:p>
          </p:txBody>
        </p:sp>
        <p:sp>
          <p:nvSpPr>
            <p:cNvPr id="55" name="Text 52"/>
            <p:cNvSpPr txBox="1"/>
            <p:nvPr/>
          </p:nvSpPr>
          <p:spPr>
            <a:xfrm>
              <a:off x="4816145" y="3932834"/>
              <a:ext cx="100401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NAT Logging</a:t>
              </a:r>
              <a:endParaRPr lang="en-US" sz="1100" dirty="0"/>
            </a:p>
          </p:txBody>
        </p:sp>
        <p:pic>
          <p:nvPicPr>
            <p:cNvPr id="97" name="Image 6" descr="preencoded.png"/>
            <p:cNvPicPr>
              <a:picLocks noChangeAspect="1"/>
            </p:cNvPicPr>
            <p:nvPr/>
          </p:nvPicPr>
          <p:blipFill>
            <a:blip r:embed="rId9">
              <a:alphaModFix amt="80000"/>
            </a:blip>
            <a:srcRect/>
            <a:stretch/>
          </p:blipFill>
          <p:spPr>
            <a:xfrm>
              <a:off x="4635094" y="2533802"/>
              <a:ext cx="114300" cy="114300"/>
            </a:xfrm>
            <a:prstGeom prst="rect">
              <a:avLst/>
            </a:prstGeom>
          </p:spPr>
        </p:pic>
        <p:pic>
          <p:nvPicPr>
            <p:cNvPr id="98" name="Image 7" descr="preencoded.png"/>
            <p:cNvPicPr>
              <a:picLocks noChangeAspect="1"/>
            </p:cNvPicPr>
            <p:nvPr/>
          </p:nvPicPr>
          <p:blipFill>
            <a:blip r:embed="rId10">
              <a:alphaModFix amt="80000"/>
            </a:blip>
            <a:srcRect l="-1911" r="-1911"/>
            <a:stretch/>
          </p:blipFill>
          <p:spPr>
            <a:xfrm>
              <a:off x="4635094" y="3252521"/>
              <a:ext cx="133502" cy="114300"/>
            </a:xfrm>
            <a:prstGeom prst="rect">
              <a:avLst/>
            </a:prstGeom>
          </p:spPr>
        </p:pic>
        <p:pic>
          <p:nvPicPr>
            <p:cNvPr id="99" name="Image 8" descr="preencoded.png"/>
            <p:cNvPicPr>
              <a:picLocks noChangeAspect="1"/>
            </p:cNvPicPr>
            <p:nvPr/>
          </p:nvPicPr>
          <p:blipFill>
            <a:blip r:embed="rId11">
              <a:alphaModFix amt="80000"/>
            </a:blip>
            <a:srcRect l="-133" r="-133"/>
            <a:stretch/>
          </p:blipFill>
          <p:spPr>
            <a:xfrm>
              <a:off x="4635094" y="3970325"/>
              <a:ext cx="85954" cy="114300"/>
            </a:xfrm>
            <a:prstGeom prst="rect">
              <a:avLst/>
            </a:prstGeom>
          </p:spPr>
        </p:pic>
      </p:grpSp>
      <p:sp>
        <p:nvSpPr>
          <p:cNvPr id="100" name="Shape 89"/>
          <p:cNvSpPr/>
          <p:nvPr/>
        </p:nvSpPr>
        <p:spPr>
          <a:xfrm>
            <a:off x="8099755" y="1505102"/>
            <a:ext cx="3514954" cy="38405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0"/>
          <p:cNvSpPr/>
          <p:nvPr/>
        </p:nvSpPr>
        <p:spPr>
          <a:xfrm>
            <a:off x="8099755" y="2229307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91"/>
          <p:cNvSpPr/>
          <p:nvPr/>
        </p:nvSpPr>
        <p:spPr>
          <a:xfrm>
            <a:off x="8289950" y="167609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01600" dist="12700" dir="16200000" algn="bl" rotWithShape="0">
              <a:srgbClr val="A855F7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3" name="Image 9" descr="preencoded.png"/>
          <p:cNvPicPr>
            <a:picLocks noChangeAspect="1"/>
          </p:cNvPicPr>
          <p:nvPr/>
        </p:nvPicPr>
        <p:blipFill>
          <a:blip r:embed="rId12"/>
          <a:srcRect t="-842" b="-842"/>
          <a:stretch/>
        </p:blipFill>
        <p:spPr>
          <a:xfrm>
            <a:off x="8385048" y="1781251"/>
            <a:ext cx="190195" cy="171907"/>
          </a:xfrm>
          <a:prstGeom prst="rect">
            <a:avLst/>
          </a:prstGeom>
        </p:spPr>
      </p:pic>
      <p:sp>
        <p:nvSpPr>
          <p:cNvPr id="104" name="Text 92"/>
          <p:cNvSpPr txBox="1"/>
          <p:nvPr/>
        </p:nvSpPr>
        <p:spPr>
          <a:xfrm>
            <a:off x="8785555" y="1647749"/>
            <a:ext cx="13908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Port Forward</a:t>
            </a:r>
            <a:endParaRPr lang="en-US" sz="1500" dirty="0"/>
          </a:p>
        </p:txBody>
      </p:sp>
      <p:sp>
        <p:nvSpPr>
          <p:cNvPr id="105" name="Text 93"/>
          <p:cNvSpPr txBox="1"/>
          <p:nvPr/>
        </p:nvSpPr>
        <p:spPr>
          <a:xfrm>
            <a:off x="8785555" y="1923898"/>
            <a:ext cx="13341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노출</a:t>
            </a:r>
            <a:endParaRPr lang="en-US" sz="900" dirty="0"/>
          </a:p>
        </p:txBody>
      </p:sp>
      <p:grpSp>
        <p:nvGrpSpPr>
          <p:cNvPr id="111" name="그룹 110"/>
          <p:cNvGrpSpPr/>
          <p:nvPr/>
        </p:nvGrpSpPr>
        <p:grpSpPr>
          <a:xfrm>
            <a:off x="8289950" y="2391156"/>
            <a:ext cx="3133649" cy="1449325"/>
            <a:chOff x="8289950" y="2391156"/>
            <a:chExt cx="3133649" cy="2046427"/>
          </a:xfrm>
        </p:grpSpPr>
        <p:sp>
          <p:nvSpPr>
            <p:cNvPr id="22" name="Shape 20"/>
            <p:cNvSpPr/>
            <p:nvPr/>
          </p:nvSpPr>
          <p:spPr>
            <a:xfrm>
              <a:off x="8289950" y="2391156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1"/>
            <p:cNvSpPr txBox="1"/>
            <p:nvPr/>
          </p:nvSpPr>
          <p:spPr>
            <a:xfrm>
              <a:off x="8604504" y="2731313"/>
              <a:ext cx="1854403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공인 IP에 대한 별칭 및 ARP Proxy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9950" y="3108960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3"/>
            <p:cNvSpPr txBox="1"/>
            <p:nvPr/>
          </p:nvSpPr>
          <p:spPr>
            <a:xfrm>
              <a:off x="8604504" y="3450031"/>
              <a:ext cx="1835201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특정 포트 요청을 내부 서버로 전달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289950" y="3827678"/>
              <a:ext cx="3133649" cy="609905"/>
            </a:xfrm>
            <a:prstGeom prst="roundRect">
              <a:avLst>
                <a:gd name="adj" fmla="val 18741"/>
              </a:avLst>
            </a:prstGeom>
            <a:solidFill>
              <a:srgbClr val="0F172A">
                <a:alpha val="30000"/>
              </a:srgbClr>
            </a:solidFill>
            <a:ln w="12700">
              <a:solidFill>
                <a:srgbClr val="000000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5"/>
            <p:cNvSpPr txBox="1"/>
            <p:nvPr/>
          </p:nvSpPr>
          <p:spPr>
            <a:xfrm>
              <a:off x="8604504" y="4168750"/>
              <a:ext cx="1758391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허용 국가 외 접속 자동 차단 연동</a:t>
              </a:r>
              <a:endParaRPr lang="en-US" sz="900" dirty="0"/>
            </a:p>
          </p:txBody>
        </p:sp>
        <p:sp>
          <p:nvSpPr>
            <p:cNvPr id="56" name="Text 53"/>
            <p:cNvSpPr txBox="1"/>
            <p:nvPr/>
          </p:nvSpPr>
          <p:spPr>
            <a:xfrm>
              <a:off x="8604504" y="2495398"/>
              <a:ext cx="123261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Virtual IPs (VIP)</a:t>
              </a:r>
              <a:endParaRPr lang="en-US" sz="1100" dirty="0"/>
            </a:p>
          </p:txBody>
        </p:sp>
        <p:sp>
          <p:nvSpPr>
            <p:cNvPr id="57" name="Text 54"/>
            <p:cNvSpPr txBox="1"/>
            <p:nvPr/>
          </p:nvSpPr>
          <p:spPr>
            <a:xfrm>
              <a:off x="8604504" y="3214116"/>
              <a:ext cx="103327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Inbound NAT</a:t>
              </a:r>
              <a:endParaRPr lang="en-US" sz="1100" dirty="0"/>
            </a:p>
          </p:txBody>
        </p:sp>
        <p:sp>
          <p:nvSpPr>
            <p:cNvPr id="58" name="Text 55"/>
            <p:cNvSpPr txBox="1"/>
            <p:nvPr/>
          </p:nvSpPr>
          <p:spPr>
            <a:xfrm>
              <a:off x="8604504" y="3932834"/>
              <a:ext cx="101407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1F5F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Geo-IP Filter</a:t>
              </a:r>
              <a:endParaRPr lang="en-US" sz="1100" dirty="0"/>
            </a:p>
          </p:txBody>
        </p:sp>
        <p:pic>
          <p:nvPicPr>
            <p:cNvPr id="106" name="Image 10" descr="preencoded.png"/>
            <p:cNvPicPr>
              <a:picLocks noChangeAspect="1"/>
            </p:cNvPicPr>
            <p:nvPr/>
          </p:nvPicPr>
          <p:blipFill>
            <a:blip r:embed="rId13">
              <a:alphaModFix amt="80000"/>
            </a:blip>
            <a:srcRect/>
            <a:stretch/>
          </p:blipFill>
          <p:spPr>
            <a:xfrm>
              <a:off x="8395106" y="2533802"/>
              <a:ext cx="114300" cy="114300"/>
            </a:xfrm>
            <a:prstGeom prst="rect">
              <a:avLst/>
            </a:prstGeom>
          </p:spPr>
        </p:pic>
        <p:pic>
          <p:nvPicPr>
            <p:cNvPr id="107" name="Image 11" descr="preencoded.png"/>
            <p:cNvPicPr>
              <a:picLocks noChangeAspect="1"/>
            </p:cNvPicPr>
            <p:nvPr/>
          </p:nvPicPr>
          <p:blipFill>
            <a:blip r:embed="rId14">
              <a:alphaModFix amt="80000"/>
            </a:blip>
            <a:srcRect/>
            <a:stretch/>
          </p:blipFill>
          <p:spPr>
            <a:xfrm>
              <a:off x="8395106" y="3252521"/>
              <a:ext cx="114300" cy="114300"/>
            </a:xfrm>
            <a:prstGeom prst="rect">
              <a:avLst/>
            </a:prstGeom>
          </p:spPr>
        </p:pic>
        <p:pic>
          <p:nvPicPr>
            <p:cNvPr id="108" name="Image 12" descr="preencoded.png"/>
            <p:cNvPicPr>
              <a:picLocks noChangeAspect="1"/>
            </p:cNvPicPr>
            <p:nvPr/>
          </p:nvPicPr>
          <p:blipFill>
            <a:blip r:embed="rId15">
              <a:alphaModFix amt="80000"/>
            </a:blip>
            <a:srcRect/>
            <a:stretch/>
          </p:blipFill>
          <p:spPr>
            <a:xfrm>
              <a:off x="8395106" y="3970325"/>
              <a:ext cx="114300" cy="1143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253167" y="1042416"/>
            <a:ext cx="171907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00970" y="1013155"/>
            <a:ext cx="1414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Neutron Architecture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81305" y="1547165"/>
            <a:ext cx="7563002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76325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934249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776325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7934249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8229600" y="1452067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229600" y="1452067"/>
            <a:ext cx="38405" cy="1181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8419795" y="160385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22D3E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8477402" y="1670609"/>
            <a:ext cx="152705" cy="133502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8781898" y="1617574"/>
            <a:ext cx="197784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네트워크 (Overlay)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419795" y="1928470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VXLAN/GRE 터널링을 통해 각 프로젝트(테넌트) 간 완벽한 논리적 네트워크 격리를 제공하여 멀티 테넌시 보안을 보장합니다.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8229600" y="2767889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8229600" y="2767889"/>
            <a:ext cx="38405" cy="1181405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7"/>
          <p:cNvSpPr/>
          <p:nvPr/>
        </p:nvSpPr>
        <p:spPr>
          <a:xfrm>
            <a:off x="8419795" y="291967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72B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86546" y="2986430"/>
            <a:ext cx="133502" cy="133502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8781898" y="2933395"/>
            <a:ext cx="187269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Neutron Router &amp; NAT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8419795" y="3244291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라우터가 내부망과 외부망을 연결하며, Floating IP(1:1 NAT)와 SNAT를 통해 인바운드/아웃바운드 통신을 제어합니다.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8229600" y="4083710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1"/>
          <p:cNvSpPr/>
          <p:nvPr/>
        </p:nvSpPr>
        <p:spPr>
          <a:xfrm>
            <a:off x="8229600" y="4083710"/>
            <a:ext cx="38405" cy="1181405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2"/>
          <p:cNvSpPr/>
          <p:nvPr/>
        </p:nvSpPr>
        <p:spPr>
          <a:xfrm>
            <a:off x="8419795" y="423550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4D3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6546" y="4302252"/>
            <a:ext cx="133502" cy="133502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8781898" y="4249217"/>
            <a:ext cx="25017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그룹 (Micro-segmentation)</a:t>
            </a:r>
            <a:endParaRPr lang="en-US" sz="1200" dirty="0"/>
          </a:p>
        </p:txBody>
      </p:sp>
      <p:sp>
        <p:nvSpPr>
          <p:cNvPr id="54" name="Text 44"/>
          <p:cNvSpPr txBox="1"/>
          <p:nvPr/>
        </p:nvSpPr>
        <p:spPr>
          <a:xfrm>
            <a:off x="8419795" y="4559198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VM의 vNIC 앞단에서 작동하는 L4 방화벽입니다. 기본적으로 모든 인바운드를 차단(Deny)하고 명시된 트래픽만 허용합니다.</a:t>
            </a:r>
            <a:endParaRPr lang="en-US" sz="1000" dirty="0"/>
          </a:p>
        </p:txBody>
      </p:sp>
      <p:sp>
        <p:nvSpPr>
          <p:cNvPr id="55" name="Shape 45"/>
          <p:cNvSpPr/>
          <p:nvPr/>
        </p:nvSpPr>
        <p:spPr>
          <a:xfrm>
            <a:off x="8229600" y="5399532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6"/>
          <p:cNvSpPr/>
          <p:nvPr/>
        </p:nvSpPr>
        <p:spPr>
          <a:xfrm>
            <a:off x="8229600" y="5399532"/>
            <a:ext cx="38405" cy="1181405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47"/>
          <p:cNvSpPr/>
          <p:nvPr/>
        </p:nvSpPr>
        <p:spPr>
          <a:xfrm>
            <a:off x="8419795" y="55513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BBF2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86546" y="5618074"/>
            <a:ext cx="133502" cy="133502"/>
          </a:xfrm>
          <a:prstGeom prst="rect">
            <a:avLst/>
          </a:prstGeom>
        </p:spPr>
      </p:pic>
      <p:sp>
        <p:nvSpPr>
          <p:cNvPr id="59" name="Text 48"/>
          <p:cNvSpPr txBox="1"/>
          <p:nvPr/>
        </p:nvSpPr>
        <p:spPr>
          <a:xfrm>
            <a:off x="8781898" y="5565038"/>
            <a:ext cx="12444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망 분리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419795" y="5875020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관리망(Mgmt), API망, 데이터망(Tunnel), 스토리지망을 물리적/논리적으로 분리하여 트래픽 간섭과 보안 위협을 최소화합니다.</a:t>
            </a:r>
            <a:endParaRPr lang="en-US" sz="1000" dirty="0"/>
          </a:p>
        </p:txBody>
      </p:sp>
      <p:pic>
        <p:nvPicPr>
          <p:cNvPr id="65" name="그림 64"/>
          <p:cNvPicPr>
            <a:picLocks noChangeAspect="1"/>
          </p:cNvPicPr>
          <p:nvPr/>
        </p:nvPicPr>
        <p:blipFill rotWithShape="1">
          <a:blip r:embed="rId8"/>
          <a:srcRect l="5068" t="11277" r="10968"/>
          <a:stretch/>
        </p:blipFill>
        <p:spPr>
          <a:xfrm>
            <a:off x="409575" y="1582181"/>
            <a:ext cx="7505699" cy="4873284"/>
          </a:xfrm>
          <a:prstGeom prst="rect">
            <a:avLst/>
          </a:prstGeom>
        </p:spPr>
      </p:pic>
      <p:sp>
        <p:nvSpPr>
          <p:cNvPr id="66" name="Shape 2"/>
          <p:cNvSpPr/>
          <p:nvPr/>
        </p:nvSpPr>
        <p:spPr>
          <a:xfrm>
            <a:off x="371246" y="258295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3"/>
          <p:cNvSpPr txBox="1"/>
          <p:nvPr/>
        </p:nvSpPr>
        <p:spPr>
          <a:xfrm>
            <a:off x="371246" y="914834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흐름 제어 및 외부 서비스 연결 정책</a:t>
            </a:r>
            <a:endParaRPr lang="en-US" sz="1300" dirty="0"/>
          </a:p>
        </p:txBody>
      </p:sp>
      <p:sp>
        <p:nvSpPr>
          <p:cNvPr id="68" name="Text 4"/>
          <p:cNvSpPr txBox="1"/>
          <p:nvPr/>
        </p:nvSpPr>
        <p:spPr>
          <a:xfrm>
            <a:off x="371246" y="400941"/>
            <a:ext cx="53538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700" b="1" kern="0" spc="-67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Outbound</a:t>
            </a: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4171500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위협 탐지 및 차단 전략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752905"/>
            <a:ext cx="5296205" cy="1962302"/>
          </a:xfrm>
          <a:prstGeom prst="roundRect">
            <a:avLst>
              <a:gd name="adj" fmla="val 181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" y="2104949"/>
            <a:ext cx="152705" cy="15270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01" b="-301"/>
          <a:stretch/>
        </p:blipFill>
        <p:spPr>
          <a:xfrm>
            <a:off x="886054" y="2581351"/>
            <a:ext cx="75895" cy="15270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76249" y="2523744"/>
            <a:ext cx="2667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 (Emerging Threats) Open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076249" y="2752344"/>
            <a:ext cx="2653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멀웨어, 봇넷, 악성 IP 대역 자동 업데이트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t="-301" b="-301"/>
          <a:stretch/>
        </p:blipFill>
        <p:spPr>
          <a:xfrm>
            <a:off x="886054" y="3114446"/>
            <a:ext cx="75895" cy="1527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76249" y="3057754"/>
            <a:ext cx="4144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 Signatures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076249" y="3286354"/>
            <a:ext cx="4129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웹쉘(WebShell) 업로드 패턴 및 내부 보안 규정 위반 탐지용 자체 룰 제작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71500" y="3943807"/>
            <a:ext cx="5296205" cy="2266798"/>
          </a:xfrm>
          <a:prstGeom prst="roundRect">
            <a:avLst>
              <a:gd name="adj" fmla="val 1356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23544" y="4295851"/>
            <a:ext cx="152705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9244" y="4714646"/>
            <a:ext cx="49203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안정성을 위해 단계적으로 모드를 전환하여 오탐(False Positive)으로 인한 서비스 중단을 방지합니다.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809244" y="5300777"/>
            <a:ext cx="2229307" cy="666598"/>
          </a:xfrm>
          <a:prstGeom prst="roundRect">
            <a:avLst>
              <a:gd name="adj" fmla="val 783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1"/>
          <p:cNvSpPr txBox="1"/>
          <p:nvPr/>
        </p:nvSpPr>
        <p:spPr>
          <a:xfrm>
            <a:off x="890626" y="5424221"/>
            <a:ext cx="20674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(초기)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875995" y="5615330"/>
            <a:ext cx="2095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IDS (탐지)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3400654" y="5300777"/>
            <a:ext cx="2229307" cy="666598"/>
          </a:xfrm>
          <a:prstGeom prst="roundRect">
            <a:avLst>
              <a:gd name="adj" fmla="val 783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4"/>
          <p:cNvSpPr txBox="1"/>
          <p:nvPr/>
        </p:nvSpPr>
        <p:spPr>
          <a:xfrm>
            <a:off x="3481121" y="5424221"/>
            <a:ext cx="20674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(안정화)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3467405" y="5615330"/>
            <a:ext cx="2095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IPS (차단)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71500" y="6433718"/>
            <a:ext cx="5296205" cy="1514246"/>
          </a:xfrm>
          <a:prstGeom prst="roundRect">
            <a:avLst>
              <a:gd name="adj" fmla="val 303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905256" y="6786677"/>
            <a:ext cx="190195" cy="152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09244" y="7129577"/>
            <a:ext cx="4920386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eve.json</a:t>
            </a: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포맷으로 출력된 로그는 Filebeat를 통해 실시간으로 ELK 스택으로 전송되어 시각화됩니다.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4905" y="1752905"/>
            <a:ext cx="5296205" cy="6200546"/>
          </a:xfrm>
          <a:prstGeom prst="roundRect">
            <a:avLst>
              <a:gd name="adj" fmla="val 24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6562649" y="2486254"/>
            <a:ext cx="4819802" cy="4524451"/>
          </a:xfrm>
          <a:prstGeom prst="roundRect">
            <a:avLst>
              <a:gd name="adj" fmla="val 34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6572707" y="2648102"/>
            <a:ext cx="961949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6572707" y="3086100"/>
            <a:ext cx="961949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7529170" y="2648102"/>
            <a:ext cx="1904695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7529170" y="3086100"/>
            <a:ext cx="1904695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9427464" y="2648102"/>
            <a:ext cx="761695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9427464" y="3086100"/>
            <a:ext cx="761695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10183673" y="2648102"/>
            <a:ext cx="1190549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10183673" y="3086100"/>
            <a:ext cx="1190549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6572707" y="3749954"/>
            <a:ext cx="9619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9"/>
          <p:cNvSpPr/>
          <p:nvPr/>
        </p:nvSpPr>
        <p:spPr>
          <a:xfrm>
            <a:off x="7529170" y="3749954"/>
            <a:ext cx="1904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9427464" y="3749954"/>
            <a:ext cx="761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10183673" y="3749954"/>
            <a:ext cx="11905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10297973" y="3393338"/>
            <a:ext cx="514807" cy="57607"/>
          </a:xfrm>
          <a:prstGeom prst="roundRect">
            <a:avLst>
              <a:gd name="adj" fmla="val 158730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6572707" y="4399178"/>
            <a:ext cx="9619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7529170" y="4399178"/>
            <a:ext cx="1904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9427464" y="4399178"/>
            <a:ext cx="761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6"/>
          <p:cNvSpPr/>
          <p:nvPr/>
        </p:nvSpPr>
        <p:spPr>
          <a:xfrm>
            <a:off x="10183673" y="4399178"/>
            <a:ext cx="11905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7"/>
          <p:cNvSpPr/>
          <p:nvPr/>
        </p:nvSpPr>
        <p:spPr>
          <a:xfrm>
            <a:off x="6572707" y="5049317"/>
            <a:ext cx="9619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8"/>
          <p:cNvSpPr/>
          <p:nvPr/>
        </p:nvSpPr>
        <p:spPr>
          <a:xfrm>
            <a:off x="7529170" y="5049317"/>
            <a:ext cx="1904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9"/>
          <p:cNvSpPr/>
          <p:nvPr/>
        </p:nvSpPr>
        <p:spPr>
          <a:xfrm>
            <a:off x="9427464" y="5049317"/>
            <a:ext cx="761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0"/>
          <p:cNvSpPr/>
          <p:nvPr/>
        </p:nvSpPr>
        <p:spPr>
          <a:xfrm>
            <a:off x="10183673" y="5049317"/>
            <a:ext cx="11905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1"/>
          <p:cNvSpPr/>
          <p:nvPr/>
        </p:nvSpPr>
        <p:spPr>
          <a:xfrm>
            <a:off x="6572707" y="5699455"/>
            <a:ext cx="9619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2"/>
          <p:cNvSpPr/>
          <p:nvPr/>
        </p:nvSpPr>
        <p:spPr>
          <a:xfrm>
            <a:off x="7529170" y="5699455"/>
            <a:ext cx="1904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9427464" y="5699455"/>
            <a:ext cx="761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4"/>
          <p:cNvSpPr/>
          <p:nvPr/>
        </p:nvSpPr>
        <p:spPr>
          <a:xfrm>
            <a:off x="10183673" y="5699455"/>
            <a:ext cx="11905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5"/>
          <p:cNvSpPr/>
          <p:nvPr/>
        </p:nvSpPr>
        <p:spPr>
          <a:xfrm>
            <a:off x="10297973" y="5343754"/>
            <a:ext cx="514807" cy="57607"/>
          </a:xfrm>
          <a:prstGeom prst="roundRect">
            <a:avLst>
              <a:gd name="adj" fmla="val 158730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6"/>
          <p:cNvSpPr/>
          <p:nvPr/>
        </p:nvSpPr>
        <p:spPr>
          <a:xfrm>
            <a:off x="6572707" y="6352337"/>
            <a:ext cx="9619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7"/>
          <p:cNvSpPr/>
          <p:nvPr/>
        </p:nvSpPr>
        <p:spPr>
          <a:xfrm>
            <a:off x="7529170" y="6352337"/>
            <a:ext cx="1904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48"/>
          <p:cNvSpPr/>
          <p:nvPr/>
        </p:nvSpPr>
        <p:spPr>
          <a:xfrm>
            <a:off x="9427464" y="6352337"/>
            <a:ext cx="7616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9"/>
          <p:cNvSpPr/>
          <p:nvPr/>
        </p:nvSpPr>
        <p:spPr>
          <a:xfrm>
            <a:off x="10183673" y="6352337"/>
            <a:ext cx="1190549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0"/>
          <p:cNvSpPr/>
          <p:nvPr/>
        </p:nvSpPr>
        <p:spPr>
          <a:xfrm>
            <a:off x="10297973" y="5995721"/>
            <a:ext cx="181051" cy="57607"/>
          </a:xfrm>
          <a:prstGeom prst="roundRect">
            <a:avLst>
              <a:gd name="adj" fmla="val 158730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1"/>
          <p:cNvSpPr/>
          <p:nvPr/>
        </p:nvSpPr>
        <p:spPr>
          <a:xfrm>
            <a:off x="10297973" y="6645859"/>
            <a:ext cx="133502" cy="57607"/>
          </a:xfrm>
          <a:prstGeom prst="roundRect">
            <a:avLst>
              <a:gd name="adj" fmla="val 158730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2"/>
          <p:cNvSpPr/>
          <p:nvPr/>
        </p:nvSpPr>
        <p:spPr>
          <a:xfrm>
            <a:off x="6562649" y="7156094"/>
            <a:ext cx="4819802" cy="552298"/>
          </a:xfrm>
          <a:prstGeom prst="roundRect">
            <a:avLst>
              <a:gd name="adj" fmla="val 1141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3"/>
          <p:cNvSpPr txBox="1"/>
          <p:nvPr/>
        </p:nvSpPr>
        <p:spPr>
          <a:xfrm>
            <a:off x="571500" y="323698"/>
            <a:ext cx="36484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IDS/IPS 운영</a:t>
            </a:r>
            <a:endParaRPr lang="en-US" sz="2700" dirty="0"/>
          </a:p>
        </p:txBody>
      </p:sp>
      <p:sp>
        <p:nvSpPr>
          <p:cNvPr id="61" name="Text 54"/>
          <p:cNvSpPr txBox="1"/>
          <p:nvPr/>
        </p:nvSpPr>
        <p:spPr>
          <a:xfrm>
            <a:off x="1304849" y="2038198"/>
            <a:ext cx="19723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 룰셋 (Rule Sets)</a:t>
            </a:r>
            <a:endParaRPr lang="en-US" sz="1500" dirty="0"/>
          </a:p>
        </p:txBody>
      </p:sp>
      <p:sp>
        <p:nvSpPr>
          <p:cNvPr id="62" name="Text 55"/>
          <p:cNvSpPr txBox="1"/>
          <p:nvPr/>
        </p:nvSpPr>
        <p:spPr>
          <a:xfrm>
            <a:off x="1304849" y="4229100"/>
            <a:ext cx="2705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모드 (Operation Modes)</a:t>
            </a:r>
            <a:endParaRPr lang="en-US" sz="1500" dirty="0"/>
          </a:p>
        </p:txBody>
      </p:sp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3152851" y="5567782"/>
            <a:ext cx="133502" cy="152705"/>
          </a:xfrm>
          <a:prstGeom prst="rect">
            <a:avLst/>
          </a:prstGeom>
        </p:spPr>
      </p:pic>
      <p:sp>
        <p:nvSpPr>
          <p:cNvPr id="64" name="Text 56"/>
          <p:cNvSpPr txBox="1"/>
          <p:nvPr/>
        </p:nvSpPr>
        <p:spPr>
          <a:xfrm>
            <a:off x="1304849" y="6719926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연계</a:t>
            </a:r>
            <a:endParaRPr lang="en-US" sz="1500" dirty="0"/>
          </a:p>
        </p:txBody>
      </p:sp>
      <p:sp>
        <p:nvSpPr>
          <p:cNvPr id="65" name="Text 57"/>
          <p:cNvSpPr txBox="1"/>
          <p:nvPr/>
        </p:nvSpPr>
        <p:spPr>
          <a:xfrm>
            <a:off x="6562649" y="1981505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 룰 카테고리 현황</a:t>
            </a:r>
            <a:endParaRPr lang="en-US" sz="1500" dirty="0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02622" y="2072030"/>
            <a:ext cx="114300" cy="114300"/>
          </a:xfrm>
          <a:prstGeom prst="rect">
            <a:avLst/>
          </a:prstGeom>
        </p:spPr>
      </p:pic>
      <p:sp>
        <p:nvSpPr>
          <p:cNvPr id="67" name="Text 58"/>
          <p:cNvSpPr txBox="1"/>
          <p:nvPr/>
        </p:nvSpPr>
        <p:spPr>
          <a:xfrm>
            <a:off x="10155326" y="2038198"/>
            <a:ext cx="12006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Updated: 2026-01-20</a:t>
            </a:r>
            <a:endParaRPr lang="en-US" sz="900" dirty="0"/>
          </a:p>
        </p:txBody>
      </p:sp>
      <p:sp>
        <p:nvSpPr>
          <p:cNvPr id="68" name="Text 59"/>
          <p:cNvSpPr txBox="1"/>
          <p:nvPr/>
        </p:nvSpPr>
        <p:spPr>
          <a:xfrm>
            <a:off x="6687007" y="2762402"/>
            <a:ext cx="7132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</a:t>
            </a:r>
            <a:endParaRPr lang="en-US" sz="1000" dirty="0"/>
          </a:p>
        </p:txBody>
      </p:sp>
      <p:sp>
        <p:nvSpPr>
          <p:cNvPr id="69" name="Text 60"/>
          <p:cNvSpPr txBox="1"/>
          <p:nvPr/>
        </p:nvSpPr>
        <p:spPr>
          <a:xfrm>
            <a:off x="7643470" y="2762402"/>
            <a:ext cx="8842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70" name="Text 61"/>
          <p:cNvSpPr txBox="1"/>
          <p:nvPr/>
        </p:nvSpPr>
        <p:spPr>
          <a:xfrm>
            <a:off x="9541764" y="2762402"/>
            <a:ext cx="5413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000" dirty="0"/>
          </a:p>
        </p:txBody>
      </p:sp>
      <p:sp>
        <p:nvSpPr>
          <p:cNvPr id="71" name="Text 62"/>
          <p:cNvSpPr txBox="1"/>
          <p:nvPr/>
        </p:nvSpPr>
        <p:spPr>
          <a:xfrm>
            <a:off x="10297973" y="2762402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Priority</a:t>
            </a:r>
            <a:endParaRPr lang="en-US" sz="1000" dirty="0"/>
          </a:p>
        </p:txBody>
      </p:sp>
      <p:sp>
        <p:nvSpPr>
          <p:cNvPr id="72" name="Text 63"/>
          <p:cNvSpPr txBox="1"/>
          <p:nvPr/>
        </p:nvSpPr>
        <p:spPr>
          <a:xfrm>
            <a:off x="6687007" y="3318358"/>
            <a:ext cx="5696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Exploit</a:t>
            </a:r>
            <a:endParaRPr lang="en-US" sz="1000" dirty="0"/>
          </a:p>
        </p:txBody>
      </p:sp>
      <p:sp>
        <p:nvSpPr>
          <p:cNvPr id="73" name="Text 64"/>
          <p:cNvSpPr txBox="1"/>
          <p:nvPr/>
        </p:nvSpPr>
        <p:spPr>
          <a:xfrm>
            <a:off x="7643470" y="3215945"/>
            <a:ext cx="16459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CVE 취약점 공격 시도 탐지 (Apache, SSH)</a:t>
            </a:r>
            <a:endParaRPr lang="en-US" sz="1000" dirty="0"/>
          </a:p>
        </p:txBody>
      </p:sp>
      <p:sp>
        <p:nvSpPr>
          <p:cNvPr id="74" name="Shape 65"/>
          <p:cNvSpPr/>
          <p:nvPr/>
        </p:nvSpPr>
        <p:spPr>
          <a:xfrm>
            <a:off x="9557309" y="3299155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66"/>
          <p:cNvSpPr txBox="1"/>
          <p:nvPr/>
        </p:nvSpPr>
        <p:spPr>
          <a:xfrm>
            <a:off x="9600286" y="334670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76" name="Text 67"/>
          <p:cNvSpPr txBox="1"/>
          <p:nvPr/>
        </p:nvSpPr>
        <p:spPr>
          <a:xfrm>
            <a:off x="10881360" y="3335731"/>
            <a:ext cx="4672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77" name="Text 68"/>
          <p:cNvSpPr txBox="1"/>
          <p:nvPr/>
        </p:nvSpPr>
        <p:spPr>
          <a:xfrm>
            <a:off x="6687007" y="3865169"/>
            <a:ext cx="532181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Attack</a:t>
            </a:r>
            <a:endParaRPr lang="en-US" sz="1000" dirty="0"/>
          </a:p>
        </p:txBody>
      </p:sp>
      <p:sp>
        <p:nvSpPr>
          <p:cNvPr id="78" name="Text 69"/>
          <p:cNvSpPr txBox="1"/>
          <p:nvPr/>
        </p:nvSpPr>
        <p:spPr>
          <a:xfrm>
            <a:off x="7643470" y="3865169"/>
            <a:ext cx="16459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SQL Injection, XSS, Path Traversal 시도</a:t>
            </a:r>
            <a:endParaRPr lang="en-US" sz="1000" dirty="0"/>
          </a:p>
        </p:txBody>
      </p:sp>
      <p:sp>
        <p:nvSpPr>
          <p:cNvPr id="79" name="Shape 70"/>
          <p:cNvSpPr/>
          <p:nvPr/>
        </p:nvSpPr>
        <p:spPr>
          <a:xfrm>
            <a:off x="9557309" y="3949294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1"/>
          <p:cNvSpPr txBox="1"/>
          <p:nvPr/>
        </p:nvSpPr>
        <p:spPr>
          <a:xfrm>
            <a:off x="9600286" y="3996842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81" name="Text 72"/>
          <p:cNvSpPr txBox="1"/>
          <p:nvPr/>
        </p:nvSpPr>
        <p:spPr>
          <a:xfrm>
            <a:off x="11010290" y="3985870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</a:t>
            </a:r>
            <a:endParaRPr lang="en-US" sz="900" dirty="0"/>
          </a:p>
        </p:txBody>
      </p:sp>
      <p:sp>
        <p:nvSpPr>
          <p:cNvPr id="82" name="Text 73"/>
          <p:cNvSpPr txBox="1"/>
          <p:nvPr/>
        </p:nvSpPr>
        <p:spPr>
          <a:xfrm>
            <a:off x="6687007" y="4617720"/>
            <a:ext cx="6748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Malware</a:t>
            </a:r>
            <a:endParaRPr lang="en-US" sz="1000" dirty="0"/>
          </a:p>
        </p:txBody>
      </p:sp>
      <p:sp>
        <p:nvSpPr>
          <p:cNvPr id="83" name="Text 74"/>
          <p:cNvSpPr txBox="1"/>
          <p:nvPr/>
        </p:nvSpPr>
        <p:spPr>
          <a:xfrm>
            <a:off x="7643470" y="4515307"/>
            <a:ext cx="16276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트로이목마, 랜섬웨어 C&amp;C 서버 통신</a:t>
            </a:r>
            <a:endParaRPr lang="en-US" sz="1000" dirty="0"/>
          </a:p>
        </p:txBody>
      </p:sp>
      <p:sp>
        <p:nvSpPr>
          <p:cNvPr id="84" name="Shape 75"/>
          <p:cNvSpPr/>
          <p:nvPr/>
        </p:nvSpPr>
        <p:spPr>
          <a:xfrm>
            <a:off x="9557309" y="4599432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76"/>
          <p:cNvSpPr txBox="1"/>
          <p:nvPr/>
        </p:nvSpPr>
        <p:spPr>
          <a:xfrm>
            <a:off x="9600286" y="4646981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86" name="Text 77"/>
          <p:cNvSpPr txBox="1"/>
          <p:nvPr/>
        </p:nvSpPr>
        <p:spPr>
          <a:xfrm>
            <a:off x="11010290" y="4635094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</a:t>
            </a:r>
            <a:endParaRPr lang="en-US" sz="900" dirty="0"/>
          </a:p>
        </p:txBody>
      </p:sp>
      <p:sp>
        <p:nvSpPr>
          <p:cNvPr id="87" name="Text 78"/>
          <p:cNvSpPr txBox="1"/>
          <p:nvPr/>
        </p:nvSpPr>
        <p:spPr>
          <a:xfrm>
            <a:off x="6687007" y="5269687"/>
            <a:ext cx="6080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</a:t>
            </a:r>
            <a:endParaRPr lang="en-US" sz="1000" dirty="0"/>
          </a:p>
        </p:txBody>
      </p:sp>
      <p:sp>
        <p:nvSpPr>
          <p:cNvPr id="88" name="Text 79"/>
          <p:cNvSpPr txBox="1"/>
          <p:nvPr/>
        </p:nvSpPr>
        <p:spPr>
          <a:xfrm>
            <a:off x="7643470" y="5232197"/>
            <a:ext cx="5056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[User]</a:t>
            </a:r>
            <a:endParaRPr lang="en-US" sz="900" dirty="0"/>
          </a:p>
        </p:txBody>
      </p:sp>
      <p:sp>
        <p:nvSpPr>
          <p:cNvPr id="89" name="Text 80"/>
          <p:cNvSpPr txBox="1"/>
          <p:nvPr/>
        </p:nvSpPr>
        <p:spPr>
          <a:xfrm>
            <a:off x="7643470" y="5165446"/>
            <a:ext cx="168432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파일 업로드 및 실행 패턴</a:t>
            </a:r>
            <a:endParaRPr lang="en-US" sz="1000" dirty="0"/>
          </a:p>
        </p:txBody>
      </p:sp>
      <p:sp>
        <p:nvSpPr>
          <p:cNvPr id="90" name="Shape 81"/>
          <p:cNvSpPr/>
          <p:nvPr/>
        </p:nvSpPr>
        <p:spPr>
          <a:xfrm>
            <a:off x="9557309" y="5250485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2"/>
          <p:cNvSpPr txBox="1"/>
          <p:nvPr/>
        </p:nvSpPr>
        <p:spPr>
          <a:xfrm>
            <a:off x="9600286" y="529803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92" name="Text 83"/>
          <p:cNvSpPr txBox="1"/>
          <p:nvPr/>
        </p:nvSpPr>
        <p:spPr>
          <a:xfrm>
            <a:off x="10881360" y="5287061"/>
            <a:ext cx="4672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93" name="Text 84"/>
          <p:cNvSpPr txBox="1"/>
          <p:nvPr/>
        </p:nvSpPr>
        <p:spPr>
          <a:xfrm>
            <a:off x="6687007" y="5921654"/>
            <a:ext cx="5129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</a:t>
            </a:r>
            <a:endParaRPr lang="en-US" sz="1000" dirty="0"/>
          </a:p>
        </p:txBody>
      </p:sp>
      <p:sp>
        <p:nvSpPr>
          <p:cNvPr id="94" name="Text 85"/>
          <p:cNvSpPr txBox="1"/>
          <p:nvPr/>
        </p:nvSpPr>
        <p:spPr>
          <a:xfrm>
            <a:off x="7643470" y="5818327"/>
            <a:ext cx="169438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비업무 포트(P2P, Gaming) 및 프로토콜 사용</a:t>
            </a:r>
            <a:endParaRPr lang="en-US" sz="1000" dirty="0"/>
          </a:p>
        </p:txBody>
      </p:sp>
      <p:sp>
        <p:nvSpPr>
          <p:cNvPr id="95" name="Shape 86"/>
          <p:cNvSpPr/>
          <p:nvPr/>
        </p:nvSpPr>
        <p:spPr>
          <a:xfrm>
            <a:off x="9541764" y="5902452"/>
            <a:ext cx="533095" cy="256946"/>
          </a:xfrm>
          <a:prstGeom prst="roundRect">
            <a:avLst>
              <a:gd name="adj" fmla="val 5272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87"/>
          <p:cNvSpPr txBox="1"/>
          <p:nvPr/>
        </p:nvSpPr>
        <p:spPr>
          <a:xfrm>
            <a:off x="9584741" y="5950001"/>
            <a:ext cx="4480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</a:t>
            </a:r>
            <a:endParaRPr lang="en-US" sz="900" dirty="0"/>
          </a:p>
        </p:txBody>
      </p:sp>
      <p:sp>
        <p:nvSpPr>
          <p:cNvPr id="97" name="Text 88"/>
          <p:cNvSpPr txBox="1"/>
          <p:nvPr/>
        </p:nvSpPr>
        <p:spPr>
          <a:xfrm>
            <a:off x="10824667" y="5939028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</a:t>
            </a:r>
            <a:endParaRPr lang="en-US" sz="900" dirty="0"/>
          </a:p>
        </p:txBody>
      </p:sp>
      <p:sp>
        <p:nvSpPr>
          <p:cNvPr id="98" name="Text 89"/>
          <p:cNvSpPr txBox="1"/>
          <p:nvPr/>
        </p:nvSpPr>
        <p:spPr>
          <a:xfrm>
            <a:off x="6687007" y="6570878"/>
            <a:ext cx="4270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Scan</a:t>
            </a:r>
            <a:endParaRPr lang="en-US" sz="1000" dirty="0"/>
          </a:p>
        </p:txBody>
      </p:sp>
      <p:sp>
        <p:nvSpPr>
          <p:cNvPr id="99" name="Text 90"/>
          <p:cNvSpPr txBox="1"/>
          <p:nvPr/>
        </p:nvSpPr>
        <p:spPr>
          <a:xfrm>
            <a:off x="7643470" y="6468466"/>
            <a:ext cx="169438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Nmap 등 포트 스캔 및 네트워크 정찰 행위</a:t>
            </a:r>
            <a:endParaRPr lang="en-US" sz="1000" dirty="0"/>
          </a:p>
        </p:txBody>
      </p:sp>
      <p:sp>
        <p:nvSpPr>
          <p:cNvPr id="100" name="Shape 91"/>
          <p:cNvSpPr/>
          <p:nvPr/>
        </p:nvSpPr>
        <p:spPr>
          <a:xfrm>
            <a:off x="9541764" y="6552590"/>
            <a:ext cx="533095" cy="256946"/>
          </a:xfrm>
          <a:prstGeom prst="roundRect">
            <a:avLst>
              <a:gd name="adj" fmla="val 5272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2"/>
          <p:cNvSpPr txBox="1"/>
          <p:nvPr/>
        </p:nvSpPr>
        <p:spPr>
          <a:xfrm>
            <a:off x="9584741" y="6600139"/>
            <a:ext cx="4480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</a:t>
            </a:r>
            <a:endParaRPr lang="en-US" sz="900" dirty="0"/>
          </a:p>
        </p:txBody>
      </p:sp>
      <p:sp>
        <p:nvSpPr>
          <p:cNvPr id="102" name="Text 93"/>
          <p:cNvSpPr txBox="1"/>
          <p:nvPr/>
        </p:nvSpPr>
        <p:spPr>
          <a:xfrm>
            <a:off x="11037722" y="6588252"/>
            <a:ext cx="3145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</a:t>
            </a:r>
            <a:endParaRPr lang="en-US" sz="900" dirty="0"/>
          </a:p>
        </p:txBody>
      </p:sp>
      <p:pic>
        <p:nvPicPr>
          <p:cNvPr id="103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87007" y="7304227"/>
            <a:ext cx="114300" cy="114300"/>
          </a:xfrm>
          <a:prstGeom prst="rect">
            <a:avLst/>
          </a:prstGeom>
        </p:spPr>
      </p:pic>
      <p:sp>
        <p:nvSpPr>
          <p:cNvPr id="104" name="Text 94"/>
          <p:cNvSpPr txBox="1"/>
          <p:nvPr/>
        </p:nvSpPr>
        <p:spPr>
          <a:xfrm>
            <a:off x="6877202" y="7270394"/>
            <a:ext cx="3913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Note:</a:t>
            </a:r>
            <a:endParaRPr lang="en-US" sz="900" dirty="0"/>
          </a:p>
        </p:txBody>
      </p:sp>
      <p:sp>
        <p:nvSpPr>
          <p:cNvPr id="105" name="Text 95"/>
          <p:cNvSpPr txBox="1"/>
          <p:nvPr/>
        </p:nvSpPr>
        <p:spPr>
          <a:xfrm>
            <a:off x="6687007" y="7270394"/>
            <a:ext cx="46488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최소화를 위해 'Policy' 및 'Scan' 카테고리는 초기 운영 기간 동안 차단 대신 경고(Alert) 모드로 운영합니다.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보안 인프라 구성을 위한 AWS 클라우드 활용 전략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2431390"/>
            <a:ext cx="5333695" cy="1143000"/>
          </a:xfrm>
          <a:prstGeom prst="roundRect">
            <a:avLst>
              <a:gd name="adj" fmla="val 53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0392" y="2745943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0335" y="2936138"/>
            <a:ext cx="450067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관리형 인프라를 통해 하드웨어 장애로부터 자유로우며, 안정적인 네트워크 품질을 보장합니다.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3760013"/>
            <a:ext cx="5333695" cy="1143000"/>
          </a:xfrm>
          <a:prstGeom prst="roundRect">
            <a:avLst>
              <a:gd name="adj" fmla="val 53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800100" y="4074566"/>
            <a:ext cx="286207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66444" y="4264762"/>
            <a:ext cx="454822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IAM, Security Group, VPC 등 계층화된 보안 서비스를 통해 사용자 및 리소스 접근을 정교하게 통제합니다.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71500" y="5088636"/>
            <a:ext cx="5333695" cy="1143000"/>
          </a:xfrm>
          <a:prstGeom prst="roundRect">
            <a:avLst>
              <a:gd name="adj" fmla="val 53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843077" y="5403190"/>
            <a:ext cx="200254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8273" y="5593385"/>
            <a:ext cx="45390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서버, 모니터링 노드 등 필요 자원을 즉시 프로비저닝하여 온프레미스 자원의 한계를 보완합니다.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286500" y="1752905"/>
            <a:ext cx="5333695" cy="5152644"/>
          </a:xfrm>
          <a:prstGeom prst="roundRect">
            <a:avLst>
              <a:gd name="adj" fmla="val 262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6620256" y="2104949"/>
            <a:ext cx="190195" cy="152705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24244" y="2676449"/>
            <a:ext cx="1218895" cy="43799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1"/>
          <p:cNvSpPr/>
          <p:nvPr/>
        </p:nvSpPr>
        <p:spPr>
          <a:xfrm>
            <a:off x="6524244" y="3095244"/>
            <a:ext cx="1218895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7739482" y="2676449"/>
            <a:ext cx="1800454" cy="43799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7739482" y="3095244"/>
            <a:ext cx="1800454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9536278" y="2676449"/>
            <a:ext cx="1848002" cy="43799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9536278" y="3095244"/>
            <a:ext cx="1848002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524244" y="3114446"/>
            <a:ext cx="1218895" cy="61904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6524244" y="3724351"/>
            <a:ext cx="12188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7739482" y="3724351"/>
            <a:ext cx="1800454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9536278" y="3724351"/>
            <a:ext cx="18480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0"/>
          <p:cNvSpPr/>
          <p:nvPr/>
        </p:nvSpPr>
        <p:spPr>
          <a:xfrm>
            <a:off x="6524244" y="3733495"/>
            <a:ext cx="1218895" cy="61904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524244" y="4343400"/>
            <a:ext cx="12188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7739482" y="4343400"/>
            <a:ext cx="1800454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9536278" y="4343400"/>
            <a:ext cx="18480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6524244" y="4352544"/>
            <a:ext cx="1218895" cy="61904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6524244" y="4962449"/>
            <a:ext cx="1218895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7739482" y="4962449"/>
            <a:ext cx="1800454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9536278" y="4962449"/>
            <a:ext cx="18480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6524244" y="4972507"/>
            <a:ext cx="1218895" cy="609905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6524244" y="5810098"/>
            <a:ext cx="4858207" cy="857707"/>
          </a:xfrm>
          <a:prstGeom prst="roundRect">
            <a:avLst>
              <a:gd name="adj" fmla="val 473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6687007" y="6010351"/>
            <a:ext cx="114300" cy="152705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915607" y="5971946"/>
            <a:ext cx="4405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결론: 하이브리드 전략의 이점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915607" y="6200546"/>
            <a:ext cx="43918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민감한 데이터는 온프레미스(OpenStack)에서 직접 통제하고, 외부 접점 및 가변적인 리소스는 AWS를 활용하여보안성과 효율성의 균형을 달성합니다.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571500" y="323698"/>
            <a:ext cx="38011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도입 배경 및 필요성</a:t>
            </a:r>
            <a:endParaRPr lang="en-US" sz="2700" dirty="0"/>
          </a:p>
        </p:txBody>
      </p:sp>
      <p:sp>
        <p:nvSpPr>
          <p:cNvPr id="40" name="Text 33"/>
          <p:cNvSpPr txBox="1"/>
          <p:nvPr/>
        </p:nvSpPr>
        <p:spPr>
          <a:xfrm>
            <a:off x="1310335" y="2621585"/>
            <a:ext cx="29059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고가용성 및 안정성 (Availability)</a:t>
            </a:r>
            <a:endParaRPr lang="en-US" sz="1500" dirty="0"/>
          </a:p>
        </p:txBody>
      </p:sp>
      <p:sp>
        <p:nvSpPr>
          <p:cNvPr id="41" name="Text 34"/>
          <p:cNvSpPr txBox="1"/>
          <p:nvPr/>
        </p:nvSpPr>
        <p:spPr>
          <a:xfrm>
            <a:off x="1266444" y="3950208"/>
            <a:ext cx="3048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세밀한 접근 제어 (Access Control)</a:t>
            </a:r>
            <a:endParaRPr lang="en-US" sz="1500" dirty="0"/>
          </a:p>
        </p:txBody>
      </p:sp>
      <p:sp>
        <p:nvSpPr>
          <p:cNvPr id="42" name="Text 35"/>
          <p:cNvSpPr txBox="1"/>
          <p:nvPr/>
        </p:nvSpPr>
        <p:spPr>
          <a:xfrm>
            <a:off x="1268273" y="5278831"/>
            <a:ext cx="24387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유연한 확장성 (Scalability)</a:t>
            </a:r>
            <a:endParaRPr lang="en-US" sz="1500" dirty="0"/>
          </a:p>
        </p:txBody>
      </p:sp>
      <p:sp>
        <p:nvSpPr>
          <p:cNvPr id="43" name="Text 36"/>
          <p:cNvSpPr txBox="1"/>
          <p:nvPr/>
        </p:nvSpPr>
        <p:spPr>
          <a:xfrm>
            <a:off x="7019849" y="2038198"/>
            <a:ext cx="2153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 vs AWS 비교</a:t>
            </a:r>
            <a:endParaRPr lang="en-US" sz="1500" dirty="0"/>
          </a:p>
        </p:txBody>
      </p:sp>
      <p:sp>
        <p:nvSpPr>
          <p:cNvPr id="44" name="Text 37"/>
          <p:cNvSpPr txBox="1"/>
          <p:nvPr/>
        </p:nvSpPr>
        <p:spPr>
          <a:xfrm>
            <a:off x="6959498" y="2790749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7855610" y="279074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 (OpenStack)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10000793" y="2790749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클라우드</a:t>
            </a:r>
            <a:endParaRPr lang="en-US" sz="1000" dirty="0"/>
          </a:p>
        </p:txBody>
      </p:sp>
      <p:sp>
        <p:nvSpPr>
          <p:cNvPr id="47" name="Text 40"/>
          <p:cNvSpPr txBox="1"/>
          <p:nvPr/>
        </p:nvSpPr>
        <p:spPr>
          <a:xfrm>
            <a:off x="6752844" y="3323844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 비용</a:t>
            </a:r>
            <a:endParaRPr lang="en-US" sz="1000" dirty="0"/>
          </a:p>
        </p:txBody>
      </p:sp>
      <p:sp>
        <p:nvSpPr>
          <p:cNvPr id="48" name="Text 41"/>
          <p:cNvSpPr txBox="1"/>
          <p:nvPr/>
        </p:nvSpPr>
        <p:spPr>
          <a:xfrm>
            <a:off x="7804404" y="3228746"/>
            <a:ext cx="16724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투자 비용(CapEx) 높음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8057693" y="3438144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서버, 네트워크 장비 등</a:t>
            </a:r>
            <a:endParaRPr lang="en-US" sz="900" dirty="0"/>
          </a:p>
        </p:txBody>
      </p:sp>
      <p:sp>
        <p:nvSpPr>
          <p:cNvPr id="50" name="Text 43"/>
          <p:cNvSpPr txBox="1"/>
          <p:nvPr/>
        </p:nvSpPr>
        <p:spPr>
          <a:xfrm>
            <a:off x="9797796" y="3228746"/>
            <a:ext cx="1329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비용(OpEx) 기반</a:t>
            </a:r>
            <a:endParaRPr lang="en-US" sz="1000" dirty="0"/>
          </a:p>
        </p:txBody>
      </p:sp>
      <p:sp>
        <p:nvSpPr>
          <p:cNvPr id="51" name="Text 44"/>
          <p:cNvSpPr txBox="1"/>
          <p:nvPr/>
        </p:nvSpPr>
        <p:spPr>
          <a:xfrm>
            <a:off x="10016338" y="3438144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사용한 만큼 지불</a:t>
            </a:r>
            <a:endParaRPr lang="en-US" sz="900" dirty="0"/>
          </a:p>
        </p:txBody>
      </p:sp>
      <p:sp>
        <p:nvSpPr>
          <p:cNvPr id="52" name="Text 45"/>
          <p:cNvSpPr txBox="1"/>
          <p:nvPr/>
        </p:nvSpPr>
        <p:spPr>
          <a:xfrm>
            <a:off x="6752844" y="3943807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편의성</a:t>
            </a:r>
            <a:endParaRPr lang="en-US" sz="1000" dirty="0"/>
          </a:p>
        </p:txBody>
      </p:sp>
      <p:sp>
        <p:nvSpPr>
          <p:cNvPr id="53" name="Text 46"/>
          <p:cNvSpPr txBox="1"/>
          <p:nvPr/>
        </p:nvSpPr>
        <p:spPr>
          <a:xfrm>
            <a:off x="7923276" y="3847795"/>
            <a:ext cx="14337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관리 (High Effort)</a:t>
            </a:r>
            <a:endParaRPr lang="en-US" sz="1000" dirty="0"/>
          </a:p>
        </p:txBody>
      </p:sp>
      <p:sp>
        <p:nvSpPr>
          <p:cNvPr id="54" name="Text 47"/>
          <p:cNvSpPr txBox="1"/>
          <p:nvPr/>
        </p:nvSpPr>
        <p:spPr>
          <a:xfrm>
            <a:off x="8089697" y="4058107"/>
            <a:ext cx="11055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유지보수 필요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9638690" y="3847795"/>
            <a:ext cx="1643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관리형 서비스 (Low Effort)</a:t>
            </a:r>
            <a:endParaRPr lang="en-US" sz="1000" dirty="0"/>
          </a:p>
        </p:txBody>
      </p:sp>
      <p:sp>
        <p:nvSpPr>
          <p:cNvPr id="56" name="Text 49"/>
          <p:cNvSpPr txBox="1"/>
          <p:nvPr/>
        </p:nvSpPr>
        <p:spPr>
          <a:xfrm>
            <a:off x="10016338" y="4058107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관리 위임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6752844" y="4562856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8120786" y="4466844"/>
            <a:ext cx="10341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한계 존재</a:t>
            </a:r>
            <a:endParaRPr lang="en-US" sz="1000" dirty="0"/>
          </a:p>
        </p:txBody>
      </p:sp>
      <p:sp>
        <p:nvSpPr>
          <p:cNvPr id="59" name="Text 52"/>
          <p:cNvSpPr txBox="1"/>
          <p:nvPr/>
        </p:nvSpPr>
        <p:spPr>
          <a:xfrm>
            <a:off x="8178394" y="4677156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증설 시 시간 소요</a:t>
            </a:r>
            <a:endParaRPr lang="en-US" sz="900" dirty="0"/>
          </a:p>
        </p:txBody>
      </p:sp>
      <p:sp>
        <p:nvSpPr>
          <p:cNvPr id="60" name="Text 53"/>
          <p:cNvSpPr txBox="1"/>
          <p:nvPr/>
        </p:nvSpPr>
        <p:spPr>
          <a:xfrm>
            <a:off x="9819742" y="4466844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즉각적인 탄력적 확장</a:t>
            </a:r>
            <a:endParaRPr lang="en-US" sz="1000" dirty="0"/>
          </a:p>
        </p:txBody>
      </p:sp>
      <p:sp>
        <p:nvSpPr>
          <p:cNvPr id="61" name="Text 54"/>
          <p:cNvSpPr txBox="1"/>
          <p:nvPr/>
        </p:nvSpPr>
        <p:spPr>
          <a:xfrm>
            <a:off x="9961474" y="4677156"/>
            <a:ext cx="10003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Scaling 지원</a:t>
            </a:r>
            <a:endParaRPr lang="en-US" sz="900" dirty="0"/>
          </a:p>
        </p:txBody>
      </p:sp>
      <p:sp>
        <p:nvSpPr>
          <p:cNvPr id="62" name="Text 55"/>
          <p:cNvSpPr txBox="1"/>
          <p:nvPr/>
        </p:nvSpPr>
        <p:spPr>
          <a:xfrm>
            <a:off x="6752844" y="51819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책임</a:t>
            </a:r>
            <a:endParaRPr lang="en-US" sz="1000" dirty="0"/>
          </a:p>
        </p:txBody>
      </p:sp>
      <p:sp>
        <p:nvSpPr>
          <p:cNvPr id="63" name="Text 56"/>
          <p:cNvSpPr txBox="1"/>
          <p:nvPr/>
        </p:nvSpPr>
        <p:spPr>
          <a:xfrm>
            <a:off x="7894015" y="5086807"/>
            <a:ext cx="1491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책임 (Full Control)</a:t>
            </a:r>
            <a:endParaRPr lang="en-US" sz="1000" dirty="0"/>
          </a:p>
        </p:txBody>
      </p:sp>
      <p:sp>
        <p:nvSpPr>
          <p:cNvPr id="64" name="Text 57"/>
          <p:cNvSpPr txBox="1"/>
          <p:nvPr/>
        </p:nvSpPr>
        <p:spPr>
          <a:xfrm>
            <a:off x="7984541" y="5296205"/>
            <a:ext cx="1314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보안부터 데이터까지</a:t>
            </a:r>
            <a:endParaRPr lang="en-US" sz="900" dirty="0"/>
          </a:p>
        </p:txBody>
      </p:sp>
      <p:sp>
        <p:nvSpPr>
          <p:cNvPr id="65" name="Text 58"/>
          <p:cNvSpPr txBox="1"/>
          <p:nvPr/>
        </p:nvSpPr>
        <p:spPr>
          <a:xfrm>
            <a:off x="10003536" y="5086807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 책임 모델</a:t>
            </a:r>
            <a:endParaRPr lang="en-US" sz="1000" dirty="0"/>
          </a:p>
        </p:txBody>
      </p:sp>
      <p:sp>
        <p:nvSpPr>
          <p:cNvPr id="66" name="Text 59"/>
          <p:cNvSpPr txBox="1"/>
          <p:nvPr/>
        </p:nvSpPr>
        <p:spPr>
          <a:xfrm>
            <a:off x="9829800" y="5296205"/>
            <a:ext cx="12673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보안은 AWS 담당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클라우드 연결 및 관리자 보안 접근 아키텍처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33631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OpenVPN 구성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71500" y="4229100"/>
            <a:ext cx="5429707" cy="2257654"/>
          </a:xfrm>
          <a:prstGeom prst="roundRect">
            <a:avLst>
              <a:gd name="adj" fmla="val 2051"/>
            </a:avLst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71500" y="4229100"/>
            <a:ext cx="38405" cy="2257654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0100" y="4772254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1282" r="-1282"/>
          <a:stretch/>
        </p:blipFill>
        <p:spPr>
          <a:xfrm>
            <a:off x="800100" y="4449470"/>
            <a:ext cx="219456" cy="19019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4954219"/>
            <a:ext cx="133502" cy="1335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8700" y="4918558"/>
            <a:ext cx="2779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MFA 적용: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Authenticator (OTP) 필수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255971"/>
            <a:ext cx="133502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8700" y="5219395"/>
            <a:ext cx="27514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암호화: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 / 2048-bit RSA 인증서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556809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28700" y="5520233"/>
            <a:ext cx="25319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정책: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그룹별 별도 Profile 적용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191402" y="4229100"/>
            <a:ext cx="5429707" cy="2257654"/>
          </a:xfrm>
          <a:prstGeom prst="roundRect">
            <a:avLst>
              <a:gd name="adj" fmla="val 2051"/>
            </a:avLst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1"/>
          <p:cNvSpPr/>
          <p:nvPr/>
        </p:nvSpPr>
        <p:spPr>
          <a:xfrm>
            <a:off x="6191402" y="4229100"/>
            <a:ext cx="38405" cy="2257654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6420002" y="4772254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20002" y="4449470"/>
            <a:ext cx="190195" cy="190195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6420002" y="5195621"/>
            <a:ext cx="1314907" cy="914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4"/>
          <p:cNvSpPr/>
          <p:nvPr/>
        </p:nvSpPr>
        <p:spPr>
          <a:xfrm>
            <a:off x="7730338" y="5195621"/>
            <a:ext cx="1343254" cy="914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9069019" y="5195621"/>
            <a:ext cx="2361895" cy="914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420002" y="5565038"/>
            <a:ext cx="1314907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7"/>
          <p:cNvSpPr/>
          <p:nvPr/>
        </p:nvSpPr>
        <p:spPr>
          <a:xfrm>
            <a:off x="7730338" y="5565038"/>
            <a:ext cx="13432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8"/>
          <p:cNvSpPr/>
          <p:nvPr/>
        </p:nvSpPr>
        <p:spPr>
          <a:xfrm>
            <a:off x="9069019" y="5565038"/>
            <a:ext cx="236189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6420002" y="5930798"/>
            <a:ext cx="1314907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7730338" y="5930798"/>
            <a:ext cx="13432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9069019" y="5930798"/>
            <a:ext cx="236189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1133856" y="4419295"/>
            <a:ext cx="22695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Authentication &amp; Security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724498" y="4419295"/>
            <a:ext cx="19641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 Routing Path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429146" y="4927702"/>
            <a:ext cx="535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739482" y="4927702"/>
            <a:ext cx="297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Via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9078163" y="4927702"/>
            <a:ext cx="831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Destination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420002" y="5288890"/>
            <a:ext cx="1211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VPN IP Pool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7730338" y="5288890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EC2 VPN GW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9069019" y="5293462"/>
            <a:ext cx="1057046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0"/>
          <p:cNvSpPr txBox="1"/>
          <p:nvPr/>
        </p:nvSpPr>
        <p:spPr>
          <a:xfrm>
            <a:off x="9125712" y="5312664"/>
            <a:ext cx="104058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10.0.10.0/24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10118750" y="5284318"/>
            <a:ext cx="535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(Mgmt)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6420002" y="5654650"/>
            <a:ext cx="1116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VPC Subnet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7730338" y="5654650"/>
            <a:ext cx="12307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Site-to-Site Tunnel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9069019" y="5659222"/>
            <a:ext cx="1362456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9125712" y="5678424"/>
            <a:ext cx="134508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192.168.100.0/24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10430561" y="5650078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(On-Prem)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6420002" y="6015838"/>
            <a:ext cx="9354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Internet (Any)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7730338" y="6015838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by SG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9069019" y="6015838"/>
            <a:ext cx="16029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Ports (SSH/RDP)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571500" y="1600200"/>
            <a:ext cx="11048695" cy="2438705"/>
          </a:xfrm>
          <a:prstGeom prst="roundRect">
            <a:avLst>
              <a:gd name="adj" fmla="val 2343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1"/>
          <p:cNvSpPr/>
          <p:nvPr/>
        </p:nvSpPr>
        <p:spPr>
          <a:xfrm>
            <a:off x="1152144" y="2809951"/>
            <a:ext cx="9887407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2"/>
          <p:cNvSpPr/>
          <p:nvPr/>
        </p:nvSpPr>
        <p:spPr>
          <a:xfrm>
            <a:off x="3007462" y="2321662"/>
            <a:ext cx="1143000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1677" r="-1677"/>
          <a:stretch/>
        </p:blipFill>
        <p:spPr>
          <a:xfrm>
            <a:off x="3112618" y="2402129"/>
            <a:ext cx="95098" cy="105156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3245206" y="2369210"/>
            <a:ext cx="8805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TLS / UDP 1194</a:t>
            </a:r>
            <a:endParaRPr lang="en-US" sz="800" dirty="0"/>
          </a:p>
        </p:txBody>
      </p:sp>
      <p:sp>
        <p:nvSpPr>
          <p:cNvPr id="52" name="Shape 44"/>
          <p:cNvSpPr/>
          <p:nvPr/>
        </p:nvSpPr>
        <p:spPr>
          <a:xfrm>
            <a:off x="5875020" y="2321662"/>
            <a:ext cx="1228954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6" descr="preencoded.png"/>
          <p:cNvPicPr>
            <a:picLocks noChangeAspect="1"/>
          </p:cNvPicPr>
          <p:nvPr/>
        </p:nvPicPr>
        <p:blipFill>
          <a:blip r:embed="rId7"/>
          <a:srcRect l="-783" r="-783"/>
          <a:stretch/>
        </p:blipFill>
        <p:spPr>
          <a:xfrm>
            <a:off x="5980176" y="2402129"/>
            <a:ext cx="133502" cy="105156"/>
          </a:xfrm>
          <a:prstGeom prst="rect">
            <a:avLst/>
          </a:prstGeom>
        </p:spPr>
      </p:pic>
      <p:sp>
        <p:nvSpPr>
          <p:cNvPr id="54" name="Text 45"/>
          <p:cNvSpPr txBox="1"/>
          <p:nvPr/>
        </p:nvSpPr>
        <p:spPr>
          <a:xfrm>
            <a:off x="6151169" y="2369210"/>
            <a:ext cx="92811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Tunnel Interface</a:t>
            </a:r>
            <a:endParaRPr lang="en-US" sz="800" dirty="0"/>
          </a:p>
        </p:txBody>
      </p:sp>
      <p:sp>
        <p:nvSpPr>
          <p:cNvPr id="55" name="Shape 46"/>
          <p:cNvSpPr/>
          <p:nvPr/>
        </p:nvSpPr>
        <p:spPr>
          <a:xfrm>
            <a:off x="8743493" y="2321662"/>
            <a:ext cx="1209751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47734" y="2402129"/>
            <a:ext cx="105156" cy="105156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8990381" y="2369210"/>
            <a:ext cx="93817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Routing</a:t>
            </a:r>
            <a:endParaRPr lang="en-US" sz="800" dirty="0"/>
          </a:p>
        </p:txBody>
      </p:sp>
      <p:sp>
        <p:nvSpPr>
          <p:cNvPr id="58" name="Shape 48"/>
          <p:cNvSpPr/>
          <p:nvPr/>
        </p:nvSpPr>
        <p:spPr>
          <a:xfrm>
            <a:off x="961949" y="2066544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49"/>
          <p:cNvSpPr/>
          <p:nvPr/>
        </p:nvSpPr>
        <p:spPr>
          <a:xfrm>
            <a:off x="1552651" y="2275942"/>
            <a:ext cx="533095" cy="533095"/>
          </a:xfrm>
          <a:prstGeom prst="ellipse">
            <a:avLst/>
          </a:prstGeom>
          <a:solidFill>
            <a:srgbClr val="F472B6">
              <a:alpha val="1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0" name="Image 8" descr="preencoded.png"/>
          <p:cNvPicPr>
            <a:picLocks noChangeAspect="1"/>
          </p:cNvPicPr>
          <p:nvPr/>
        </p:nvPicPr>
        <p:blipFill>
          <a:blip r:embed="rId9"/>
          <a:srcRect l="-80" r="-80"/>
          <a:stretch/>
        </p:blipFill>
        <p:spPr>
          <a:xfrm>
            <a:off x="1676095" y="2428646"/>
            <a:ext cx="286207" cy="22860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1209751" y="2924251"/>
            <a:ext cx="1228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Remote Admin</a:t>
            </a:r>
            <a:endParaRPr lang="en-US" sz="1200" dirty="0"/>
          </a:p>
        </p:txBody>
      </p:sp>
      <p:sp>
        <p:nvSpPr>
          <p:cNvPr id="62" name="Text 51"/>
          <p:cNvSpPr txBox="1"/>
          <p:nvPr/>
        </p:nvSpPr>
        <p:spPr>
          <a:xfrm>
            <a:off x="1228039" y="3190342"/>
            <a:ext cx="11914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Client App</a:t>
            </a:r>
            <a:endParaRPr lang="en-US" sz="900" dirty="0"/>
          </a:p>
        </p:txBody>
      </p:sp>
      <p:sp>
        <p:nvSpPr>
          <p:cNvPr id="63" name="Shape 52"/>
          <p:cNvSpPr/>
          <p:nvPr/>
        </p:nvSpPr>
        <p:spPr>
          <a:xfrm>
            <a:off x="3813048" y="1981505"/>
            <a:ext cx="1714500" cy="1676095"/>
          </a:xfrm>
          <a:prstGeom prst="roundRect">
            <a:avLst>
              <a:gd name="adj" fmla="val 372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53"/>
          <p:cNvSpPr/>
          <p:nvPr/>
        </p:nvSpPr>
        <p:spPr>
          <a:xfrm>
            <a:off x="4403750" y="2190902"/>
            <a:ext cx="533095" cy="533095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9" descr="preencoded.png"/>
          <p:cNvPicPr>
            <a:picLocks noChangeAspect="1"/>
          </p:cNvPicPr>
          <p:nvPr/>
        </p:nvPicPr>
        <p:blipFill>
          <a:blip r:embed="rId10"/>
          <a:srcRect l="-80" r="-80"/>
          <a:stretch/>
        </p:blipFill>
        <p:spPr>
          <a:xfrm>
            <a:off x="4527194" y="2342693"/>
            <a:ext cx="286207" cy="228600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4278478" y="2838298"/>
            <a:ext cx="790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VPC</a:t>
            </a:r>
            <a:endParaRPr lang="en-US" sz="1200" dirty="0"/>
          </a:p>
        </p:txBody>
      </p:sp>
      <p:sp>
        <p:nvSpPr>
          <p:cNvPr id="67" name="Text 55"/>
          <p:cNvSpPr txBox="1"/>
          <p:nvPr/>
        </p:nvSpPr>
        <p:spPr>
          <a:xfrm>
            <a:off x="3931920" y="3105302"/>
            <a:ext cx="1476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Access Server (EC2)</a:t>
            </a:r>
            <a:endParaRPr lang="en-US" sz="900" dirty="0"/>
          </a:p>
        </p:txBody>
      </p:sp>
      <p:sp>
        <p:nvSpPr>
          <p:cNvPr id="68" name="Shape 56"/>
          <p:cNvSpPr/>
          <p:nvPr/>
        </p:nvSpPr>
        <p:spPr>
          <a:xfrm>
            <a:off x="6664147" y="2066544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57"/>
          <p:cNvSpPr/>
          <p:nvPr/>
        </p:nvSpPr>
        <p:spPr>
          <a:xfrm>
            <a:off x="7254850" y="2275942"/>
            <a:ext cx="533095" cy="533095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0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07554" y="2428646"/>
            <a:ext cx="228600" cy="228600"/>
          </a:xfrm>
          <a:prstGeom prst="rect">
            <a:avLst/>
          </a:prstGeom>
        </p:spPr>
      </p:pic>
      <p:sp>
        <p:nvSpPr>
          <p:cNvPr id="71" name="Text 58"/>
          <p:cNvSpPr txBox="1"/>
          <p:nvPr/>
        </p:nvSpPr>
        <p:spPr>
          <a:xfrm>
            <a:off x="6818681" y="2924251"/>
            <a:ext cx="1410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Gateway</a:t>
            </a:r>
            <a:endParaRPr lang="en-US" sz="1200" dirty="0"/>
          </a:p>
        </p:txBody>
      </p:sp>
      <p:sp>
        <p:nvSpPr>
          <p:cNvPr id="72" name="Text 59"/>
          <p:cNvSpPr txBox="1"/>
          <p:nvPr/>
        </p:nvSpPr>
        <p:spPr>
          <a:xfrm>
            <a:off x="6932066" y="3190342"/>
            <a:ext cx="11814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Client / Routing</a:t>
            </a:r>
            <a:endParaRPr lang="en-US" sz="900" dirty="0"/>
          </a:p>
        </p:txBody>
      </p:sp>
      <p:sp>
        <p:nvSpPr>
          <p:cNvPr id="73" name="Shape 60"/>
          <p:cNvSpPr/>
          <p:nvPr/>
        </p:nvSpPr>
        <p:spPr>
          <a:xfrm>
            <a:off x="9515246" y="2066544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61"/>
          <p:cNvSpPr/>
          <p:nvPr/>
        </p:nvSpPr>
        <p:spPr>
          <a:xfrm>
            <a:off x="10105949" y="2275942"/>
            <a:ext cx="533095" cy="533095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258654" y="2428646"/>
            <a:ext cx="228600" cy="228600"/>
          </a:xfrm>
          <a:prstGeom prst="rect">
            <a:avLst/>
          </a:prstGeom>
        </p:spPr>
      </p:pic>
      <p:sp>
        <p:nvSpPr>
          <p:cNvPr id="76" name="Text 62"/>
          <p:cNvSpPr txBox="1"/>
          <p:nvPr/>
        </p:nvSpPr>
        <p:spPr>
          <a:xfrm>
            <a:off x="9670694" y="2924251"/>
            <a:ext cx="1410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Network</a:t>
            </a:r>
            <a:endParaRPr lang="en-US" sz="1200" dirty="0"/>
          </a:p>
        </p:txBody>
      </p:sp>
      <p:sp>
        <p:nvSpPr>
          <p:cNvPr id="77" name="Text 63"/>
          <p:cNvSpPr txBox="1"/>
          <p:nvPr/>
        </p:nvSpPr>
        <p:spPr>
          <a:xfrm>
            <a:off x="9832543" y="3190342"/>
            <a:ext cx="10863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/ Mgmt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시스템, 애플리케이션 및 보안 이벤트 로그 통합 수집 전략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752905"/>
            <a:ext cx="5372100" cy="6295644"/>
          </a:xfrm>
          <a:prstGeom prst="roundRect">
            <a:avLst>
              <a:gd name="adj" fmla="val 241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86054" y="3093415"/>
            <a:ext cx="38405" cy="30449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86054" y="4636922"/>
            <a:ext cx="4743907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9556" y="3836822"/>
            <a:ext cx="190195" cy="1901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95044" y="3703320"/>
            <a:ext cx="42629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로그 (System Logs)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495044" y="4007815"/>
            <a:ext cx="42345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Compute/Controller 노드의 OS 로그, Auth 로그, Cron 작업 및 커널 메시지 등 인프라 상태 모니터링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86054" y="5765292"/>
            <a:ext cx="4743907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1004926" y="4965192"/>
            <a:ext cx="219456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95044" y="4831690"/>
            <a:ext cx="42629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애플리케이션 로그 (App Logs)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95044" y="5137099"/>
            <a:ext cx="42345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서버(Nginx/Apache) 접근 및 에러 로그, WAS, 데이터베이스 쿼리 로그 등 서비스 레벨의 트랜잭션 추적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19556" y="6093562"/>
            <a:ext cx="190195" cy="1901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95044" y="5960974"/>
            <a:ext cx="42629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네트워크/보안 로그 (Security Logs)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495044" y="6265469"/>
            <a:ext cx="42345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방화벽 차단/허용 로그, Suricata IDS/IPS 탐지 이벤트(Eve.json), OpenVPN 인증 및 접속 기록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248095" y="1752905"/>
            <a:ext cx="5372100" cy="4905756"/>
          </a:xfrm>
          <a:prstGeom prst="roundRect">
            <a:avLst>
              <a:gd name="adj" fmla="val 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86754" y="2029054"/>
            <a:ext cx="190195" cy="19019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791249" y="1990649"/>
            <a:ext cx="3648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 파이프라인 매핑 (Source → Format)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6486754" y="2409444"/>
            <a:ext cx="4895698" cy="4009644"/>
          </a:xfrm>
          <a:prstGeom prst="roundRect">
            <a:avLst>
              <a:gd name="adj" fmla="val 433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495898" y="2495398"/>
            <a:ext cx="1714500" cy="6858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6495898" y="3161995"/>
            <a:ext cx="1714500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8203082" y="2495398"/>
            <a:ext cx="1714500" cy="6858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203082" y="3161995"/>
            <a:ext cx="1714500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0"/>
          <p:cNvSpPr/>
          <p:nvPr/>
        </p:nvSpPr>
        <p:spPr>
          <a:xfrm>
            <a:off x="9909353" y="2495398"/>
            <a:ext cx="1466698" cy="6858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9909353" y="3161995"/>
            <a:ext cx="1466698" cy="1920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6495898" y="3863340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6648602" y="3450031"/>
            <a:ext cx="123444" cy="133502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8203082" y="3863340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9909353" y="3863340"/>
            <a:ext cx="1466698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95898" y="4550969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48602" y="4137660"/>
            <a:ext cx="133502" cy="133502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8203082" y="4550969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9909353" y="4550969"/>
            <a:ext cx="1466698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495898" y="5238598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48602" y="4825289"/>
            <a:ext cx="133502" cy="133502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8203082" y="5238598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9909353" y="5238598"/>
            <a:ext cx="1466698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6495898" y="5927141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 l="-2838" r="-2838"/>
          <a:stretch/>
        </p:blipFill>
        <p:spPr>
          <a:xfrm>
            <a:off x="6648602" y="5513832"/>
            <a:ext cx="123444" cy="13350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8203082" y="5927141"/>
            <a:ext cx="1714500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3"/>
          <p:cNvSpPr/>
          <p:nvPr/>
        </p:nvSpPr>
        <p:spPr>
          <a:xfrm>
            <a:off x="9909353" y="5927141"/>
            <a:ext cx="1466698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48602" y="6098134"/>
            <a:ext cx="133502" cy="133502"/>
          </a:xfrm>
          <a:prstGeom prst="rect">
            <a:avLst/>
          </a:prstGeom>
        </p:spPr>
      </p:pic>
      <p:sp>
        <p:nvSpPr>
          <p:cNvPr id="45" name="Shape 34"/>
          <p:cNvSpPr/>
          <p:nvPr/>
        </p:nvSpPr>
        <p:spPr>
          <a:xfrm>
            <a:off x="6248095" y="6878117"/>
            <a:ext cx="5372100" cy="1162202"/>
          </a:xfrm>
          <a:prstGeom prst="roundRect">
            <a:avLst>
              <a:gd name="adj" fmla="val 515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2"/>
          <a:srcRect l="-3425" r="-3425"/>
          <a:stretch/>
        </p:blipFill>
        <p:spPr>
          <a:xfrm>
            <a:off x="6448349" y="7106717"/>
            <a:ext cx="142646" cy="133502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6667805" y="7077456"/>
            <a:ext cx="2653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고려사항 (KEY CONSIDERATIONS)</a:t>
            </a:r>
            <a:endParaRPr lang="en-US" sz="100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6448349" y="7382866"/>
            <a:ext cx="114300" cy="11430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638544" y="7344461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동기화 (NTP)</a:t>
            </a:r>
            <a:endParaRPr lang="en-US" sz="1000" dirty="0"/>
          </a:p>
        </p:txBody>
      </p:sp>
      <p:sp>
        <p:nvSpPr>
          <p:cNvPr id="50" name="Text 37"/>
          <p:cNvSpPr txBox="1"/>
          <p:nvPr/>
        </p:nvSpPr>
        <p:spPr>
          <a:xfrm>
            <a:off x="6638544" y="7534656"/>
            <a:ext cx="22384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노드의 Timezone(UTC/KST) 통일 필수</a:t>
            </a:r>
            <a:endParaRPr lang="en-US" sz="9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9010498" y="7382866"/>
            <a:ext cx="114300" cy="11430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9201607" y="7344461"/>
            <a:ext cx="23198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필드 표준화 (ECS)</a:t>
            </a:r>
            <a:endParaRPr lang="en-US" sz="1000" dirty="0"/>
          </a:p>
        </p:txBody>
      </p:sp>
      <p:sp>
        <p:nvSpPr>
          <p:cNvPr id="53" name="Text 39"/>
          <p:cNvSpPr txBox="1"/>
          <p:nvPr/>
        </p:nvSpPr>
        <p:spPr>
          <a:xfrm>
            <a:off x="9201607" y="7534656"/>
            <a:ext cx="230520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Common Schema 준수하여 상관분석 용이성 확보</a:t>
            </a:r>
            <a:endParaRPr lang="en-US" sz="900" dirty="0"/>
          </a:p>
        </p:txBody>
      </p:sp>
      <p:sp>
        <p:nvSpPr>
          <p:cNvPr id="54" name="Text 40"/>
          <p:cNvSpPr txBox="1"/>
          <p:nvPr/>
        </p:nvSpPr>
        <p:spPr>
          <a:xfrm>
            <a:off x="571500" y="323698"/>
            <a:ext cx="23052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수집 대상</a:t>
            </a:r>
            <a:endParaRPr lang="en-US" sz="2700" dirty="0"/>
          </a:p>
        </p:txBody>
      </p:sp>
      <p:sp>
        <p:nvSpPr>
          <p:cNvPr id="55" name="Text 41"/>
          <p:cNvSpPr txBox="1"/>
          <p:nvPr/>
        </p:nvSpPr>
        <p:spPr>
          <a:xfrm>
            <a:off x="1076249" y="3074213"/>
            <a:ext cx="24670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수집 로그 카테고리</a:t>
            </a:r>
            <a:endParaRPr lang="en-US" sz="1800" dirty="0"/>
          </a:p>
        </p:txBody>
      </p:sp>
      <p:sp>
        <p:nvSpPr>
          <p:cNvPr id="56" name="Text 42"/>
          <p:cNvSpPr txBox="1"/>
          <p:nvPr/>
        </p:nvSpPr>
        <p:spPr>
          <a:xfrm>
            <a:off x="6648602" y="2718511"/>
            <a:ext cx="10232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소스 (Source)</a:t>
            </a:r>
            <a:endParaRPr lang="en-US" sz="1100" dirty="0"/>
          </a:p>
        </p:txBody>
      </p:sp>
      <p:sp>
        <p:nvSpPr>
          <p:cNvPr id="57" name="Text 43"/>
          <p:cNvSpPr txBox="1"/>
          <p:nvPr/>
        </p:nvSpPr>
        <p:spPr>
          <a:xfrm>
            <a:off x="8354873" y="2609698"/>
            <a:ext cx="108082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수집기 (Agent/Input)</a:t>
            </a:r>
            <a:endParaRPr lang="en-US" sz="1100" dirty="0"/>
          </a:p>
        </p:txBody>
      </p:sp>
      <p:sp>
        <p:nvSpPr>
          <p:cNvPr id="58" name="Text 44"/>
          <p:cNvSpPr txBox="1"/>
          <p:nvPr/>
        </p:nvSpPr>
        <p:spPr>
          <a:xfrm>
            <a:off x="10062058" y="2718511"/>
            <a:ext cx="10424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 (Format)</a:t>
            </a:r>
            <a:endParaRPr lang="en-US" sz="1100" dirty="0"/>
          </a:p>
        </p:txBody>
      </p:sp>
      <p:sp>
        <p:nvSpPr>
          <p:cNvPr id="59" name="Text 45"/>
          <p:cNvSpPr txBox="1"/>
          <p:nvPr/>
        </p:nvSpPr>
        <p:spPr>
          <a:xfrm>
            <a:off x="6886346" y="3311042"/>
            <a:ext cx="8275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Linux / OpenStack</a:t>
            </a:r>
            <a:endParaRPr lang="en-US" sz="1000" dirty="0"/>
          </a:p>
        </p:txBody>
      </p:sp>
      <p:sp>
        <p:nvSpPr>
          <p:cNvPr id="60" name="Text 46"/>
          <p:cNvSpPr txBox="1"/>
          <p:nvPr/>
        </p:nvSpPr>
        <p:spPr>
          <a:xfrm>
            <a:off x="8354873" y="3311042"/>
            <a:ext cx="11704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(System Module)</a:t>
            </a:r>
            <a:endParaRPr lang="en-US" sz="1000" dirty="0"/>
          </a:p>
        </p:txBody>
      </p:sp>
      <p:sp>
        <p:nvSpPr>
          <p:cNvPr id="61" name="Text 47"/>
          <p:cNvSpPr txBox="1"/>
          <p:nvPr/>
        </p:nvSpPr>
        <p:spPr>
          <a:xfrm>
            <a:off x="10137953" y="3441802"/>
            <a:ext cx="8001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Syslog / Auth</a:t>
            </a:r>
            <a:endParaRPr lang="en-US" sz="900" dirty="0"/>
          </a:p>
        </p:txBody>
      </p:sp>
      <p:sp>
        <p:nvSpPr>
          <p:cNvPr id="62" name="Text 48"/>
          <p:cNvSpPr txBox="1"/>
          <p:nvPr/>
        </p:nvSpPr>
        <p:spPr>
          <a:xfrm>
            <a:off x="6896405" y="4101998"/>
            <a:ext cx="875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Server</a:t>
            </a:r>
            <a:endParaRPr lang="en-US" sz="1000" dirty="0"/>
          </a:p>
        </p:txBody>
      </p:sp>
      <p:sp>
        <p:nvSpPr>
          <p:cNvPr id="63" name="Text 49"/>
          <p:cNvSpPr txBox="1"/>
          <p:nvPr/>
        </p:nvSpPr>
        <p:spPr>
          <a:xfrm>
            <a:off x="8354873" y="3998671"/>
            <a:ext cx="10744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(Nginx Module)</a:t>
            </a:r>
            <a:endParaRPr lang="en-US" sz="1000" dirty="0"/>
          </a:p>
        </p:txBody>
      </p:sp>
      <p:sp>
        <p:nvSpPr>
          <p:cNvPr id="64" name="Text 50"/>
          <p:cNvSpPr txBox="1"/>
          <p:nvPr/>
        </p:nvSpPr>
        <p:spPr>
          <a:xfrm>
            <a:off x="10137953" y="4130345"/>
            <a:ext cx="8193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/ Error</a:t>
            </a:r>
            <a:endParaRPr lang="en-US" sz="900" dirty="0"/>
          </a:p>
        </p:txBody>
      </p:sp>
      <p:sp>
        <p:nvSpPr>
          <p:cNvPr id="65" name="Text 51"/>
          <p:cNvSpPr txBox="1"/>
          <p:nvPr/>
        </p:nvSpPr>
        <p:spPr>
          <a:xfrm>
            <a:off x="6896405" y="4789627"/>
            <a:ext cx="9226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IDS</a:t>
            </a:r>
            <a:endParaRPr lang="en-US" sz="1000" dirty="0"/>
          </a:p>
        </p:txBody>
      </p:sp>
      <p:sp>
        <p:nvSpPr>
          <p:cNvPr id="66" name="Text 52"/>
          <p:cNvSpPr txBox="1"/>
          <p:nvPr/>
        </p:nvSpPr>
        <p:spPr>
          <a:xfrm>
            <a:off x="8354873" y="4686300"/>
            <a:ext cx="122712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(Suricata Module)</a:t>
            </a:r>
            <a:endParaRPr lang="en-US" sz="1000" dirty="0"/>
          </a:p>
        </p:txBody>
      </p:sp>
      <p:sp>
        <p:nvSpPr>
          <p:cNvPr id="67" name="Text 53"/>
          <p:cNvSpPr txBox="1"/>
          <p:nvPr/>
        </p:nvSpPr>
        <p:spPr>
          <a:xfrm>
            <a:off x="10137953" y="481797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 JSON</a:t>
            </a:r>
            <a:endParaRPr lang="en-US" sz="900" dirty="0"/>
          </a:p>
        </p:txBody>
      </p:sp>
      <p:sp>
        <p:nvSpPr>
          <p:cNvPr id="68" name="Text 54"/>
          <p:cNvSpPr txBox="1"/>
          <p:nvPr/>
        </p:nvSpPr>
        <p:spPr>
          <a:xfrm>
            <a:off x="6886346" y="5477256"/>
            <a:ext cx="875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FW</a:t>
            </a:r>
            <a:endParaRPr lang="en-US" sz="1000" dirty="0"/>
          </a:p>
        </p:txBody>
      </p:sp>
      <p:sp>
        <p:nvSpPr>
          <p:cNvPr id="69" name="Text 55"/>
          <p:cNvSpPr txBox="1"/>
          <p:nvPr/>
        </p:nvSpPr>
        <p:spPr>
          <a:xfrm>
            <a:off x="8354873" y="5374843"/>
            <a:ext cx="15133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Logstash (Syslog/UDP 514)</a:t>
            </a:r>
            <a:endParaRPr lang="en-US" sz="1000" dirty="0"/>
          </a:p>
        </p:txBody>
      </p:sp>
      <p:sp>
        <p:nvSpPr>
          <p:cNvPr id="70" name="Text 56"/>
          <p:cNvSpPr txBox="1"/>
          <p:nvPr/>
        </p:nvSpPr>
        <p:spPr>
          <a:xfrm>
            <a:off x="10137953" y="5505602"/>
            <a:ext cx="7626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Grok Pattern</a:t>
            </a:r>
            <a:endParaRPr lang="en-US" sz="900" dirty="0"/>
          </a:p>
        </p:txBody>
      </p:sp>
      <p:sp>
        <p:nvSpPr>
          <p:cNvPr id="71" name="Text 57"/>
          <p:cNvSpPr txBox="1"/>
          <p:nvPr/>
        </p:nvSpPr>
        <p:spPr>
          <a:xfrm>
            <a:off x="6896405" y="6062472"/>
            <a:ext cx="741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</a:t>
            </a:r>
            <a:endParaRPr lang="en-US" sz="1000" dirty="0"/>
          </a:p>
        </p:txBody>
      </p:sp>
      <p:sp>
        <p:nvSpPr>
          <p:cNvPr id="72" name="Text 58"/>
          <p:cNvSpPr txBox="1"/>
          <p:nvPr/>
        </p:nvSpPr>
        <p:spPr>
          <a:xfrm>
            <a:off x="8354873" y="6062472"/>
            <a:ext cx="11704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/ Syslog</a:t>
            </a:r>
            <a:endParaRPr lang="en-US" sz="1000" dirty="0"/>
          </a:p>
        </p:txBody>
      </p:sp>
      <p:sp>
        <p:nvSpPr>
          <p:cNvPr id="73" name="Text 59"/>
          <p:cNvSpPr txBox="1"/>
          <p:nvPr/>
        </p:nvSpPr>
        <p:spPr>
          <a:xfrm>
            <a:off x="10137953" y="6090818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 Log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데이터 수집, 정제, 저장 및 시각화 프로세스 흐름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41815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파이프라인 &amp; 대시보드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71500" y="4693615"/>
            <a:ext cx="5429707" cy="1790395"/>
          </a:xfrm>
          <a:prstGeom prst="roundRect">
            <a:avLst>
              <a:gd name="adj" fmla="val 3260"/>
            </a:avLst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71500" y="4693615"/>
            <a:ext cx="38405" cy="1790395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0100" y="5236769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0100" y="4914900"/>
            <a:ext cx="190195" cy="19019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419649"/>
            <a:ext cx="133502" cy="1335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8700" y="5383073"/>
            <a:ext cx="336133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Logstash Filter: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Grok 패턴 매칭, GeoIP 지리 정보 추가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720486"/>
            <a:ext cx="133502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8700" y="5683910"/>
            <a:ext cx="363748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Retention: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ILM (Index Lifecycle Management) 적용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6021324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28700" y="5985662"/>
            <a:ext cx="358993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Strategy: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Hot-Warm 아키텍처로 검색 속도 최적화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191402" y="4693615"/>
            <a:ext cx="5429707" cy="1790395"/>
          </a:xfrm>
          <a:prstGeom prst="roundRect">
            <a:avLst>
              <a:gd name="adj" fmla="val 3260"/>
            </a:avLst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1"/>
          <p:cNvSpPr/>
          <p:nvPr/>
        </p:nvSpPr>
        <p:spPr>
          <a:xfrm>
            <a:off x="6191402" y="4693615"/>
            <a:ext cx="38405" cy="1790395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6420002" y="5236769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20002" y="4914900"/>
            <a:ext cx="190195" cy="190195"/>
          </a:xfrm>
          <a:prstGeom prst="rect">
            <a:avLst/>
          </a:prstGeom>
        </p:spPr>
      </p:pic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20002" y="5419649"/>
            <a:ext cx="133502" cy="13350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648602" y="5383073"/>
            <a:ext cx="27130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관제: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WAF/IDS/시스템 로그 통합 뷰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420002" y="5720486"/>
            <a:ext cx="133502" cy="1335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648602" y="5683910"/>
            <a:ext cx="2408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지도: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기반 공격 원점 시각화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20002" y="6021324"/>
            <a:ext cx="133502" cy="13350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648602" y="5985662"/>
            <a:ext cx="2779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징후: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실패 급증 등 임계치 모니터링</a:t>
            </a:r>
            <a:endParaRPr lang="en-US" sz="1000" dirty="0"/>
          </a:p>
        </p:txBody>
      </p:sp>
      <p:sp>
        <p:nvSpPr>
          <p:cNvPr id="26" name="Shape 16"/>
          <p:cNvSpPr/>
          <p:nvPr/>
        </p:nvSpPr>
        <p:spPr>
          <a:xfrm>
            <a:off x="10515600" y="5383073"/>
            <a:ext cx="914400" cy="905256"/>
          </a:xfrm>
          <a:prstGeom prst="roundRect">
            <a:avLst>
              <a:gd name="adj" fmla="val 8506"/>
            </a:avLst>
          </a:prstGeom>
          <a:solidFill>
            <a:srgbClr val="0F172A">
              <a:alpha val="50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20095" y="5530291"/>
            <a:ext cx="304495" cy="304495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104595" y="4883810"/>
            <a:ext cx="14218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 Details</a:t>
            </a:r>
            <a:endParaRPr lang="en-US" sz="1300" dirty="0"/>
          </a:p>
        </p:txBody>
      </p:sp>
      <p:sp>
        <p:nvSpPr>
          <p:cNvPr id="29" name="Text 18"/>
          <p:cNvSpPr txBox="1"/>
          <p:nvPr/>
        </p:nvSpPr>
        <p:spPr>
          <a:xfrm>
            <a:off x="6724498" y="4883810"/>
            <a:ext cx="18406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Dashboards</a:t>
            </a:r>
            <a:endParaRPr lang="en-US" sz="1300" dirty="0"/>
          </a:p>
        </p:txBody>
      </p:sp>
      <p:sp>
        <p:nvSpPr>
          <p:cNvPr id="30" name="Text 19"/>
          <p:cNvSpPr txBox="1"/>
          <p:nvPr/>
        </p:nvSpPr>
        <p:spPr>
          <a:xfrm>
            <a:off x="10639044" y="5825642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31" name="Text 20"/>
          <p:cNvSpPr txBox="1"/>
          <p:nvPr/>
        </p:nvSpPr>
        <p:spPr>
          <a:xfrm>
            <a:off x="10630814" y="5977433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32" name="Shape 21"/>
          <p:cNvSpPr/>
          <p:nvPr/>
        </p:nvSpPr>
        <p:spPr>
          <a:xfrm>
            <a:off x="571500" y="1600200"/>
            <a:ext cx="11048695" cy="2905049"/>
          </a:xfrm>
          <a:prstGeom prst="roundRect">
            <a:avLst>
              <a:gd name="adj" fmla="val 1651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2"/>
          <p:cNvSpPr/>
          <p:nvPr/>
        </p:nvSpPr>
        <p:spPr>
          <a:xfrm>
            <a:off x="1152144" y="3042209"/>
            <a:ext cx="9887407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3"/>
          <p:cNvSpPr/>
          <p:nvPr/>
        </p:nvSpPr>
        <p:spPr>
          <a:xfrm>
            <a:off x="3007462" y="2508199"/>
            <a:ext cx="1352398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 l="-2174" r="-2174"/>
          <a:stretch/>
        </p:blipFill>
        <p:spPr>
          <a:xfrm>
            <a:off x="3112618" y="2587752"/>
            <a:ext cx="123444" cy="10515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3274466" y="2555748"/>
            <a:ext cx="106161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 Harvest (5044)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5875020" y="2508199"/>
            <a:ext cx="1209751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980176" y="2587752"/>
            <a:ext cx="105156" cy="10515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6122822" y="2555748"/>
            <a:ext cx="93817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Parsing &amp; Enrich</a:t>
            </a:r>
            <a:endParaRPr lang="en-US" sz="800" dirty="0"/>
          </a:p>
        </p:txBody>
      </p:sp>
      <p:sp>
        <p:nvSpPr>
          <p:cNvPr id="40" name="Shape 27"/>
          <p:cNvSpPr/>
          <p:nvPr/>
        </p:nvSpPr>
        <p:spPr>
          <a:xfrm>
            <a:off x="8743493" y="2508199"/>
            <a:ext cx="1162202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12"/>
          <a:srcRect l="-1677" r="-1677"/>
          <a:stretch/>
        </p:blipFill>
        <p:spPr>
          <a:xfrm>
            <a:off x="8847734" y="2587752"/>
            <a:ext cx="95098" cy="10515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8981237" y="2555748"/>
            <a:ext cx="8997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Indexing / REST</a:t>
            </a:r>
            <a:endParaRPr lang="en-US" sz="800" dirty="0"/>
          </a:p>
        </p:txBody>
      </p:sp>
      <p:sp>
        <p:nvSpPr>
          <p:cNvPr id="43" name="Shape 29"/>
          <p:cNvSpPr/>
          <p:nvPr/>
        </p:nvSpPr>
        <p:spPr>
          <a:xfrm>
            <a:off x="961949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0"/>
          <p:cNvSpPr/>
          <p:nvPr/>
        </p:nvSpPr>
        <p:spPr>
          <a:xfrm>
            <a:off x="1552651" y="2508199"/>
            <a:ext cx="533095" cy="533095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2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705356" y="2660904"/>
            <a:ext cx="228600" cy="22860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1555394" y="3156509"/>
            <a:ext cx="534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Beats</a:t>
            </a:r>
            <a:endParaRPr lang="en-US" sz="1200" dirty="0"/>
          </a:p>
        </p:txBody>
      </p:sp>
      <p:sp>
        <p:nvSpPr>
          <p:cNvPr id="47" name="Text 32"/>
          <p:cNvSpPr txBox="1"/>
          <p:nvPr/>
        </p:nvSpPr>
        <p:spPr>
          <a:xfrm>
            <a:off x="1212494" y="3422599"/>
            <a:ext cx="12198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/ Packetbeat</a:t>
            </a:r>
            <a:endParaRPr lang="en-US" sz="900" dirty="0"/>
          </a:p>
        </p:txBody>
      </p:sp>
      <p:sp>
        <p:nvSpPr>
          <p:cNvPr id="48" name="Shape 33"/>
          <p:cNvSpPr/>
          <p:nvPr/>
        </p:nvSpPr>
        <p:spPr>
          <a:xfrm>
            <a:off x="3813048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4"/>
          <p:cNvSpPr/>
          <p:nvPr/>
        </p:nvSpPr>
        <p:spPr>
          <a:xfrm>
            <a:off x="4403750" y="2508199"/>
            <a:ext cx="533095" cy="533095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3" descr="preencoded.png"/>
          <p:cNvPicPr>
            <a:picLocks noChangeAspect="1"/>
          </p:cNvPicPr>
          <p:nvPr/>
        </p:nvPicPr>
        <p:blipFill>
          <a:blip r:embed="rId14"/>
          <a:srcRect t="-45" b="-45"/>
          <a:stretch/>
        </p:blipFill>
        <p:spPr>
          <a:xfrm>
            <a:off x="4541825" y="2660904"/>
            <a:ext cx="256946" cy="228600"/>
          </a:xfrm>
          <a:prstGeom prst="rect">
            <a:avLst/>
          </a:prstGeom>
        </p:spPr>
      </p:pic>
      <p:sp>
        <p:nvSpPr>
          <p:cNvPr id="51" name="Text 35"/>
          <p:cNvSpPr txBox="1"/>
          <p:nvPr/>
        </p:nvSpPr>
        <p:spPr>
          <a:xfrm>
            <a:off x="4280306" y="3156509"/>
            <a:ext cx="781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Logstash</a:t>
            </a:r>
            <a:endParaRPr lang="en-US" sz="1200" dirty="0"/>
          </a:p>
        </p:txBody>
      </p:sp>
      <p:sp>
        <p:nvSpPr>
          <p:cNvPr id="52" name="Text 36"/>
          <p:cNvSpPr txBox="1"/>
          <p:nvPr/>
        </p:nvSpPr>
        <p:spPr>
          <a:xfrm>
            <a:off x="4145890" y="3422599"/>
            <a:ext cx="10579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Filter &amp; Transform</a:t>
            </a:r>
            <a:endParaRPr lang="en-US" sz="900" dirty="0"/>
          </a:p>
        </p:txBody>
      </p:sp>
      <p:sp>
        <p:nvSpPr>
          <p:cNvPr id="53" name="Shape 37"/>
          <p:cNvSpPr/>
          <p:nvPr/>
        </p:nvSpPr>
        <p:spPr>
          <a:xfrm>
            <a:off x="6664147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38"/>
          <p:cNvSpPr/>
          <p:nvPr/>
        </p:nvSpPr>
        <p:spPr>
          <a:xfrm>
            <a:off x="7254850" y="2508199"/>
            <a:ext cx="533095" cy="533095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7407554" y="2660904"/>
            <a:ext cx="228600" cy="228600"/>
          </a:xfrm>
          <a:prstGeom prst="rect">
            <a:avLst/>
          </a:prstGeom>
        </p:spPr>
      </p:pic>
      <p:sp>
        <p:nvSpPr>
          <p:cNvPr id="56" name="Text 39"/>
          <p:cNvSpPr txBox="1"/>
          <p:nvPr/>
        </p:nvSpPr>
        <p:spPr>
          <a:xfrm>
            <a:off x="6971386" y="3156509"/>
            <a:ext cx="1105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Elasticsearch</a:t>
            </a:r>
            <a:endParaRPr lang="en-US" sz="1200" dirty="0"/>
          </a:p>
        </p:txBody>
      </p:sp>
      <p:sp>
        <p:nvSpPr>
          <p:cNvPr id="57" name="Text 40"/>
          <p:cNvSpPr txBox="1"/>
          <p:nvPr/>
        </p:nvSpPr>
        <p:spPr>
          <a:xfrm>
            <a:off x="6949440" y="3422599"/>
            <a:ext cx="11530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Search Engine &amp; DB</a:t>
            </a:r>
            <a:endParaRPr lang="en-US" sz="900" dirty="0"/>
          </a:p>
        </p:txBody>
      </p:sp>
      <p:sp>
        <p:nvSpPr>
          <p:cNvPr id="58" name="Shape 41"/>
          <p:cNvSpPr/>
          <p:nvPr/>
        </p:nvSpPr>
        <p:spPr>
          <a:xfrm>
            <a:off x="9515246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42"/>
          <p:cNvSpPr/>
          <p:nvPr/>
        </p:nvSpPr>
        <p:spPr>
          <a:xfrm>
            <a:off x="10105949" y="2508199"/>
            <a:ext cx="533095" cy="533095"/>
          </a:xfrm>
          <a:prstGeom prst="ellipse">
            <a:avLst/>
          </a:prstGeom>
          <a:solidFill>
            <a:srgbClr val="F472B6">
              <a:alpha val="1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0" name="Image 15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0258654" y="2660904"/>
            <a:ext cx="228600" cy="228600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10053828" y="3156509"/>
            <a:ext cx="638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Kibana</a:t>
            </a:r>
            <a:endParaRPr lang="en-US" sz="1200" dirty="0"/>
          </a:p>
        </p:txBody>
      </p:sp>
      <p:sp>
        <p:nvSpPr>
          <p:cNvPr id="62" name="Text 44"/>
          <p:cNvSpPr txBox="1"/>
          <p:nvPr/>
        </p:nvSpPr>
        <p:spPr>
          <a:xfrm>
            <a:off x="9918497" y="3422599"/>
            <a:ext cx="9144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Visualization UI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무결성 확보를 위한 백업 대상 및 복구 시나리오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752905"/>
            <a:ext cx="5296205" cy="1962302"/>
          </a:xfrm>
          <a:prstGeom prst="roundRect">
            <a:avLst>
              <a:gd name="adj" fmla="val 181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" y="2104949"/>
            <a:ext cx="152705" cy="15270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2581351"/>
            <a:ext cx="133502" cy="1335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33856" y="2523744"/>
            <a:ext cx="2610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인프라 VM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33856" y="2752344"/>
            <a:ext cx="25959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Controller, pfSense Gateway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886054" y="3114446"/>
            <a:ext cx="114300" cy="1335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14654" y="305775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저장소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114654" y="3286354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로그 데이터, 내부 서비스 DB 볼륨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71500" y="3943807"/>
            <a:ext cx="5296205" cy="3143707"/>
          </a:xfrm>
          <a:prstGeom prst="roundRect">
            <a:avLst>
              <a:gd name="adj" fmla="val 70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23544" y="4295851"/>
            <a:ext cx="152705" cy="152705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09244" y="4981651"/>
            <a:ext cx="4819802" cy="705002"/>
          </a:xfrm>
          <a:prstGeom prst="roundRect">
            <a:avLst>
              <a:gd name="adj" fmla="val 1402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0"/>
          <p:cNvSpPr/>
          <p:nvPr/>
        </p:nvSpPr>
        <p:spPr>
          <a:xfrm>
            <a:off x="809244" y="6143854"/>
            <a:ext cx="2352751" cy="705002"/>
          </a:xfrm>
          <a:prstGeom prst="roundRect">
            <a:avLst>
              <a:gd name="adj" fmla="val 1402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1"/>
          <p:cNvSpPr txBox="1"/>
          <p:nvPr/>
        </p:nvSpPr>
        <p:spPr>
          <a:xfrm>
            <a:off x="890626" y="6267298"/>
            <a:ext cx="21909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RTO (시간)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862279" y="6458407"/>
            <a:ext cx="2248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 4 Hr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3276295" y="6143854"/>
            <a:ext cx="2352751" cy="705002"/>
          </a:xfrm>
          <a:prstGeom prst="roundRect">
            <a:avLst>
              <a:gd name="adj" fmla="val 14022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4"/>
          <p:cNvSpPr txBox="1"/>
          <p:nvPr/>
        </p:nvSpPr>
        <p:spPr>
          <a:xfrm>
            <a:off x="3357677" y="6267298"/>
            <a:ext cx="21909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 (시점)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3329330" y="6458407"/>
            <a:ext cx="2248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 1 Hr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" y="323698"/>
            <a:ext cx="3743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vSphere 기반 백업 전략</a:t>
            </a:r>
            <a:endParaRPr lang="en-US" sz="2700" dirty="0"/>
          </a:p>
        </p:txBody>
      </p:sp>
      <p:sp>
        <p:nvSpPr>
          <p:cNvPr id="23" name="Text 17"/>
          <p:cNvSpPr txBox="1"/>
          <p:nvPr/>
        </p:nvSpPr>
        <p:spPr>
          <a:xfrm>
            <a:off x="1304849" y="2038198"/>
            <a:ext cx="21909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백업 대상 (Targets)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304849" y="4229100"/>
            <a:ext cx="1534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방식 및 복구 목표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09244" y="4714646"/>
            <a:ext cx="15197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방식 (METHODS)</a:t>
            </a:r>
            <a:endParaRPr lang="en-US" sz="10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33602" y="5140757"/>
            <a:ext cx="133502" cy="1335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43000" y="5105095"/>
            <a:ext cx="415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Daily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356202" y="5105095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Incremental (증분)</a:t>
            </a:r>
            <a:endParaRPr lang="en-US" sz="10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933602" y="5407762"/>
            <a:ext cx="114300" cy="1335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123798" y="5372100"/>
            <a:ext cx="547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Weekly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462272" y="5372100"/>
            <a:ext cx="11484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Full Image (전체)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809244" y="5876849"/>
            <a:ext cx="10817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목표 (SLA)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6324905" y="1752905"/>
            <a:ext cx="5296205" cy="5333695"/>
          </a:xfrm>
          <a:prstGeom prst="roundRect">
            <a:avLst>
              <a:gd name="adj" fmla="val 24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6334049" y="2333549"/>
            <a:ext cx="5277002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 t="-842" b="-842"/>
          <a:stretch/>
        </p:blipFill>
        <p:spPr>
          <a:xfrm>
            <a:off x="6486754" y="1962302"/>
            <a:ext cx="190195" cy="171907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752844" y="1914754"/>
            <a:ext cx="20628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경로 및 리커버리 흐름</a:t>
            </a:r>
            <a:endParaRPr lang="en-US" sz="13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rcRect t="-3" b="-3"/>
          <a:stretch/>
        </p:blipFill>
        <p:spPr>
          <a:xfrm>
            <a:off x="6590995" y="2762402"/>
            <a:ext cx="4762195" cy="342900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6334049" y="6610198"/>
            <a:ext cx="5277002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7790688" y="6762902"/>
            <a:ext cx="11530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트래픽 (Backup)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9085478" y="6838798"/>
            <a:ext cx="304495" cy="19202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9466783" y="6762902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트래픽 (Restore)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인프라의 핵심 보안 통제 항목 및 접근 제어 정책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33095"/>
            <a:ext cx="36768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설정 - OpenStack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571500" y="160020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71754" y="181965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847649" y="1919326"/>
            <a:ext cx="228600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04849" y="237561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권한 원칙(Least Privilege) 적용, Role 기반 접근 제어(RBAC) 세분화, 비활성 계정 자동 만료 정책 적용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1500" y="314005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71754" y="335859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423" y="3459175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04849" y="391546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정책 'Deny All' 설정 후 화이트리스트 방식 허용, Ingress/Egress 트래픽 명시적 제어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71500" y="4678985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771754" y="489844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881482" y="4998110"/>
            <a:ext cx="161849" cy="18105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545439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서명된 신뢰할 수 있는 이미지 사용, SSH Key Pair 주기적 교체 및 root 로그인 차단 설정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" y="6218834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71754" y="643737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847649" y="6537960"/>
            <a:ext cx="228600" cy="1810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04849" y="699424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엔드포인트 및 관리용 인터페이스를 서비스망과 물리적/논리적으로 분리하여 외부 접근 차단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4863" y="1600200"/>
            <a:ext cx="6086246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0"/>
          <p:cNvSpPr/>
          <p:nvPr/>
        </p:nvSpPr>
        <p:spPr>
          <a:xfrm>
            <a:off x="5773522" y="2238451"/>
            <a:ext cx="5609844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73522" y="1886407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078017" y="1837944"/>
            <a:ext cx="24670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포트 및 서비스 정책 매트릭스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773522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5773522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7175297" y="2438705"/>
            <a:ext cx="1123798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7175297" y="2867558"/>
            <a:ext cx="1123798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8297266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8297266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699041" y="2438705"/>
            <a:ext cx="1686154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9"/>
          <p:cNvSpPr/>
          <p:nvPr/>
        </p:nvSpPr>
        <p:spPr>
          <a:xfrm>
            <a:off x="9699041" y="2867558"/>
            <a:ext cx="1686154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5773522" y="348295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7175297" y="3482950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8297266" y="348295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9699041" y="3482950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5773522" y="4074566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7175297" y="4074566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6"/>
          <p:cNvSpPr/>
          <p:nvPr/>
        </p:nvSpPr>
        <p:spPr>
          <a:xfrm>
            <a:off x="8297266" y="4074566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7"/>
          <p:cNvSpPr/>
          <p:nvPr/>
        </p:nvSpPr>
        <p:spPr>
          <a:xfrm>
            <a:off x="9699041" y="4074566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8"/>
          <p:cNvSpPr/>
          <p:nvPr/>
        </p:nvSpPr>
        <p:spPr>
          <a:xfrm>
            <a:off x="5773522" y="4670755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9"/>
          <p:cNvSpPr/>
          <p:nvPr/>
        </p:nvSpPr>
        <p:spPr>
          <a:xfrm>
            <a:off x="7175297" y="4670755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0"/>
          <p:cNvSpPr/>
          <p:nvPr/>
        </p:nvSpPr>
        <p:spPr>
          <a:xfrm>
            <a:off x="8297266" y="4670755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1"/>
          <p:cNvSpPr/>
          <p:nvPr/>
        </p:nvSpPr>
        <p:spPr>
          <a:xfrm>
            <a:off x="9699041" y="4670755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2"/>
          <p:cNvSpPr/>
          <p:nvPr/>
        </p:nvSpPr>
        <p:spPr>
          <a:xfrm>
            <a:off x="5773522" y="5266944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7175297" y="5266944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4"/>
          <p:cNvSpPr/>
          <p:nvPr/>
        </p:nvSpPr>
        <p:spPr>
          <a:xfrm>
            <a:off x="8297266" y="5266944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5"/>
          <p:cNvSpPr/>
          <p:nvPr/>
        </p:nvSpPr>
        <p:spPr>
          <a:xfrm>
            <a:off x="9699041" y="5266944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6"/>
          <p:cNvSpPr/>
          <p:nvPr/>
        </p:nvSpPr>
        <p:spPr>
          <a:xfrm>
            <a:off x="5773522" y="5924398"/>
            <a:ext cx="56098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7"/>
          <p:cNvSpPr txBox="1"/>
          <p:nvPr/>
        </p:nvSpPr>
        <p:spPr>
          <a:xfrm>
            <a:off x="5773522" y="6086246"/>
            <a:ext cx="16102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Last Updated: 2026-01-20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10121494" y="6086246"/>
            <a:ext cx="13533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 Status: Verified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1304849" y="1819656"/>
            <a:ext cx="609905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0"/>
          <p:cNvSpPr txBox="1"/>
          <p:nvPr/>
        </p:nvSpPr>
        <p:spPr>
          <a:xfrm>
            <a:off x="1390802" y="1848002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Identity</a:t>
            </a:r>
            <a:endParaRPr lang="en-US" sz="900" dirty="0"/>
          </a:p>
        </p:txBody>
      </p:sp>
      <p:sp>
        <p:nvSpPr>
          <p:cNvPr id="58" name="Text 51"/>
          <p:cNvSpPr txBox="1"/>
          <p:nvPr/>
        </p:nvSpPr>
        <p:spPr>
          <a:xfrm>
            <a:off x="1304849" y="2085746"/>
            <a:ext cx="16029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Keystone 권한 관리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1304849" y="3358591"/>
            <a:ext cx="6574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3"/>
          <p:cNvSpPr txBox="1"/>
          <p:nvPr/>
        </p:nvSpPr>
        <p:spPr>
          <a:xfrm>
            <a:off x="1390802" y="3386938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1304849" y="3625596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보안그룹 (Security Group)</a:t>
            </a:r>
            <a:endParaRPr lang="en-US" sz="1300" dirty="0"/>
          </a:p>
        </p:txBody>
      </p:sp>
      <p:sp>
        <p:nvSpPr>
          <p:cNvPr id="62" name="Shape 55"/>
          <p:cNvSpPr/>
          <p:nvPr/>
        </p:nvSpPr>
        <p:spPr>
          <a:xfrm>
            <a:off x="1304849" y="4898441"/>
            <a:ext cx="685800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6"/>
          <p:cNvSpPr txBox="1"/>
          <p:nvPr/>
        </p:nvSpPr>
        <p:spPr>
          <a:xfrm>
            <a:off x="1390802" y="4926787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</a:t>
            </a:r>
            <a:endParaRPr lang="en-US" sz="900" dirty="0"/>
          </a:p>
        </p:txBody>
      </p:sp>
      <p:sp>
        <p:nvSpPr>
          <p:cNvPr id="64" name="Text 57"/>
          <p:cNvSpPr txBox="1"/>
          <p:nvPr/>
        </p:nvSpPr>
        <p:spPr>
          <a:xfrm>
            <a:off x="1304849" y="5164531"/>
            <a:ext cx="1355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및 키 관리</a:t>
            </a:r>
            <a:endParaRPr lang="en-US" sz="1300" dirty="0"/>
          </a:p>
        </p:txBody>
      </p:sp>
      <p:sp>
        <p:nvSpPr>
          <p:cNvPr id="65" name="Shape 58"/>
          <p:cNvSpPr/>
          <p:nvPr/>
        </p:nvSpPr>
        <p:spPr>
          <a:xfrm>
            <a:off x="1304849" y="6437376"/>
            <a:ext cx="857707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59"/>
          <p:cNvSpPr txBox="1"/>
          <p:nvPr/>
        </p:nvSpPr>
        <p:spPr>
          <a:xfrm>
            <a:off x="1390802" y="6466637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67" name="Text 60"/>
          <p:cNvSpPr txBox="1"/>
          <p:nvPr/>
        </p:nvSpPr>
        <p:spPr>
          <a:xfrm>
            <a:off x="1304849" y="6704381"/>
            <a:ext cx="9454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관리망 분리</a:t>
            </a:r>
            <a:endParaRPr lang="en-US" sz="1300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407701" y="1922069"/>
            <a:ext cx="133502" cy="133502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10579608" y="1886407"/>
            <a:ext cx="9098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Default Deny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925312" y="2553005"/>
            <a:ext cx="5888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7328002" y="2553005"/>
            <a:ext cx="3886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Port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8449970" y="2553005"/>
            <a:ext cx="5605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9851746" y="2553005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 / Action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5925312" y="3006547"/>
            <a:ext cx="9125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(Mgmt)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5925312" y="3202229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Instance Access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7328002" y="3097987"/>
            <a:ext cx="590702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69"/>
          <p:cNvSpPr txBox="1"/>
          <p:nvPr/>
        </p:nvSpPr>
        <p:spPr>
          <a:xfrm>
            <a:off x="7384694" y="3116275"/>
            <a:ext cx="57424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22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8449970" y="3082442"/>
            <a:ext cx="12079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Subnet Only</a:t>
            </a:r>
            <a:endParaRPr lang="en-US" sz="1000" dirty="0"/>
          </a:p>
        </p:txBody>
      </p:sp>
      <p:sp>
        <p:nvSpPr>
          <p:cNvPr id="79" name="Shape 71"/>
          <p:cNvSpPr/>
          <p:nvPr/>
        </p:nvSpPr>
        <p:spPr>
          <a:xfrm>
            <a:off x="9851746" y="3073298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2"/>
          <p:cNvSpPr txBox="1"/>
          <p:nvPr/>
        </p:nvSpPr>
        <p:spPr>
          <a:xfrm>
            <a:off x="9946843" y="3110789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10472623" y="3110789"/>
            <a:ext cx="5623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Only</a:t>
            </a:r>
            <a:endParaRPr lang="en-US" sz="900" dirty="0"/>
          </a:p>
        </p:txBody>
      </p:sp>
      <p:sp>
        <p:nvSpPr>
          <p:cNvPr id="82" name="Text 74"/>
          <p:cNvSpPr txBox="1"/>
          <p:nvPr/>
        </p:nvSpPr>
        <p:spPr>
          <a:xfrm>
            <a:off x="5925312" y="3602736"/>
            <a:ext cx="1074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Horizon (Web)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5925312" y="3798418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84" name="Shape 76"/>
          <p:cNvSpPr/>
          <p:nvPr/>
        </p:nvSpPr>
        <p:spPr>
          <a:xfrm>
            <a:off x="7328002" y="3694176"/>
            <a:ext cx="666598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5" name="Text 77"/>
          <p:cNvSpPr txBox="1"/>
          <p:nvPr/>
        </p:nvSpPr>
        <p:spPr>
          <a:xfrm>
            <a:off x="7384694" y="3713378"/>
            <a:ext cx="6501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443</a:t>
            </a:r>
            <a:endParaRPr lang="en-US" sz="1000" dirty="0"/>
          </a:p>
        </p:txBody>
      </p:sp>
      <p:sp>
        <p:nvSpPr>
          <p:cNvPr id="86" name="Text 78"/>
          <p:cNvSpPr txBox="1"/>
          <p:nvPr/>
        </p:nvSpPr>
        <p:spPr>
          <a:xfrm>
            <a:off x="8449970" y="3678631"/>
            <a:ext cx="11128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Network</a:t>
            </a:r>
            <a:endParaRPr lang="en-US" sz="1000" dirty="0"/>
          </a:p>
        </p:txBody>
      </p:sp>
      <p:sp>
        <p:nvSpPr>
          <p:cNvPr id="87" name="Shape 79"/>
          <p:cNvSpPr/>
          <p:nvPr/>
        </p:nvSpPr>
        <p:spPr>
          <a:xfrm>
            <a:off x="9851746" y="3669487"/>
            <a:ext cx="933602" cy="237744"/>
          </a:xfrm>
          <a:prstGeom prst="roundRect">
            <a:avLst>
              <a:gd name="adj" fmla="val 307692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0"/>
          <p:cNvSpPr txBox="1"/>
          <p:nvPr/>
        </p:nvSpPr>
        <p:spPr>
          <a:xfrm>
            <a:off x="9946843" y="3706978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 (MFA)</a:t>
            </a:r>
            <a:endParaRPr lang="en-US" sz="900" dirty="0"/>
          </a:p>
        </p:txBody>
      </p:sp>
      <p:sp>
        <p:nvSpPr>
          <p:cNvPr id="89" name="Text 81"/>
          <p:cNvSpPr txBox="1"/>
          <p:nvPr/>
        </p:nvSpPr>
        <p:spPr>
          <a:xfrm>
            <a:off x="5925312" y="4198925"/>
            <a:ext cx="9893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Keystone API</a:t>
            </a:r>
            <a:endParaRPr lang="en-US" sz="1000" dirty="0"/>
          </a:p>
        </p:txBody>
      </p:sp>
      <p:sp>
        <p:nvSpPr>
          <p:cNvPr id="90" name="Text 82"/>
          <p:cNvSpPr txBox="1"/>
          <p:nvPr/>
        </p:nvSpPr>
        <p:spPr>
          <a:xfrm>
            <a:off x="5925312" y="4395521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Identity Service</a:t>
            </a:r>
            <a:endParaRPr lang="en-US" sz="900" dirty="0"/>
          </a:p>
        </p:txBody>
      </p:sp>
      <p:sp>
        <p:nvSpPr>
          <p:cNvPr id="91" name="Shape 83"/>
          <p:cNvSpPr/>
          <p:nvPr/>
        </p:nvSpPr>
        <p:spPr>
          <a:xfrm>
            <a:off x="7328002" y="4290365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4"/>
          <p:cNvSpPr txBox="1"/>
          <p:nvPr/>
        </p:nvSpPr>
        <p:spPr>
          <a:xfrm>
            <a:off x="7384694" y="4309567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5000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8449970" y="4274820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4" name="Shape 86"/>
          <p:cNvSpPr/>
          <p:nvPr/>
        </p:nvSpPr>
        <p:spPr>
          <a:xfrm>
            <a:off x="9851746" y="4265676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5" name="Text 87"/>
          <p:cNvSpPr txBox="1"/>
          <p:nvPr/>
        </p:nvSpPr>
        <p:spPr>
          <a:xfrm>
            <a:off x="9946843" y="4304081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</a:t>
            </a:r>
            <a:endParaRPr lang="en-US" sz="900" dirty="0"/>
          </a:p>
        </p:txBody>
      </p:sp>
      <p:sp>
        <p:nvSpPr>
          <p:cNvPr id="96" name="Text 88"/>
          <p:cNvSpPr txBox="1"/>
          <p:nvPr/>
        </p:nvSpPr>
        <p:spPr>
          <a:xfrm>
            <a:off x="5925312" y="4795114"/>
            <a:ext cx="7315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</a:t>
            </a:r>
            <a:endParaRPr lang="en-US" sz="1000" dirty="0"/>
          </a:p>
        </p:txBody>
      </p:sp>
      <p:sp>
        <p:nvSpPr>
          <p:cNvPr id="97" name="Text 89"/>
          <p:cNvSpPr txBox="1"/>
          <p:nvPr/>
        </p:nvSpPr>
        <p:spPr>
          <a:xfrm>
            <a:off x="5925312" y="4991710"/>
            <a:ext cx="10195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MySQL / MariaDB</a:t>
            </a:r>
            <a:endParaRPr lang="en-US" sz="900" dirty="0"/>
          </a:p>
        </p:txBody>
      </p:sp>
      <p:sp>
        <p:nvSpPr>
          <p:cNvPr id="98" name="Shape 90"/>
          <p:cNvSpPr/>
          <p:nvPr/>
        </p:nvSpPr>
        <p:spPr>
          <a:xfrm>
            <a:off x="7328002" y="4886554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1"/>
          <p:cNvSpPr txBox="1"/>
          <p:nvPr/>
        </p:nvSpPr>
        <p:spPr>
          <a:xfrm>
            <a:off x="7384694" y="4905756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3306</a:t>
            </a:r>
            <a:endParaRPr lang="en-US" sz="1000" dirty="0"/>
          </a:p>
        </p:txBody>
      </p:sp>
      <p:sp>
        <p:nvSpPr>
          <p:cNvPr id="100" name="Text 92"/>
          <p:cNvSpPr txBox="1"/>
          <p:nvPr/>
        </p:nvSpPr>
        <p:spPr>
          <a:xfrm>
            <a:off x="8449970" y="4871009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 Network</a:t>
            </a:r>
            <a:endParaRPr lang="en-US" sz="1000" dirty="0"/>
          </a:p>
        </p:txBody>
      </p:sp>
      <p:sp>
        <p:nvSpPr>
          <p:cNvPr id="101" name="Shape 93"/>
          <p:cNvSpPr/>
          <p:nvPr/>
        </p:nvSpPr>
        <p:spPr>
          <a:xfrm>
            <a:off x="9851746" y="4861865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94"/>
          <p:cNvSpPr txBox="1"/>
          <p:nvPr/>
        </p:nvSpPr>
        <p:spPr>
          <a:xfrm>
            <a:off x="9946843" y="4900270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</a:t>
            </a:r>
            <a:endParaRPr lang="en-US" sz="900" dirty="0"/>
          </a:p>
        </p:txBody>
      </p:sp>
      <p:sp>
        <p:nvSpPr>
          <p:cNvPr id="103" name="Text 95"/>
          <p:cNvSpPr txBox="1"/>
          <p:nvPr/>
        </p:nvSpPr>
        <p:spPr>
          <a:xfrm>
            <a:off x="10472623" y="4900270"/>
            <a:ext cx="638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Binding</a:t>
            </a:r>
            <a:endParaRPr lang="en-US" sz="900" dirty="0"/>
          </a:p>
        </p:txBody>
      </p:sp>
      <p:sp>
        <p:nvSpPr>
          <p:cNvPr id="104" name="Text 96"/>
          <p:cNvSpPr txBox="1"/>
          <p:nvPr/>
        </p:nvSpPr>
        <p:spPr>
          <a:xfrm>
            <a:off x="5925312" y="5391302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External Access</a:t>
            </a:r>
            <a:endParaRPr lang="en-US" sz="1000" dirty="0"/>
          </a:p>
        </p:txBody>
      </p:sp>
      <p:sp>
        <p:nvSpPr>
          <p:cNvPr id="105" name="Text 97"/>
          <p:cNvSpPr txBox="1"/>
          <p:nvPr/>
        </p:nvSpPr>
        <p:spPr>
          <a:xfrm>
            <a:off x="5925312" y="5587898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 Internet</a:t>
            </a:r>
            <a:endParaRPr lang="en-US" sz="900" dirty="0"/>
          </a:p>
        </p:txBody>
      </p:sp>
      <p:sp>
        <p:nvSpPr>
          <p:cNvPr id="106" name="Shape 98"/>
          <p:cNvSpPr/>
          <p:nvPr/>
        </p:nvSpPr>
        <p:spPr>
          <a:xfrm>
            <a:off x="7328002" y="5482742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99"/>
          <p:cNvSpPr txBox="1"/>
          <p:nvPr/>
        </p:nvSpPr>
        <p:spPr>
          <a:xfrm>
            <a:off x="7384694" y="5501945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1000" dirty="0"/>
          </a:p>
        </p:txBody>
      </p:sp>
      <p:sp>
        <p:nvSpPr>
          <p:cNvPr id="108" name="Text 100"/>
          <p:cNvSpPr txBox="1"/>
          <p:nvPr/>
        </p:nvSpPr>
        <p:spPr>
          <a:xfrm>
            <a:off x="8449970" y="5468112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Internet</a:t>
            </a:r>
            <a:endParaRPr lang="en-US" sz="1000" dirty="0"/>
          </a:p>
        </p:txBody>
      </p:sp>
      <p:sp>
        <p:nvSpPr>
          <p:cNvPr id="109" name="Shape 101"/>
          <p:cNvSpPr/>
          <p:nvPr/>
        </p:nvSpPr>
        <p:spPr>
          <a:xfrm>
            <a:off x="9851746" y="5458054"/>
            <a:ext cx="933602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02"/>
          <p:cNvSpPr txBox="1"/>
          <p:nvPr/>
        </p:nvSpPr>
        <p:spPr>
          <a:xfrm>
            <a:off x="9946843" y="5496458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DENY / DROP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 보안 및 침입 탐지 시스템(IDS/IPS) 운영 정책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33095"/>
            <a:ext cx="48673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설정 - pfSense / Suricata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571500" y="160020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71754" y="181965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1423" y="1919326"/>
            <a:ext cx="181051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04849" y="237561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Inbound/Outbound 정책 분리, 국가별(Geo-IP) 접근 차단, 불필요한 Any-Any 정책 제거 및 로깅 활성화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1500" y="314005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71754" y="335859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423" y="3459175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04849" y="391546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노출 서비스 최소화, 비표준 포트 사용 권장, 내부 서버로의 직접 접근 차단 (DMZ 경유 원칙)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71500" y="4678985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771754" y="489844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1403" r="-1403"/>
          <a:stretch/>
        </p:blipFill>
        <p:spPr>
          <a:xfrm>
            <a:off x="857707" y="4998110"/>
            <a:ext cx="209398" cy="18105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545439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탐지(Alert)에서 차단(Drop) 모드로 단계적 전환, 웹쉘 및 비정상 트래픽 탐지 룰 적용, 오탐 튜닝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" y="6218834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71754" y="643737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1423" y="6537960"/>
            <a:ext cx="181051" cy="1810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04849" y="699424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 Open/Pro 룰셋 자동 갱신 스케줄링, 정책 변경 시 설정 파일(XML) 자동 백업 및 롤백 포인트 확보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4863" y="1600200"/>
            <a:ext cx="6086246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0"/>
          <p:cNvSpPr/>
          <p:nvPr/>
        </p:nvSpPr>
        <p:spPr>
          <a:xfrm>
            <a:off x="5773522" y="2238451"/>
            <a:ext cx="5609844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73522" y="1886407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078017" y="1837944"/>
            <a:ext cx="22860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서비스 접근 제어 정의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773522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5773522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7175297" y="2438705"/>
            <a:ext cx="1123798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7175297" y="2867558"/>
            <a:ext cx="1123798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8297266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8297266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699041" y="2438705"/>
            <a:ext cx="1686154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9"/>
          <p:cNvSpPr/>
          <p:nvPr/>
        </p:nvSpPr>
        <p:spPr>
          <a:xfrm>
            <a:off x="9699041" y="2867558"/>
            <a:ext cx="1686154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5773522" y="3530498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7175297" y="3530498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8297266" y="3530498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9699041" y="3530498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5773522" y="4127602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7175297" y="4127602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6"/>
          <p:cNvSpPr/>
          <p:nvPr/>
        </p:nvSpPr>
        <p:spPr>
          <a:xfrm>
            <a:off x="8297266" y="4127602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7"/>
          <p:cNvSpPr/>
          <p:nvPr/>
        </p:nvSpPr>
        <p:spPr>
          <a:xfrm>
            <a:off x="9699041" y="4127602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8"/>
          <p:cNvSpPr/>
          <p:nvPr/>
        </p:nvSpPr>
        <p:spPr>
          <a:xfrm>
            <a:off x="5773522" y="472379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9"/>
          <p:cNvSpPr/>
          <p:nvPr/>
        </p:nvSpPr>
        <p:spPr>
          <a:xfrm>
            <a:off x="7175297" y="4723790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0"/>
          <p:cNvSpPr/>
          <p:nvPr/>
        </p:nvSpPr>
        <p:spPr>
          <a:xfrm>
            <a:off x="8297266" y="472379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1"/>
          <p:cNvSpPr/>
          <p:nvPr/>
        </p:nvSpPr>
        <p:spPr>
          <a:xfrm>
            <a:off x="9699041" y="4723790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2"/>
          <p:cNvSpPr/>
          <p:nvPr/>
        </p:nvSpPr>
        <p:spPr>
          <a:xfrm>
            <a:off x="5773522" y="538673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7175297" y="5386730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4"/>
          <p:cNvSpPr/>
          <p:nvPr/>
        </p:nvSpPr>
        <p:spPr>
          <a:xfrm>
            <a:off x="8297266" y="538673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5"/>
          <p:cNvSpPr/>
          <p:nvPr/>
        </p:nvSpPr>
        <p:spPr>
          <a:xfrm>
            <a:off x="9699041" y="5386730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6"/>
          <p:cNvSpPr/>
          <p:nvPr/>
        </p:nvSpPr>
        <p:spPr>
          <a:xfrm>
            <a:off x="5773522" y="6192317"/>
            <a:ext cx="56098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7"/>
          <p:cNvSpPr txBox="1"/>
          <p:nvPr/>
        </p:nvSpPr>
        <p:spPr>
          <a:xfrm>
            <a:off x="5773522" y="6354166"/>
            <a:ext cx="17337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Version: 2026.01.20_v3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9641434" y="6354166"/>
            <a:ext cx="1828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Status: Active (Inline)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1304849" y="1819656"/>
            <a:ext cx="619049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0"/>
          <p:cNvSpPr txBox="1"/>
          <p:nvPr/>
        </p:nvSpPr>
        <p:spPr>
          <a:xfrm>
            <a:off x="1390802" y="1848002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Firewall</a:t>
            </a:r>
            <a:endParaRPr lang="en-US" sz="900" dirty="0"/>
          </a:p>
        </p:txBody>
      </p:sp>
      <p:sp>
        <p:nvSpPr>
          <p:cNvPr id="58" name="Text 51"/>
          <p:cNvSpPr txBox="1"/>
          <p:nvPr/>
        </p:nvSpPr>
        <p:spPr>
          <a:xfrm>
            <a:off x="1304849" y="2085746"/>
            <a:ext cx="16788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방화벽(FW) 정책 적용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1304849" y="3358591"/>
            <a:ext cx="1410005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3"/>
          <p:cNvSpPr txBox="1"/>
          <p:nvPr/>
        </p:nvSpPr>
        <p:spPr>
          <a:xfrm>
            <a:off x="1390802" y="3386938"/>
            <a:ext cx="13240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/ Port Forwarding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1304849" y="3625596"/>
            <a:ext cx="1469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및 포트포워딩</a:t>
            </a:r>
            <a:endParaRPr lang="en-US" sz="1300" dirty="0"/>
          </a:p>
        </p:txBody>
      </p:sp>
      <p:sp>
        <p:nvSpPr>
          <p:cNvPr id="62" name="Shape 55"/>
          <p:cNvSpPr/>
          <p:nvPr/>
        </p:nvSpPr>
        <p:spPr>
          <a:xfrm>
            <a:off x="1304849" y="4898441"/>
            <a:ext cx="6574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6"/>
          <p:cNvSpPr txBox="1"/>
          <p:nvPr/>
        </p:nvSpPr>
        <p:spPr>
          <a:xfrm>
            <a:off x="1390802" y="4926787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IDS / IPS</a:t>
            </a:r>
            <a:endParaRPr lang="en-US" sz="900" dirty="0"/>
          </a:p>
        </p:txBody>
      </p:sp>
      <p:sp>
        <p:nvSpPr>
          <p:cNvPr id="64" name="Text 57"/>
          <p:cNvSpPr txBox="1"/>
          <p:nvPr/>
        </p:nvSpPr>
        <p:spPr>
          <a:xfrm>
            <a:off x="1304849" y="5164531"/>
            <a:ext cx="14785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IPS 운영</a:t>
            </a:r>
            <a:endParaRPr lang="en-US" sz="1300" dirty="0"/>
          </a:p>
        </p:txBody>
      </p:sp>
      <p:sp>
        <p:nvSpPr>
          <p:cNvPr id="65" name="Shape 58"/>
          <p:cNvSpPr/>
          <p:nvPr/>
        </p:nvSpPr>
        <p:spPr>
          <a:xfrm>
            <a:off x="1304849" y="6437376"/>
            <a:ext cx="8860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59"/>
          <p:cNvSpPr txBox="1"/>
          <p:nvPr/>
        </p:nvSpPr>
        <p:spPr>
          <a:xfrm>
            <a:off x="1390802" y="6466637"/>
            <a:ext cx="8001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Maintenance</a:t>
            </a:r>
            <a:endParaRPr lang="en-US" sz="900" dirty="0"/>
          </a:p>
        </p:txBody>
      </p:sp>
      <p:sp>
        <p:nvSpPr>
          <p:cNvPr id="67" name="Text 60"/>
          <p:cNvSpPr txBox="1"/>
          <p:nvPr/>
        </p:nvSpPr>
        <p:spPr>
          <a:xfrm>
            <a:off x="1304849" y="6704381"/>
            <a:ext cx="13075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업데이트 및 백업</a:t>
            </a:r>
            <a:endParaRPr lang="en-US" sz="1300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470794" y="1922069"/>
            <a:ext cx="133502" cy="133502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10641787" y="1886407"/>
            <a:ext cx="8430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Zone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925312" y="2553005"/>
            <a:ext cx="10268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 Name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7328002" y="2553005"/>
            <a:ext cx="8458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Port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8449970" y="2553005"/>
            <a:ext cx="11987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(Internal)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9851746" y="2553005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Profile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5925312" y="3033065"/>
            <a:ext cx="931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Service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5925312" y="3228746"/>
            <a:ext cx="8485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 / HTTPS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7328002" y="3124505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69"/>
          <p:cNvSpPr txBox="1"/>
          <p:nvPr/>
        </p:nvSpPr>
        <p:spPr>
          <a:xfrm>
            <a:off x="7384694" y="3143707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/ 443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8449970" y="3006547"/>
            <a:ext cx="1026871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Load Balancer VIP</a:t>
            </a:r>
            <a:endParaRPr lang="en-US" sz="1000" dirty="0"/>
          </a:p>
        </p:txBody>
      </p:sp>
      <p:sp>
        <p:nvSpPr>
          <p:cNvPr id="79" name="Shape 71"/>
          <p:cNvSpPr/>
          <p:nvPr/>
        </p:nvSpPr>
        <p:spPr>
          <a:xfrm>
            <a:off x="9851746" y="3099816"/>
            <a:ext cx="895198" cy="237744"/>
          </a:xfrm>
          <a:prstGeom prst="roundRect">
            <a:avLst>
              <a:gd name="adj" fmla="val 307692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2"/>
          <p:cNvSpPr txBox="1"/>
          <p:nvPr/>
        </p:nvSpPr>
        <p:spPr>
          <a:xfrm>
            <a:off x="9946843" y="3137306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IPS APPLIED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925312" y="3655771"/>
            <a:ext cx="741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5925312" y="3852367"/>
            <a:ext cx="8860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Remote Access</a:t>
            </a:r>
            <a:endParaRPr lang="en-US" sz="900" dirty="0"/>
          </a:p>
        </p:txBody>
      </p:sp>
      <p:sp>
        <p:nvSpPr>
          <p:cNvPr id="83" name="Shape 75"/>
          <p:cNvSpPr/>
          <p:nvPr/>
        </p:nvSpPr>
        <p:spPr>
          <a:xfrm>
            <a:off x="7328002" y="3747211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Text 76"/>
          <p:cNvSpPr txBox="1"/>
          <p:nvPr/>
        </p:nvSpPr>
        <p:spPr>
          <a:xfrm>
            <a:off x="7384694" y="3766414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 1194</a:t>
            </a:r>
            <a:endParaRPr lang="en-US" sz="1000" dirty="0"/>
          </a:p>
        </p:txBody>
      </p:sp>
      <p:sp>
        <p:nvSpPr>
          <p:cNvPr id="85" name="Text 77"/>
          <p:cNvSpPr txBox="1"/>
          <p:nvPr/>
        </p:nvSpPr>
        <p:spPr>
          <a:xfrm>
            <a:off x="8449970" y="3732581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Localhost (WAN)</a:t>
            </a:r>
            <a:endParaRPr lang="en-US" sz="1000" dirty="0"/>
          </a:p>
        </p:txBody>
      </p:sp>
      <p:sp>
        <p:nvSpPr>
          <p:cNvPr id="86" name="Shape 78"/>
          <p:cNvSpPr/>
          <p:nvPr/>
        </p:nvSpPr>
        <p:spPr>
          <a:xfrm>
            <a:off x="9851746" y="3722522"/>
            <a:ext cx="933602" cy="237744"/>
          </a:xfrm>
          <a:prstGeom prst="roundRect">
            <a:avLst>
              <a:gd name="adj" fmla="val 307692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7" name="Text 79"/>
          <p:cNvSpPr txBox="1"/>
          <p:nvPr/>
        </p:nvSpPr>
        <p:spPr>
          <a:xfrm>
            <a:off x="9946843" y="3760927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CERT + AUTH</a:t>
            </a:r>
            <a:endParaRPr lang="en-US" sz="900" dirty="0"/>
          </a:p>
        </p:txBody>
      </p:sp>
      <p:sp>
        <p:nvSpPr>
          <p:cNvPr id="88" name="Text 80"/>
          <p:cNvSpPr txBox="1"/>
          <p:nvPr/>
        </p:nvSpPr>
        <p:spPr>
          <a:xfrm>
            <a:off x="5925312" y="4251960"/>
            <a:ext cx="8083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Mgmt</a:t>
            </a:r>
            <a:endParaRPr lang="en-US" sz="1000" dirty="0"/>
          </a:p>
        </p:txBody>
      </p:sp>
      <p:sp>
        <p:nvSpPr>
          <p:cNvPr id="89" name="Text 81"/>
          <p:cNvSpPr txBox="1"/>
          <p:nvPr/>
        </p:nvSpPr>
        <p:spPr>
          <a:xfrm>
            <a:off x="5925312" y="4448556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System Admin</a:t>
            </a:r>
            <a:endParaRPr lang="en-US" sz="900" dirty="0"/>
          </a:p>
        </p:txBody>
      </p:sp>
      <p:sp>
        <p:nvSpPr>
          <p:cNvPr id="90" name="Shape 82"/>
          <p:cNvSpPr/>
          <p:nvPr/>
        </p:nvSpPr>
        <p:spPr>
          <a:xfrm>
            <a:off x="7328002" y="4343400"/>
            <a:ext cx="590702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3"/>
          <p:cNvSpPr txBox="1"/>
          <p:nvPr/>
        </p:nvSpPr>
        <p:spPr>
          <a:xfrm>
            <a:off x="7384694" y="4362602"/>
            <a:ext cx="57424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22</a:t>
            </a:r>
            <a:endParaRPr lang="en-US" sz="1000" dirty="0"/>
          </a:p>
        </p:txBody>
      </p:sp>
      <p:sp>
        <p:nvSpPr>
          <p:cNvPr id="92" name="Text 84"/>
          <p:cNvSpPr txBox="1"/>
          <p:nvPr/>
        </p:nvSpPr>
        <p:spPr>
          <a:xfrm>
            <a:off x="8449970" y="4328770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1000" dirty="0"/>
          </a:p>
        </p:txBody>
      </p:sp>
      <p:sp>
        <p:nvSpPr>
          <p:cNvPr id="93" name="Shape 85"/>
          <p:cNvSpPr/>
          <p:nvPr/>
        </p:nvSpPr>
        <p:spPr>
          <a:xfrm>
            <a:off x="9851746" y="4318711"/>
            <a:ext cx="752551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4" name="Text 86"/>
          <p:cNvSpPr txBox="1"/>
          <p:nvPr/>
        </p:nvSpPr>
        <p:spPr>
          <a:xfrm>
            <a:off x="9946843" y="4357116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ONLY</a:t>
            </a:r>
            <a:endParaRPr lang="en-US" sz="900" dirty="0"/>
          </a:p>
        </p:txBody>
      </p:sp>
      <p:sp>
        <p:nvSpPr>
          <p:cNvPr id="95" name="Text 87"/>
          <p:cNvSpPr txBox="1"/>
          <p:nvPr/>
        </p:nvSpPr>
        <p:spPr>
          <a:xfrm>
            <a:off x="5925312" y="4882896"/>
            <a:ext cx="7315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5925312" y="5079492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MySQL / Elastic</a:t>
            </a:r>
            <a:endParaRPr lang="en-US" sz="900" dirty="0"/>
          </a:p>
        </p:txBody>
      </p:sp>
      <p:sp>
        <p:nvSpPr>
          <p:cNvPr id="97" name="Shape 89"/>
          <p:cNvSpPr/>
          <p:nvPr/>
        </p:nvSpPr>
        <p:spPr>
          <a:xfrm>
            <a:off x="7328002" y="4867351"/>
            <a:ext cx="533095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8" name="Text 90"/>
          <p:cNvSpPr txBox="1"/>
          <p:nvPr/>
        </p:nvSpPr>
        <p:spPr>
          <a:xfrm>
            <a:off x="7328002" y="4886554"/>
            <a:ext cx="63093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3306 / 9200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8449970" y="4958791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1000" dirty="0"/>
          </a:p>
        </p:txBody>
      </p:sp>
      <p:sp>
        <p:nvSpPr>
          <p:cNvPr id="100" name="Shape 92"/>
          <p:cNvSpPr/>
          <p:nvPr/>
        </p:nvSpPr>
        <p:spPr>
          <a:xfrm>
            <a:off x="9851746" y="4949647"/>
            <a:ext cx="1086307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3"/>
          <p:cNvSpPr txBox="1"/>
          <p:nvPr/>
        </p:nvSpPr>
        <p:spPr>
          <a:xfrm>
            <a:off x="9946843" y="4988052"/>
            <a:ext cx="9811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ONLY</a:t>
            </a:r>
            <a:endParaRPr lang="en-US" sz="900" dirty="0"/>
          </a:p>
        </p:txBody>
      </p:sp>
      <p:sp>
        <p:nvSpPr>
          <p:cNvPr id="102" name="Text 94"/>
          <p:cNvSpPr txBox="1"/>
          <p:nvPr/>
        </p:nvSpPr>
        <p:spPr>
          <a:xfrm>
            <a:off x="5925312" y="5513832"/>
            <a:ext cx="760781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Unknown Traffic</a:t>
            </a:r>
            <a:endParaRPr lang="en-US" sz="1000" dirty="0"/>
          </a:p>
        </p:txBody>
      </p:sp>
      <p:sp>
        <p:nvSpPr>
          <p:cNvPr id="103" name="Text 95"/>
          <p:cNvSpPr txBox="1"/>
          <p:nvPr/>
        </p:nvSpPr>
        <p:spPr>
          <a:xfrm>
            <a:off x="5925312" y="5916168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Default Rule</a:t>
            </a:r>
            <a:endParaRPr lang="en-US" sz="900" dirty="0"/>
          </a:p>
        </p:txBody>
      </p:sp>
      <p:sp>
        <p:nvSpPr>
          <p:cNvPr id="104" name="Shape 96"/>
          <p:cNvSpPr/>
          <p:nvPr/>
        </p:nvSpPr>
        <p:spPr>
          <a:xfrm>
            <a:off x="7328002" y="5707685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5" name="Text 97"/>
          <p:cNvSpPr txBox="1"/>
          <p:nvPr/>
        </p:nvSpPr>
        <p:spPr>
          <a:xfrm>
            <a:off x="7384694" y="5726887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1000" dirty="0"/>
          </a:p>
        </p:txBody>
      </p:sp>
      <p:sp>
        <p:nvSpPr>
          <p:cNvPr id="106" name="Text 98"/>
          <p:cNvSpPr txBox="1"/>
          <p:nvPr/>
        </p:nvSpPr>
        <p:spPr>
          <a:xfrm>
            <a:off x="8449970" y="5693054"/>
            <a:ext cx="1609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00" dirty="0"/>
          </a:p>
        </p:txBody>
      </p:sp>
      <p:sp>
        <p:nvSpPr>
          <p:cNvPr id="107" name="Shape 99"/>
          <p:cNvSpPr/>
          <p:nvPr/>
        </p:nvSpPr>
        <p:spPr>
          <a:xfrm>
            <a:off x="9851746" y="5682996"/>
            <a:ext cx="895198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0"/>
          <p:cNvSpPr txBox="1"/>
          <p:nvPr/>
        </p:nvSpPr>
        <p:spPr>
          <a:xfrm>
            <a:off x="9946843" y="5721401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 &amp; LOG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클라우드 연결 및 로그 통합 모니터링 보안 강화 전략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33095"/>
            <a:ext cx="36868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설정 - AWS &amp; ELK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571500" y="160020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71754" y="181965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847649" y="1919326"/>
            <a:ext cx="228600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04849" y="237561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루트 계정 MFA 필수화, IAM 사용자 권한 분리, Access Key 주기적 교체(90일), Security Group 최소 권한 원칙 적용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1500" y="314005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71754" y="335859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403" r="-1403"/>
          <a:stretch/>
        </p:blipFill>
        <p:spPr>
          <a:xfrm>
            <a:off x="857707" y="3459175"/>
            <a:ext cx="209398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04849" y="391546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리전 API 호출 로깅 활성화, 로그 파일 무결성 검증, S3 저장소 퍼블릭 접근 차단 및 암호화 적용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71500" y="4678985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771754" y="489844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881482" y="4998110"/>
            <a:ext cx="161849" cy="18105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545439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Elasticsearch Native 인증 활성화, 노드 간 통신 및 HTTP 클라이언트 구간 TLS/SSL(HTTPS) 필수 적용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" y="6218834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71754" y="643737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1423" y="6537960"/>
            <a:ext cx="181051" cy="1810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04849" y="699424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Hot-Warm-Cold 아키텍처 적용, 오래된 로그 자동 삭제 및 아카이빙 정책으로 스토리지 가용성 확보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4863" y="1600200"/>
            <a:ext cx="6086246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0"/>
          <p:cNvSpPr/>
          <p:nvPr/>
        </p:nvSpPr>
        <p:spPr>
          <a:xfrm>
            <a:off x="5773522" y="2238451"/>
            <a:ext cx="5609844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5887822" y="1837944"/>
            <a:ext cx="18864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자산별 보안 통제 매핑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5773522" y="2438705"/>
            <a:ext cx="1399946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5773522" y="2867558"/>
            <a:ext cx="1399946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167982" y="2438705"/>
            <a:ext cx="905256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7167982" y="2867558"/>
            <a:ext cx="905256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065922" y="2438705"/>
            <a:ext cx="2200046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8065922" y="2867558"/>
            <a:ext cx="2200046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10265054" y="2438705"/>
            <a:ext cx="1123798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10265054" y="2867558"/>
            <a:ext cx="1123798" cy="19202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5773522" y="3530498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7167982" y="3530498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8065922" y="3530498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10265054" y="3530498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4"/>
          <p:cNvSpPr/>
          <p:nvPr/>
        </p:nvSpPr>
        <p:spPr>
          <a:xfrm>
            <a:off x="5773522" y="4185209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5"/>
          <p:cNvSpPr/>
          <p:nvPr/>
        </p:nvSpPr>
        <p:spPr>
          <a:xfrm>
            <a:off x="7167982" y="4185209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6"/>
          <p:cNvSpPr/>
          <p:nvPr/>
        </p:nvSpPr>
        <p:spPr>
          <a:xfrm>
            <a:off x="8065922" y="4185209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7"/>
          <p:cNvSpPr/>
          <p:nvPr/>
        </p:nvSpPr>
        <p:spPr>
          <a:xfrm>
            <a:off x="10265054" y="4185209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8"/>
          <p:cNvSpPr/>
          <p:nvPr/>
        </p:nvSpPr>
        <p:spPr>
          <a:xfrm>
            <a:off x="5773522" y="4835347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9"/>
          <p:cNvSpPr/>
          <p:nvPr/>
        </p:nvSpPr>
        <p:spPr>
          <a:xfrm>
            <a:off x="7167982" y="4835347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0"/>
          <p:cNvSpPr/>
          <p:nvPr/>
        </p:nvSpPr>
        <p:spPr>
          <a:xfrm>
            <a:off x="8065922" y="4835347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1"/>
          <p:cNvSpPr/>
          <p:nvPr/>
        </p:nvSpPr>
        <p:spPr>
          <a:xfrm>
            <a:off x="10265054" y="4835347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2"/>
          <p:cNvSpPr/>
          <p:nvPr/>
        </p:nvSpPr>
        <p:spPr>
          <a:xfrm>
            <a:off x="5773522" y="5484571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3"/>
          <p:cNvSpPr/>
          <p:nvPr/>
        </p:nvSpPr>
        <p:spPr>
          <a:xfrm>
            <a:off x="7167982" y="5484571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4"/>
          <p:cNvSpPr/>
          <p:nvPr/>
        </p:nvSpPr>
        <p:spPr>
          <a:xfrm>
            <a:off x="8065922" y="5484571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5"/>
          <p:cNvSpPr/>
          <p:nvPr/>
        </p:nvSpPr>
        <p:spPr>
          <a:xfrm>
            <a:off x="10265054" y="5484571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6"/>
          <p:cNvSpPr/>
          <p:nvPr/>
        </p:nvSpPr>
        <p:spPr>
          <a:xfrm>
            <a:off x="5773522" y="6131052"/>
            <a:ext cx="56098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7"/>
          <p:cNvSpPr txBox="1"/>
          <p:nvPr/>
        </p:nvSpPr>
        <p:spPr>
          <a:xfrm>
            <a:off x="5773522" y="6292901"/>
            <a:ext cx="1762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Region: ap-northeast-2</a:t>
            </a:r>
            <a:endParaRPr lang="en-US" sz="900" dirty="0"/>
          </a:p>
        </p:txBody>
      </p:sp>
      <p:sp>
        <p:nvSpPr>
          <p:cNvPr id="54" name="Text 48"/>
          <p:cNvSpPr txBox="1"/>
          <p:nvPr/>
        </p:nvSpPr>
        <p:spPr>
          <a:xfrm>
            <a:off x="10390327" y="6292901"/>
            <a:ext cx="10863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 v8.12</a:t>
            </a:r>
            <a:endParaRPr lang="en-US" sz="900" dirty="0"/>
          </a:p>
        </p:txBody>
      </p:sp>
      <p:sp>
        <p:nvSpPr>
          <p:cNvPr id="55" name="Shape 49"/>
          <p:cNvSpPr/>
          <p:nvPr/>
        </p:nvSpPr>
        <p:spPr>
          <a:xfrm>
            <a:off x="1304849" y="1819656"/>
            <a:ext cx="981151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0"/>
          <p:cNvSpPr txBox="1"/>
          <p:nvPr/>
        </p:nvSpPr>
        <p:spPr>
          <a:xfrm>
            <a:off x="1390802" y="1848002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Control</a:t>
            </a:r>
            <a:endParaRPr lang="en-US" sz="900" dirty="0"/>
          </a:p>
        </p:txBody>
      </p:sp>
      <p:sp>
        <p:nvSpPr>
          <p:cNvPr id="57" name="Text 51"/>
          <p:cNvSpPr txBox="1"/>
          <p:nvPr/>
        </p:nvSpPr>
        <p:spPr>
          <a:xfrm>
            <a:off x="1304849" y="2085746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접근 제어 (IAM &amp; SG)</a:t>
            </a:r>
            <a:endParaRPr lang="en-US" sz="1300" dirty="0"/>
          </a:p>
        </p:txBody>
      </p:sp>
      <p:sp>
        <p:nvSpPr>
          <p:cNvPr id="58" name="Shape 52"/>
          <p:cNvSpPr/>
          <p:nvPr/>
        </p:nvSpPr>
        <p:spPr>
          <a:xfrm>
            <a:off x="1304849" y="3358591"/>
            <a:ext cx="476402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3"/>
          <p:cNvSpPr txBox="1"/>
          <p:nvPr/>
        </p:nvSpPr>
        <p:spPr>
          <a:xfrm>
            <a:off x="1390802" y="3386938"/>
            <a:ext cx="3913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</a:t>
            </a:r>
            <a:endParaRPr lang="en-US" sz="900" dirty="0"/>
          </a:p>
        </p:txBody>
      </p:sp>
      <p:sp>
        <p:nvSpPr>
          <p:cNvPr id="60" name="Text 54"/>
          <p:cNvSpPr txBox="1"/>
          <p:nvPr/>
        </p:nvSpPr>
        <p:spPr>
          <a:xfrm>
            <a:off x="1304849" y="3625596"/>
            <a:ext cx="16879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CloudTrail 감사 추적</a:t>
            </a:r>
            <a:endParaRPr lang="en-US" sz="1300" dirty="0"/>
          </a:p>
        </p:txBody>
      </p:sp>
      <p:sp>
        <p:nvSpPr>
          <p:cNvPr id="61" name="Shape 55"/>
          <p:cNvSpPr/>
          <p:nvPr/>
        </p:nvSpPr>
        <p:spPr>
          <a:xfrm>
            <a:off x="1304849" y="4898441"/>
            <a:ext cx="875995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6"/>
          <p:cNvSpPr txBox="1"/>
          <p:nvPr/>
        </p:nvSpPr>
        <p:spPr>
          <a:xfrm>
            <a:off x="1390802" y="4926787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Security</a:t>
            </a:r>
            <a:endParaRPr lang="en-US" sz="900" dirty="0"/>
          </a:p>
        </p:txBody>
      </p:sp>
      <p:sp>
        <p:nvSpPr>
          <p:cNvPr id="63" name="Text 57"/>
          <p:cNvSpPr txBox="1"/>
          <p:nvPr/>
        </p:nvSpPr>
        <p:spPr>
          <a:xfrm>
            <a:off x="1304849" y="5164531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인증 및 암호화</a:t>
            </a:r>
            <a:endParaRPr lang="en-US" sz="1300" dirty="0"/>
          </a:p>
        </p:txBody>
      </p:sp>
      <p:sp>
        <p:nvSpPr>
          <p:cNvPr id="64" name="Shape 58"/>
          <p:cNvSpPr/>
          <p:nvPr/>
        </p:nvSpPr>
        <p:spPr>
          <a:xfrm>
            <a:off x="1304849" y="6437376"/>
            <a:ext cx="6574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9"/>
          <p:cNvSpPr txBox="1"/>
          <p:nvPr/>
        </p:nvSpPr>
        <p:spPr>
          <a:xfrm>
            <a:off x="1390802" y="6466637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Lifecycle</a:t>
            </a:r>
            <a:endParaRPr lang="en-US" sz="900" dirty="0"/>
          </a:p>
        </p:txBody>
      </p:sp>
      <p:sp>
        <p:nvSpPr>
          <p:cNvPr id="66" name="Text 60"/>
          <p:cNvSpPr txBox="1"/>
          <p:nvPr/>
        </p:nvSpPr>
        <p:spPr>
          <a:xfrm>
            <a:off x="1304849" y="6704381"/>
            <a:ext cx="20784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수명주기 관리 (ILM)</a:t>
            </a:r>
            <a:endParaRPr lang="en-US" sz="1300" dirty="0"/>
          </a:p>
        </p:txBody>
      </p:sp>
      <p:pic>
        <p:nvPicPr>
          <p:cNvPr id="6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7389" y="1922069"/>
            <a:ext cx="133502" cy="13350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10368382" y="1886407"/>
            <a:ext cx="11192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Control</a:t>
            </a:r>
            <a:endParaRPr lang="en-US" sz="1000" dirty="0"/>
          </a:p>
        </p:txBody>
      </p:sp>
      <p:sp>
        <p:nvSpPr>
          <p:cNvPr id="69" name="Text 62"/>
          <p:cNvSpPr txBox="1"/>
          <p:nvPr/>
        </p:nvSpPr>
        <p:spPr>
          <a:xfrm>
            <a:off x="5925312" y="2553005"/>
            <a:ext cx="465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</a:t>
            </a:r>
            <a:endParaRPr lang="en-US" sz="1000" dirty="0"/>
          </a:p>
        </p:txBody>
      </p:sp>
      <p:sp>
        <p:nvSpPr>
          <p:cNvPr id="70" name="Text 63"/>
          <p:cNvSpPr txBox="1"/>
          <p:nvPr/>
        </p:nvSpPr>
        <p:spPr>
          <a:xfrm>
            <a:off x="7319772" y="2553005"/>
            <a:ext cx="7031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</a:t>
            </a:r>
            <a:endParaRPr lang="en-US" sz="1000" dirty="0"/>
          </a:p>
        </p:txBody>
      </p:sp>
      <p:sp>
        <p:nvSpPr>
          <p:cNvPr id="71" name="Text 64"/>
          <p:cNvSpPr txBox="1"/>
          <p:nvPr/>
        </p:nvSpPr>
        <p:spPr>
          <a:xfrm>
            <a:off x="8218627" y="2553005"/>
            <a:ext cx="11512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Applied Control</a:t>
            </a:r>
            <a:endParaRPr lang="en-US" sz="1000" dirty="0"/>
          </a:p>
        </p:txBody>
      </p:sp>
      <p:sp>
        <p:nvSpPr>
          <p:cNvPr id="72" name="Text 65"/>
          <p:cNvSpPr txBox="1"/>
          <p:nvPr/>
        </p:nvSpPr>
        <p:spPr>
          <a:xfrm>
            <a:off x="10416845" y="2553005"/>
            <a:ext cx="522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Status</a:t>
            </a:r>
            <a:endParaRPr lang="en-US" sz="1000" dirty="0"/>
          </a:p>
        </p:txBody>
      </p:sp>
      <p:sp>
        <p:nvSpPr>
          <p:cNvPr id="73" name="Text 66"/>
          <p:cNvSpPr txBox="1"/>
          <p:nvPr/>
        </p:nvSpPr>
        <p:spPr>
          <a:xfrm>
            <a:off x="5925312" y="3033065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EC2 (OpenVPN)</a:t>
            </a:r>
            <a:endParaRPr lang="en-US" sz="1000" dirty="0"/>
          </a:p>
        </p:txBody>
      </p:sp>
      <p:sp>
        <p:nvSpPr>
          <p:cNvPr id="74" name="Text 67"/>
          <p:cNvSpPr txBox="1"/>
          <p:nvPr/>
        </p:nvSpPr>
        <p:spPr>
          <a:xfrm>
            <a:off x="5925312" y="3228746"/>
            <a:ext cx="8001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Gateway</a:t>
            </a:r>
            <a:endParaRPr lang="en-US" sz="900" dirty="0"/>
          </a:p>
        </p:txBody>
      </p:sp>
      <p:sp>
        <p:nvSpPr>
          <p:cNvPr id="75" name="Shape 68"/>
          <p:cNvSpPr/>
          <p:nvPr/>
        </p:nvSpPr>
        <p:spPr>
          <a:xfrm>
            <a:off x="7319772" y="3124505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6" name="Text 69"/>
          <p:cNvSpPr txBox="1"/>
          <p:nvPr/>
        </p:nvSpPr>
        <p:spPr>
          <a:xfrm>
            <a:off x="7377379" y="3143707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1000" dirty="0"/>
          </a:p>
        </p:txBody>
      </p:sp>
      <p:sp>
        <p:nvSpPr>
          <p:cNvPr id="77" name="Text 70"/>
          <p:cNvSpPr txBox="1"/>
          <p:nvPr/>
        </p:nvSpPr>
        <p:spPr>
          <a:xfrm>
            <a:off x="8218627" y="3006547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SG: UDP 1194 Only</a:t>
            </a:r>
            <a:endParaRPr lang="en-US" sz="1000" dirty="0"/>
          </a:p>
        </p:txBody>
      </p:sp>
      <p:sp>
        <p:nvSpPr>
          <p:cNvPr id="78" name="Text 71"/>
          <p:cNvSpPr txBox="1"/>
          <p:nvPr/>
        </p:nvSpPr>
        <p:spPr>
          <a:xfrm>
            <a:off x="8218627" y="3240634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Public SSH</a:t>
            </a:r>
            <a:endParaRPr lang="en-US" sz="900" dirty="0"/>
          </a:p>
        </p:txBody>
      </p:sp>
      <p:sp>
        <p:nvSpPr>
          <p:cNvPr id="79" name="Shape 72"/>
          <p:cNvSpPr/>
          <p:nvPr/>
        </p:nvSpPr>
        <p:spPr>
          <a:xfrm>
            <a:off x="10416845" y="3099816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3"/>
          <p:cNvSpPr txBox="1"/>
          <p:nvPr/>
        </p:nvSpPr>
        <p:spPr>
          <a:xfrm>
            <a:off x="10511942" y="3137306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</a:t>
            </a:r>
            <a:endParaRPr lang="en-US" sz="900" dirty="0"/>
          </a:p>
        </p:txBody>
      </p:sp>
      <p:sp>
        <p:nvSpPr>
          <p:cNvPr id="81" name="Text 74"/>
          <p:cNvSpPr txBox="1"/>
          <p:nvPr/>
        </p:nvSpPr>
        <p:spPr>
          <a:xfrm>
            <a:off x="5925312" y="3682289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S3 Bucket</a:t>
            </a:r>
            <a:endParaRPr lang="en-US" sz="1000" dirty="0"/>
          </a:p>
        </p:txBody>
      </p:sp>
      <p:sp>
        <p:nvSpPr>
          <p:cNvPr id="82" name="Text 75"/>
          <p:cNvSpPr txBox="1"/>
          <p:nvPr/>
        </p:nvSpPr>
        <p:spPr>
          <a:xfrm>
            <a:off x="5925312" y="3878885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 Logs</a:t>
            </a:r>
            <a:endParaRPr lang="en-US" sz="900" dirty="0"/>
          </a:p>
        </p:txBody>
      </p:sp>
      <p:sp>
        <p:nvSpPr>
          <p:cNvPr id="83" name="Shape 76"/>
          <p:cNvSpPr/>
          <p:nvPr/>
        </p:nvSpPr>
        <p:spPr>
          <a:xfrm>
            <a:off x="7319772" y="3773729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Text 77"/>
          <p:cNvSpPr txBox="1"/>
          <p:nvPr/>
        </p:nvSpPr>
        <p:spPr>
          <a:xfrm>
            <a:off x="7377379" y="3792931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1000" dirty="0"/>
          </a:p>
        </p:txBody>
      </p:sp>
      <p:sp>
        <p:nvSpPr>
          <p:cNvPr id="85" name="Text 78"/>
          <p:cNvSpPr txBox="1"/>
          <p:nvPr/>
        </p:nvSpPr>
        <p:spPr>
          <a:xfrm>
            <a:off x="8218627" y="3655771"/>
            <a:ext cx="12938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SSE-S3 Encryption</a:t>
            </a:r>
            <a:endParaRPr lang="en-US" sz="1000" dirty="0"/>
          </a:p>
        </p:txBody>
      </p:sp>
      <p:sp>
        <p:nvSpPr>
          <p:cNvPr id="86" name="Text 79"/>
          <p:cNvSpPr txBox="1"/>
          <p:nvPr/>
        </p:nvSpPr>
        <p:spPr>
          <a:xfrm>
            <a:off x="8218627" y="3890772"/>
            <a:ext cx="11338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Public Access</a:t>
            </a:r>
            <a:endParaRPr lang="en-US" sz="900" dirty="0"/>
          </a:p>
        </p:txBody>
      </p:sp>
      <p:sp>
        <p:nvSpPr>
          <p:cNvPr id="87" name="Shape 80"/>
          <p:cNvSpPr/>
          <p:nvPr/>
        </p:nvSpPr>
        <p:spPr>
          <a:xfrm>
            <a:off x="10416845" y="3749040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1"/>
          <p:cNvSpPr txBox="1"/>
          <p:nvPr/>
        </p:nvSpPr>
        <p:spPr>
          <a:xfrm>
            <a:off x="10511942" y="3787445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</a:t>
            </a:r>
            <a:endParaRPr lang="en-US" sz="900" dirty="0"/>
          </a:p>
        </p:txBody>
      </p:sp>
      <p:sp>
        <p:nvSpPr>
          <p:cNvPr id="89" name="Text 82"/>
          <p:cNvSpPr txBox="1"/>
          <p:nvPr/>
        </p:nvSpPr>
        <p:spPr>
          <a:xfrm>
            <a:off x="5925312" y="4332427"/>
            <a:ext cx="5797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Kibana</a:t>
            </a:r>
            <a:endParaRPr lang="en-US" sz="1000" dirty="0"/>
          </a:p>
        </p:txBody>
      </p:sp>
      <p:sp>
        <p:nvSpPr>
          <p:cNvPr id="90" name="Text 83"/>
          <p:cNvSpPr txBox="1"/>
          <p:nvPr/>
        </p:nvSpPr>
        <p:spPr>
          <a:xfrm>
            <a:off x="5925312" y="4529023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91" name="Shape 84"/>
          <p:cNvSpPr/>
          <p:nvPr/>
        </p:nvSpPr>
        <p:spPr>
          <a:xfrm>
            <a:off x="7319772" y="4423867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5"/>
          <p:cNvSpPr txBox="1"/>
          <p:nvPr/>
        </p:nvSpPr>
        <p:spPr>
          <a:xfrm>
            <a:off x="7377379" y="4443070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ELK</a:t>
            </a:r>
            <a:endParaRPr lang="en-US" sz="1000" dirty="0"/>
          </a:p>
        </p:txBody>
      </p:sp>
      <p:sp>
        <p:nvSpPr>
          <p:cNvPr id="93" name="Text 86"/>
          <p:cNvSpPr txBox="1"/>
          <p:nvPr/>
        </p:nvSpPr>
        <p:spPr>
          <a:xfrm>
            <a:off x="8218627" y="4305910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Access</a:t>
            </a:r>
            <a:endParaRPr lang="en-US" sz="1000" dirty="0"/>
          </a:p>
        </p:txBody>
      </p:sp>
      <p:sp>
        <p:nvSpPr>
          <p:cNvPr id="94" name="Text 87"/>
          <p:cNvSpPr txBox="1"/>
          <p:nvPr/>
        </p:nvSpPr>
        <p:spPr>
          <a:xfrm>
            <a:off x="8218627" y="4539996"/>
            <a:ext cx="12765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Network Only</a:t>
            </a:r>
            <a:endParaRPr lang="en-US" sz="900" dirty="0"/>
          </a:p>
        </p:txBody>
      </p:sp>
      <p:sp>
        <p:nvSpPr>
          <p:cNvPr id="95" name="Shape 88"/>
          <p:cNvSpPr/>
          <p:nvPr/>
        </p:nvSpPr>
        <p:spPr>
          <a:xfrm>
            <a:off x="10416845" y="4295851"/>
            <a:ext cx="504749" cy="448056"/>
          </a:xfrm>
          <a:prstGeom prst="roundRect">
            <a:avLst>
              <a:gd name="adj" fmla="val 86843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6" name="Text 89"/>
          <p:cNvSpPr txBox="1"/>
          <p:nvPr/>
        </p:nvSpPr>
        <p:spPr>
          <a:xfrm>
            <a:off x="10416845" y="4334256"/>
            <a:ext cx="5815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 (AUTH)</a:t>
            </a:r>
            <a:endParaRPr lang="en-US" sz="900" dirty="0"/>
          </a:p>
        </p:txBody>
      </p:sp>
      <p:sp>
        <p:nvSpPr>
          <p:cNvPr id="97" name="Text 90"/>
          <p:cNvSpPr txBox="1"/>
          <p:nvPr/>
        </p:nvSpPr>
        <p:spPr>
          <a:xfrm>
            <a:off x="5925312" y="4982566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Elasticsearch</a:t>
            </a:r>
            <a:endParaRPr lang="en-US" sz="1000" dirty="0"/>
          </a:p>
        </p:txBody>
      </p:sp>
      <p:sp>
        <p:nvSpPr>
          <p:cNvPr id="98" name="Text 91"/>
          <p:cNvSpPr txBox="1"/>
          <p:nvPr/>
        </p:nvSpPr>
        <p:spPr>
          <a:xfrm>
            <a:off x="5925312" y="5178247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Node</a:t>
            </a:r>
            <a:endParaRPr lang="en-US" sz="900" dirty="0"/>
          </a:p>
        </p:txBody>
      </p:sp>
      <p:sp>
        <p:nvSpPr>
          <p:cNvPr id="99" name="Shape 92"/>
          <p:cNvSpPr/>
          <p:nvPr/>
        </p:nvSpPr>
        <p:spPr>
          <a:xfrm>
            <a:off x="7319772" y="5074006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3"/>
          <p:cNvSpPr txBox="1"/>
          <p:nvPr/>
        </p:nvSpPr>
        <p:spPr>
          <a:xfrm>
            <a:off x="7377379" y="5092294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ELK</a:t>
            </a:r>
            <a:endParaRPr lang="en-US" sz="1000" dirty="0"/>
          </a:p>
        </p:txBody>
      </p:sp>
      <p:sp>
        <p:nvSpPr>
          <p:cNvPr id="101" name="Text 94"/>
          <p:cNvSpPr txBox="1"/>
          <p:nvPr/>
        </p:nvSpPr>
        <p:spPr>
          <a:xfrm>
            <a:off x="8218627" y="4955134"/>
            <a:ext cx="931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Key Auth</a:t>
            </a:r>
            <a:endParaRPr lang="en-US" sz="1000" dirty="0"/>
          </a:p>
        </p:txBody>
      </p:sp>
      <p:sp>
        <p:nvSpPr>
          <p:cNvPr id="102" name="Text 95"/>
          <p:cNvSpPr txBox="1"/>
          <p:nvPr/>
        </p:nvSpPr>
        <p:spPr>
          <a:xfrm>
            <a:off x="8218627" y="5190134"/>
            <a:ext cx="10863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TLS 1.2+ Transport</a:t>
            </a:r>
            <a:endParaRPr lang="en-US" sz="900" dirty="0"/>
          </a:p>
        </p:txBody>
      </p:sp>
      <p:sp>
        <p:nvSpPr>
          <p:cNvPr id="103" name="Shape 96"/>
          <p:cNvSpPr/>
          <p:nvPr/>
        </p:nvSpPr>
        <p:spPr>
          <a:xfrm>
            <a:off x="10416845" y="5048402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97"/>
          <p:cNvSpPr txBox="1"/>
          <p:nvPr/>
        </p:nvSpPr>
        <p:spPr>
          <a:xfrm>
            <a:off x="10511942" y="5086807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</a:t>
            </a:r>
            <a:endParaRPr lang="en-US" sz="900" dirty="0"/>
          </a:p>
        </p:txBody>
      </p:sp>
      <p:sp>
        <p:nvSpPr>
          <p:cNvPr id="105" name="Text 98"/>
          <p:cNvSpPr txBox="1"/>
          <p:nvPr/>
        </p:nvSpPr>
        <p:spPr>
          <a:xfrm>
            <a:off x="5925312" y="5631790"/>
            <a:ext cx="9701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Beats Agents</a:t>
            </a:r>
            <a:endParaRPr lang="en-US" sz="1000" dirty="0"/>
          </a:p>
        </p:txBody>
      </p:sp>
      <p:sp>
        <p:nvSpPr>
          <p:cNvPr id="106" name="Text 99"/>
          <p:cNvSpPr txBox="1"/>
          <p:nvPr/>
        </p:nvSpPr>
        <p:spPr>
          <a:xfrm>
            <a:off x="5925312" y="5828386"/>
            <a:ext cx="6291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Collectors</a:t>
            </a:r>
            <a:endParaRPr lang="en-US" sz="900" dirty="0"/>
          </a:p>
        </p:txBody>
      </p:sp>
      <p:sp>
        <p:nvSpPr>
          <p:cNvPr id="107" name="Shape 100"/>
          <p:cNvSpPr/>
          <p:nvPr/>
        </p:nvSpPr>
        <p:spPr>
          <a:xfrm>
            <a:off x="7319772" y="5723230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1"/>
          <p:cNvSpPr txBox="1"/>
          <p:nvPr/>
        </p:nvSpPr>
        <p:spPr>
          <a:xfrm>
            <a:off x="7377379" y="5742432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ELK</a:t>
            </a:r>
            <a:endParaRPr lang="en-US" sz="1000" dirty="0"/>
          </a:p>
        </p:txBody>
      </p:sp>
      <p:sp>
        <p:nvSpPr>
          <p:cNvPr id="109" name="Text 102"/>
          <p:cNvSpPr txBox="1"/>
          <p:nvPr/>
        </p:nvSpPr>
        <p:spPr>
          <a:xfrm>
            <a:off x="8218627" y="5605272"/>
            <a:ext cx="17986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SSL Certificate Verification</a:t>
            </a:r>
            <a:endParaRPr lang="en-US" sz="1000" dirty="0"/>
          </a:p>
        </p:txBody>
      </p:sp>
      <p:sp>
        <p:nvSpPr>
          <p:cNvPr id="110" name="Text 103"/>
          <p:cNvSpPr txBox="1"/>
          <p:nvPr/>
        </p:nvSpPr>
        <p:spPr>
          <a:xfrm>
            <a:off x="8218627" y="5839358"/>
            <a:ext cx="11430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Minimal Permission</a:t>
            </a:r>
            <a:endParaRPr lang="en-US" sz="900" dirty="0"/>
          </a:p>
        </p:txBody>
      </p:sp>
      <p:sp>
        <p:nvSpPr>
          <p:cNvPr id="111" name="Shape 104"/>
          <p:cNvSpPr/>
          <p:nvPr/>
        </p:nvSpPr>
        <p:spPr>
          <a:xfrm>
            <a:off x="10416845" y="5698541"/>
            <a:ext cx="705002" cy="237744"/>
          </a:xfrm>
          <a:prstGeom prst="roundRect">
            <a:avLst>
              <a:gd name="adj" fmla="val 307692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2" name="Text 105"/>
          <p:cNvSpPr txBox="1"/>
          <p:nvPr/>
        </p:nvSpPr>
        <p:spPr>
          <a:xfrm>
            <a:off x="10511942" y="5736946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VERIFIED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웹 서버 진입 후 권한 상승 및 측면 이동(Lateral Movement) 단계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39913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1: 웹쉘 공격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2632558" y="3614623"/>
            <a:ext cx="114300" cy="18105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4903927" y="3614623"/>
            <a:ext cx="114300" cy="18105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7174382" y="3614623"/>
            <a:ext cx="114300" cy="18105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9444838" y="3614623"/>
            <a:ext cx="114300" cy="181051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7150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5"/>
          <p:cNvSpPr/>
          <p:nvPr/>
        </p:nvSpPr>
        <p:spPr>
          <a:xfrm>
            <a:off x="1269187" y="1990649"/>
            <a:ext cx="571500" cy="571500"/>
          </a:xfrm>
          <a:prstGeom prst="ellipse">
            <a:avLst/>
          </a:prstGeom>
          <a:solidFill>
            <a:srgbClr val="94A3B8">
              <a:alpha val="10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0180" y="216255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61111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접근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(Initial Access)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67574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공개된 웹 서비스 취약점 탐색 및 업로드 경로 확보 시도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2420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9"/>
          <p:cNvSpPr/>
          <p:nvPr/>
        </p:nvSpPr>
        <p:spPr>
          <a:xfrm>
            <a:off x="724205" y="5484571"/>
            <a:ext cx="1666951" cy="1920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0"/>
          <p:cNvSpPr txBox="1"/>
          <p:nvPr/>
        </p:nvSpPr>
        <p:spPr>
          <a:xfrm>
            <a:off x="77906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18" name="Text 11"/>
          <p:cNvSpPr txBox="1"/>
          <p:nvPr/>
        </p:nvSpPr>
        <p:spPr>
          <a:xfrm>
            <a:off x="77083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Vuln Scanning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84195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3539642" y="1990649"/>
            <a:ext cx="571500" cy="571500"/>
          </a:xfrm>
          <a:prstGeom prst="ellipse">
            <a:avLst/>
          </a:prstGeom>
          <a:solidFill>
            <a:srgbClr val="FACC15">
              <a:alpha val="10000"/>
            </a:srgbClr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3739896" y="2162556"/>
            <a:ext cx="171907" cy="2286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931566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설치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(Installation)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294619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업로드 필터링 우회 후 악성 스크립트(Web Shell) 설치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99466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2994660" y="5484571"/>
            <a:ext cx="1666951" cy="19202"/>
          </a:xfrm>
          <a:prstGeom prst="rect">
            <a:avLst/>
          </a:prstGeom>
          <a:solidFill>
            <a:srgbClr val="FACC1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304952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304129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 Bypass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11332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810098" y="1990649"/>
            <a:ext cx="571500" cy="571500"/>
          </a:xfrm>
          <a:prstGeom prst="ellipse">
            <a:avLst/>
          </a:prstGeom>
          <a:solidFill>
            <a:srgbClr val="FB923C">
              <a:alpha val="10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5967374" y="2162556"/>
            <a:ext cx="256946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233111" y="2704795"/>
            <a:ext cx="172638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명령 실행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(Execution)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521665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업로드된 웹쉘을 통해 시스템 정보 조회 및 중요 파일 접근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526511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5265115" y="5484571"/>
            <a:ext cx="1666951" cy="19202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32089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531266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Command Inj.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738378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9"/>
          <p:cNvSpPr/>
          <p:nvPr/>
        </p:nvSpPr>
        <p:spPr>
          <a:xfrm>
            <a:off x="8081467" y="1990649"/>
            <a:ext cx="571500" cy="571500"/>
          </a:xfrm>
          <a:prstGeom prst="ellipse">
            <a:avLst/>
          </a:prstGeom>
          <a:solidFill>
            <a:srgbClr val="F87171">
              <a:alpha val="1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8267090" y="2162556"/>
            <a:ext cx="200254" cy="2286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473391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상승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(Privilege Esc)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748802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취약한 설정이나 커널 취약점을 악용하여 Root 권한 획득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53648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3"/>
          <p:cNvSpPr/>
          <p:nvPr/>
        </p:nvSpPr>
        <p:spPr>
          <a:xfrm>
            <a:off x="7536485" y="5484571"/>
            <a:ext cx="1666951" cy="19202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4"/>
          <p:cNvSpPr txBox="1"/>
          <p:nvPr/>
        </p:nvSpPr>
        <p:spPr>
          <a:xfrm>
            <a:off x="759134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758311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Exploit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65515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10351922" y="1990649"/>
            <a:ext cx="571500" cy="571500"/>
          </a:xfrm>
          <a:prstGeom prst="ellipse">
            <a:avLst/>
          </a:prstGeom>
          <a:solidFill>
            <a:srgbClr val="C084FC">
              <a:alpha val="10000"/>
            </a:srgbClr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10494569" y="2162556"/>
            <a:ext cx="286207" cy="22860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744761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시도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(Lateral Move)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975847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탈취한 계정 정보를 이용해 내부망의 타 시스템으로 SSH 접속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980694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9806940" y="5484571"/>
            <a:ext cx="1666951" cy="19202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9862718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54" name="Text 43"/>
          <p:cNvSpPr txBox="1"/>
          <p:nvPr/>
        </p:nvSpPr>
        <p:spPr>
          <a:xfrm>
            <a:off x="985357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Access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140177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45"/>
          <p:cNvSpPr txBox="1"/>
          <p:nvPr/>
        </p:nvSpPr>
        <p:spPr>
          <a:xfrm>
            <a:off x="1419149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57" name="Shape 46"/>
          <p:cNvSpPr/>
          <p:nvPr/>
        </p:nvSpPr>
        <p:spPr>
          <a:xfrm>
            <a:off x="367314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369051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594360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5960974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821497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232343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1048542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1050279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381305" y="952805"/>
            <a:ext cx="471739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공격 시도에 대한 통합 로그 분석 및 타임라인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34879" y="1042416"/>
            <a:ext cx="133502" cy="1335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6286" y="1547165"/>
            <a:ext cx="5410505" cy="4934102"/>
          </a:xfrm>
          <a:prstGeom prst="roundRect">
            <a:avLst>
              <a:gd name="adj" fmla="val 429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05626" y="1804111"/>
            <a:ext cx="152705" cy="1527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05626" y="2671877"/>
            <a:ext cx="10094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5"/>
          <p:cNvSpPr/>
          <p:nvPr/>
        </p:nvSpPr>
        <p:spPr>
          <a:xfrm>
            <a:off x="7606894" y="2671877"/>
            <a:ext cx="12573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6"/>
          <p:cNvSpPr/>
          <p:nvPr/>
        </p:nvSpPr>
        <p:spPr>
          <a:xfrm>
            <a:off x="8857793" y="2671877"/>
            <a:ext cx="2009851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10860329" y="2671877"/>
            <a:ext cx="752551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8"/>
          <p:cNvSpPr/>
          <p:nvPr/>
        </p:nvSpPr>
        <p:spPr>
          <a:xfrm>
            <a:off x="6605626" y="3357677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606894" y="3357677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857793" y="3357677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0860329" y="3357677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6605626" y="4245559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7606894" y="4245559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857793" y="4245559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0860329" y="4245559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605626" y="4939589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7606894" y="4939589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857793" y="4939589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10860329" y="4939589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6605626" y="5827471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7606894" y="5827471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8857793" y="5827471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10860329" y="5827471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381305" y="390449"/>
            <a:ext cx="48774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1: 탐지 및 대응</a:t>
            </a:r>
            <a:endParaRPr lang="en-US" sz="3000" dirty="0"/>
          </a:p>
        </p:txBody>
      </p:sp>
      <p:sp>
        <p:nvSpPr>
          <p:cNvPr id="29" name="Text 25"/>
          <p:cNvSpPr txBox="1"/>
          <p:nvPr/>
        </p:nvSpPr>
        <p:spPr>
          <a:xfrm>
            <a:off x="10444277" y="1013155"/>
            <a:ext cx="14721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Detection &amp; Response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6834226" y="1756562"/>
            <a:ext cx="2062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타임라인 및 대응 요약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6700723" y="2347265"/>
            <a:ext cx="4370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7701991" y="2347265"/>
            <a:ext cx="5605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953805" y="2347265"/>
            <a:ext cx="1265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Event Description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10955426" y="2347265"/>
            <a:ext cx="4553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700723" y="2931566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14:00:05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701991" y="2913278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8953805" y="2809951"/>
            <a:ext cx="15224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취약점 스캔 패턴 탐지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953805" y="3044038"/>
            <a:ext cx="12573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Signature ID: 2010123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10955426" y="2916022"/>
            <a:ext cx="448056" cy="209398"/>
          </a:xfrm>
          <a:prstGeom prst="roundRect">
            <a:avLst>
              <a:gd name="adj" fmla="val 79396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 txBox="1"/>
          <p:nvPr/>
        </p:nvSpPr>
        <p:spPr>
          <a:xfrm>
            <a:off x="11031322" y="2935224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Warn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700723" y="3722522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14:02:12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7701991" y="3703320"/>
            <a:ext cx="6364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Svr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8953805" y="3497580"/>
            <a:ext cx="17602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의심스러운 PHP 파일 업로드 성공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8953805" y="3938321"/>
            <a:ext cx="8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File: shell.php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10955426" y="3706978"/>
            <a:ext cx="56235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2"/>
          <p:cNvSpPr txBox="1"/>
          <p:nvPr/>
        </p:nvSpPr>
        <p:spPr>
          <a:xfrm>
            <a:off x="11031322" y="3725266"/>
            <a:ext cx="4956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6700723" y="4513478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14:02:15</a:t>
            </a:r>
            <a:endParaRPr lang="en-US" sz="1000" dirty="0"/>
          </a:p>
        </p:txBody>
      </p:sp>
      <p:sp>
        <p:nvSpPr>
          <p:cNvPr id="48" name="Text 44"/>
          <p:cNvSpPr txBox="1"/>
          <p:nvPr/>
        </p:nvSpPr>
        <p:spPr>
          <a:xfrm>
            <a:off x="7701991" y="4494276"/>
            <a:ext cx="3511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953805" y="4391863"/>
            <a:ext cx="18562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명령어(cmd) 실행 감지</a:t>
            </a:r>
            <a:endParaRPr 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8953805" y="4625950"/>
            <a:ext cx="13816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Auditbeat Process Event</a:t>
            </a:r>
            <a:endParaRPr 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10955426" y="4497019"/>
            <a:ext cx="56235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8"/>
          <p:cNvSpPr txBox="1"/>
          <p:nvPr/>
        </p:nvSpPr>
        <p:spPr>
          <a:xfrm>
            <a:off x="11031322" y="4516222"/>
            <a:ext cx="4956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53" name="Text 49"/>
          <p:cNvSpPr txBox="1"/>
          <p:nvPr/>
        </p:nvSpPr>
        <p:spPr>
          <a:xfrm>
            <a:off x="6700723" y="5304434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14:05:00</a:t>
            </a:r>
            <a:endParaRPr 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7701991" y="5285232"/>
            <a:ext cx="6172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8953805" y="5079492"/>
            <a:ext cx="191292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C&amp;C 서버 추정 IP로 아웃바운드 차단</a:t>
            </a:r>
            <a:endParaRPr lang="en-US" sz="1000" dirty="0"/>
          </a:p>
        </p:txBody>
      </p:sp>
      <p:sp>
        <p:nvSpPr>
          <p:cNvPr id="56" name="Text 52"/>
          <p:cNvSpPr txBox="1"/>
          <p:nvPr/>
        </p:nvSpPr>
        <p:spPr>
          <a:xfrm>
            <a:off x="8953805" y="5519318"/>
            <a:ext cx="14100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Firewall Rule #105 DROP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10955426" y="5287975"/>
            <a:ext cx="476402" cy="209398"/>
          </a:xfrm>
          <a:prstGeom prst="roundRect">
            <a:avLst>
              <a:gd name="adj" fmla="val 7939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4"/>
          <p:cNvSpPr txBox="1"/>
          <p:nvPr/>
        </p:nvSpPr>
        <p:spPr>
          <a:xfrm>
            <a:off x="11031322" y="5307178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6700723" y="6197803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14:10:00</a:t>
            </a:r>
            <a:endParaRPr lang="en-US" sz="1000" dirty="0"/>
          </a:p>
        </p:txBody>
      </p:sp>
      <p:sp>
        <p:nvSpPr>
          <p:cNvPr id="60" name="Text 56"/>
          <p:cNvSpPr txBox="1"/>
          <p:nvPr/>
        </p:nvSpPr>
        <p:spPr>
          <a:xfrm>
            <a:off x="7701991" y="6178601"/>
            <a:ext cx="522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</a:t>
            </a:r>
            <a:endParaRPr lang="en-US" sz="1000" dirty="0"/>
          </a:p>
        </p:txBody>
      </p:sp>
      <p:sp>
        <p:nvSpPr>
          <p:cNvPr id="61" name="Text 57"/>
          <p:cNvSpPr txBox="1"/>
          <p:nvPr/>
        </p:nvSpPr>
        <p:spPr>
          <a:xfrm>
            <a:off x="8953805" y="5972861"/>
            <a:ext cx="18562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차단 및 웹쉘 파일 격리 조치 완료</a:t>
            </a:r>
            <a:endParaRPr 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8953805" y="6413602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Incident Response</a:t>
            </a:r>
            <a:endParaRPr 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10955426" y="6182258"/>
            <a:ext cx="448056" cy="209398"/>
          </a:xfrm>
          <a:prstGeom prst="roundRect">
            <a:avLst>
              <a:gd name="adj" fmla="val 7939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0"/>
          <p:cNvSpPr txBox="1"/>
          <p:nvPr/>
        </p:nvSpPr>
        <p:spPr>
          <a:xfrm>
            <a:off x="11031322" y="6200546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Clear</a:t>
            </a:r>
            <a:endParaRPr lang="en-US" sz="900" dirty="0"/>
          </a:p>
        </p:txBody>
      </p:sp>
      <p:sp>
        <p:nvSpPr>
          <p:cNvPr id="65" name="Shape 61"/>
          <p:cNvSpPr/>
          <p:nvPr/>
        </p:nvSpPr>
        <p:spPr>
          <a:xfrm>
            <a:off x="381305" y="1547165"/>
            <a:ext cx="5743346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2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3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4"/>
          <p:cNvSpPr/>
          <p:nvPr/>
        </p:nvSpPr>
        <p:spPr>
          <a:xfrm>
            <a:off x="5939028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5"/>
          <p:cNvSpPr/>
          <p:nvPr/>
        </p:nvSpPr>
        <p:spPr>
          <a:xfrm>
            <a:off x="6110021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6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7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68"/>
          <p:cNvSpPr/>
          <p:nvPr/>
        </p:nvSpPr>
        <p:spPr>
          <a:xfrm>
            <a:off x="5939028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69"/>
          <p:cNvSpPr/>
          <p:nvPr/>
        </p:nvSpPr>
        <p:spPr>
          <a:xfrm>
            <a:off x="6110021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0"/>
          <p:cNvSpPr/>
          <p:nvPr/>
        </p:nvSpPr>
        <p:spPr>
          <a:xfrm>
            <a:off x="390449" y="1556309"/>
            <a:ext cx="5724144" cy="49149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1"/>
          <p:cNvSpPr/>
          <p:nvPr/>
        </p:nvSpPr>
        <p:spPr>
          <a:xfrm>
            <a:off x="390449" y="1556309"/>
            <a:ext cx="5724144" cy="38130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2"/>
          <p:cNvSpPr/>
          <p:nvPr/>
        </p:nvSpPr>
        <p:spPr>
          <a:xfrm>
            <a:off x="390449" y="1928470"/>
            <a:ext cx="5724144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3"/>
          <p:cNvSpPr/>
          <p:nvPr/>
        </p:nvSpPr>
        <p:spPr>
          <a:xfrm>
            <a:off x="533095" y="1694383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4"/>
          <p:cNvSpPr/>
          <p:nvPr/>
        </p:nvSpPr>
        <p:spPr>
          <a:xfrm>
            <a:off x="724205" y="1694383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5"/>
          <p:cNvSpPr/>
          <p:nvPr/>
        </p:nvSpPr>
        <p:spPr>
          <a:xfrm>
            <a:off x="914400" y="1694383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6"/>
          <p:cNvSpPr txBox="1"/>
          <p:nvPr/>
        </p:nvSpPr>
        <p:spPr>
          <a:xfrm>
            <a:off x="1181405" y="1656893"/>
            <a:ext cx="2000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Kibana Dashboard - Security Events</a:t>
            </a:r>
            <a:endParaRPr lang="en-US" sz="900" dirty="0"/>
          </a:p>
        </p:txBody>
      </p:sp>
      <p:sp>
        <p:nvSpPr>
          <p:cNvPr id="81" name="Shape 77"/>
          <p:cNvSpPr/>
          <p:nvPr/>
        </p:nvSpPr>
        <p:spPr>
          <a:xfrm>
            <a:off x="580644" y="2127809"/>
            <a:ext cx="2600554" cy="1333195"/>
          </a:xfrm>
          <a:prstGeom prst="roundRect">
            <a:avLst>
              <a:gd name="adj" fmla="val 2939"/>
            </a:avLst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2" name="Image 2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1684325" y="2509114"/>
            <a:ext cx="390449" cy="342900"/>
          </a:xfrm>
          <a:prstGeom prst="rect">
            <a:avLst/>
          </a:prstGeom>
        </p:spPr>
      </p:pic>
      <p:sp>
        <p:nvSpPr>
          <p:cNvPr id="83" name="Text 78"/>
          <p:cNvSpPr txBox="1"/>
          <p:nvPr/>
        </p:nvSpPr>
        <p:spPr>
          <a:xfrm>
            <a:off x="1391717" y="2918765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Source Geo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3322015" y="2127809"/>
            <a:ext cx="2600554" cy="1333195"/>
          </a:xfrm>
          <a:prstGeom prst="roundRect">
            <a:avLst>
              <a:gd name="adj" fmla="val 2939"/>
            </a:avLst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49470" y="2509114"/>
            <a:ext cx="342900" cy="342900"/>
          </a:xfrm>
          <a:prstGeom prst="rect">
            <a:avLst/>
          </a:prstGeom>
        </p:spPr>
      </p:pic>
      <p:sp>
        <p:nvSpPr>
          <p:cNvPr id="86" name="Text 80"/>
          <p:cNvSpPr txBox="1"/>
          <p:nvPr/>
        </p:nvSpPr>
        <p:spPr>
          <a:xfrm>
            <a:off x="4324198" y="2918765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 Trend</a:t>
            </a:r>
            <a:endParaRPr lang="en-US" sz="900" dirty="0"/>
          </a:p>
        </p:txBody>
      </p:sp>
      <p:sp>
        <p:nvSpPr>
          <p:cNvPr id="87" name="Shape 81"/>
          <p:cNvSpPr/>
          <p:nvPr/>
        </p:nvSpPr>
        <p:spPr>
          <a:xfrm>
            <a:off x="580644" y="3604565"/>
            <a:ext cx="5343754" cy="2676449"/>
          </a:xfrm>
          <a:prstGeom prst="roundRect">
            <a:avLst>
              <a:gd name="adj" fmla="val 7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2"/>
          <p:cNvSpPr txBox="1"/>
          <p:nvPr/>
        </p:nvSpPr>
        <p:spPr>
          <a:xfrm>
            <a:off x="685800" y="3708806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[Suricata] 14:00:05.123 ET WEB_SERVER Possible Webshell Upload Attempt</a:t>
            </a:r>
            <a:endParaRPr lang="en-US" sz="900" dirty="0"/>
          </a:p>
        </p:txBody>
      </p:sp>
      <p:sp>
        <p:nvSpPr>
          <p:cNvPr id="89" name="Text 83"/>
          <p:cNvSpPr txBox="1"/>
          <p:nvPr/>
        </p:nvSpPr>
        <p:spPr>
          <a:xfrm>
            <a:off x="685800" y="3880714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[Apache] 14:02:12.455 POST /upload/shell.php 200 OK</a:t>
            </a:r>
            <a:endParaRPr lang="en-US" sz="900" dirty="0"/>
          </a:p>
        </p:txBody>
      </p:sp>
      <p:sp>
        <p:nvSpPr>
          <p:cNvPr id="90" name="Text 84"/>
          <p:cNvSpPr txBox="1"/>
          <p:nvPr/>
        </p:nvSpPr>
        <p:spPr>
          <a:xfrm>
            <a:off x="685800" y="4051706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[Auditbeat] 14:02:15.789 Execve: /bin/sh -c "cat /etc/passwd"</a:t>
            </a:r>
            <a:endParaRPr lang="en-US" sz="900" dirty="0"/>
          </a:p>
        </p:txBody>
      </p:sp>
      <p:sp>
        <p:nvSpPr>
          <p:cNvPr id="91" name="Text 85"/>
          <p:cNvSpPr txBox="1"/>
          <p:nvPr/>
        </p:nvSpPr>
        <p:spPr>
          <a:xfrm>
            <a:off x="685800" y="4223614"/>
            <a:ext cx="52203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[pfSense] 14:05:00.001 Blocked Outbound Traffic TCP 192.168.1.100:443 -&gt; 45.x.x.x</a:t>
            </a:r>
            <a:endParaRPr lang="en-US" sz="900" dirty="0"/>
          </a:p>
        </p:txBody>
      </p:sp>
      <p:sp>
        <p:nvSpPr>
          <p:cNvPr id="92" name="Text 86"/>
          <p:cNvSpPr txBox="1"/>
          <p:nvPr/>
        </p:nvSpPr>
        <p:spPr>
          <a:xfrm>
            <a:off x="685800" y="4566514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More events loading ...</a:t>
            </a:r>
            <a:endParaRPr lang="en-US" sz="900" dirty="0"/>
          </a:p>
        </p:txBody>
      </p:sp>
      <p:sp>
        <p:nvSpPr>
          <p:cNvPr id="93" name="Shape 87"/>
          <p:cNvSpPr/>
          <p:nvPr/>
        </p:nvSpPr>
        <p:spPr>
          <a:xfrm>
            <a:off x="4437583" y="6067044"/>
            <a:ext cx="1524305" cy="247802"/>
          </a:xfrm>
          <a:prstGeom prst="roundRect">
            <a:avLst>
              <a:gd name="adj" fmla="val 56770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4" name="Image 4" descr="preencoded.png"/>
          <p:cNvPicPr>
            <a:picLocks noChangeAspect="1"/>
          </p:cNvPicPr>
          <p:nvPr/>
        </p:nvPicPr>
        <p:blipFill>
          <a:blip r:embed="rId7"/>
          <a:srcRect l="-1911" r="-1911"/>
          <a:stretch/>
        </p:blipFill>
        <p:spPr>
          <a:xfrm>
            <a:off x="4561942" y="6139282"/>
            <a:ext cx="133502" cy="114300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4732934" y="6105449"/>
            <a:ext cx="1191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Dashboard View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피싱부터 관리망 침투, 권한 남용 및 대응까지의 공격 단계 개요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5791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2: 인증 우회 및 계정 탈취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2632558" y="3614623"/>
            <a:ext cx="114300" cy="18105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4903927" y="3614623"/>
            <a:ext cx="114300" cy="18105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7174382" y="3614623"/>
            <a:ext cx="114300" cy="18105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9444838" y="3614623"/>
            <a:ext cx="114300" cy="181051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7150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5"/>
          <p:cNvSpPr/>
          <p:nvPr/>
        </p:nvSpPr>
        <p:spPr>
          <a:xfrm>
            <a:off x="1269187" y="1990649"/>
            <a:ext cx="571500" cy="571500"/>
          </a:xfrm>
          <a:prstGeom prst="ellipse">
            <a:avLst/>
          </a:prstGeom>
          <a:solidFill>
            <a:srgbClr val="F87171">
              <a:alpha val="1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0180" y="216255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905256" y="2704795"/>
            <a:ext cx="130759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피싱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수집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675742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이메일 피싱 및 크리덴셜 스터핑을 통해 임직원의 계정 자격 증명(ID/PW) 확보 시도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2420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9"/>
          <p:cNvSpPr/>
          <p:nvPr/>
        </p:nvSpPr>
        <p:spPr>
          <a:xfrm>
            <a:off x="724205" y="5484571"/>
            <a:ext cx="1666951" cy="19202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0"/>
          <p:cNvSpPr txBox="1"/>
          <p:nvPr/>
        </p:nvSpPr>
        <p:spPr>
          <a:xfrm>
            <a:off x="77906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18" name="Text 11"/>
          <p:cNvSpPr txBox="1"/>
          <p:nvPr/>
        </p:nvSpPr>
        <p:spPr>
          <a:xfrm>
            <a:off x="77083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 Access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84195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3539642" y="1990649"/>
            <a:ext cx="571500" cy="571500"/>
          </a:xfrm>
          <a:prstGeom prst="ellipse">
            <a:avLst/>
          </a:prstGeom>
          <a:solidFill>
            <a:srgbClr val="FB923C">
              <a:alpha val="10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3725266" y="2162556"/>
            <a:ext cx="200254" cy="2286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998318" y="2704795"/>
            <a:ext cx="165963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 우회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세션 탈취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2946197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탈취 계정으로 로그인 시도, MFA 피로 공격(Fatigue) 등으로 추가 인증 절차 우회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99466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2994660" y="5484571"/>
            <a:ext cx="1666951" cy="19202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304952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304129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Credential Access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11332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810098" y="1990649"/>
            <a:ext cx="571500" cy="571500"/>
          </a:xfrm>
          <a:prstGeom prst="ellipse">
            <a:avLst/>
          </a:prstGeom>
          <a:solidFill>
            <a:srgbClr val="FACC15">
              <a:alpha val="10000"/>
            </a:srgbClr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5953658" y="2162556"/>
            <a:ext cx="286207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292547" y="2704795"/>
            <a:ext cx="161208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관리망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접속 성공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5216652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또는 관리자 포털에 정상 사용자로 위장하여 접속 후 내부망으로 이동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526511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5265115" y="5484571"/>
            <a:ext cx="1666951" cy="19202"/>
          </a:xfrm>
          <a:prstGeom prst="rect">
            <a:avLst/>
          </a:prstGeom>
          <a:solidFill>
            <a:srgbClr val="FACC1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32089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531266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Lateral Move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738378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9"/>
          <p:cNvSpPr/>
          <p:nvPr/>
        </p:nvSpPr>
        <p:spPr>
          <a:xfrm>
            <a:off x="8081467" y="1990649"/>
            <a:ext cx="571500" cy="571500"/>
          </a:xfrm>
          <a:prstGeom prst="ellipse">
            <a:avLst/>
          </a:prstGeom>
          <a:solidFill>
            <a:srgbClr val="A78BFA">
              <a:alpha val="10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8267090" y="2162556"/>
            <a:ext cx="200254" cy="2286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473391" y="2704795"/>
            <a:ext cx="179313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남용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유출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7488022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권한을 악용하여 민감 데이터 조회 및 대용량 파일 외부 전송 시도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53648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3"/>
          <p:cNvSpPr/>
          <p:nvPr/>
        </p:nvSpPr>
        <p:spPr>
          <a:xfrm>
            <a:off x="7536485" y="5484571"/>
            <a:ext cx="1666951" cy="1920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4"/>
          <p:cNvSpPr txBox="1"/>
          <p:nvPr/>
        </p:nvSpPr>
        <p:spPr>
          <a:xfrm>
            <a:off x="759134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758311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Exfiltration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65515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10351922" y="1990649"/>
            <a:ext cx="571500" cy="5715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523830" y="2162556"/>
            <a:ext cx="228600" cy="22860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987991" y="2704795"/>
            <a:ext cx="130759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차단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9758477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비정상 접근 및 트래픽 패턴 탐지, 계정 잠금 및 세션 강제 종료 조치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980694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9806940" y="5484571"/>
            <a:ext cx="1666951" cy="19202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9862718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RESPONSE</a:t>
            </a:r>
            <a:endParaRPr lang="en-US" sz="800" dirty="0"/>
          </a:p>
        </p:txBody>
      </p:sp>
      <p:sp>
        <p:nvSpPr>
          <p:cNvPr id="54" name="Text 43"/>
          <p:cNvSpPr txBox="1"/>
          <p:nvPr/>
        </p:nvSpPr>
        <p:spPr>
          <a:xfrm>
            <a:off x="985357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&amp; Reset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140177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45"/>
          <p:cNvSpPr txBox="1"/>
          <p:nvPr/>
        </p:nvSpPr>
        <p:spPr>
          <a:xfrm>
            <a:off x="1419149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57" name="Shape 46"/>
          <p:cNvSpPr/>
          <p:nvPr/>
        </p:nvSpPr>
        <p:spPr>
          <a:xfrm>
            <a:off x="367314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369051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594360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5960974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821497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232343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1048542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1050279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382305" y="-952805"/>
            <a:ext cx="4762195" cy="4762195"/>
          </a:xfrm>
          <a:prstGeom prst="ellipse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수행 과정의 기술적 제약사항과 달성한 보안 가치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533095"/>
            <a:ext cx="19723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한계 및 의의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71500" y="2048256"/>
            <a:ext cx="5286146" cy="914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1695298"/>
            <a:ext cx="190195" cy="19019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34049" y="2048256"/>
            <a:ext cx="5286146" cy="9144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34049" y="1695298"/>
            <a:ext cx="142646" cy="19019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75995" y="1647749"/>
            <a:ext cx="3076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LIMITATIONS &amp; CHALLENGES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90995" y="1647749"/>
            <a:ext cx="25146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SIGNIFICANCE &amp; VALUE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71500" y="2295144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38505" y="2533802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981151" y="2648102"/>
            <a:ext cx="171907" cy="2286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895698" y="2305202"/>
            <a:ext cx="952805" cy="95280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838505" y="3143707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제한된 리소스 및 시간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838505" y="3490265"/>
            <a:ext cx="489021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하드웨어 자원의 한계로 인해 대규모 트래픽 부하 테스트와 완전한 이중화(HA) 구성에 제약이 있었습니다.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38505" y="4221785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990295" y="4404665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/>
          <p:cNvSpPr txBox="1"/>
          <p:nvPr/>
        </p:nvSpPr>
        <p:spPr>
          <a:xfrm>
            <a:off x="1143000" y="4336085"/>
            <a:ext cx="24505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 이중화 미구현 (SPOF 존재)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990295" y="4656125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1143000" y="4587545"/>
            <a:ext cx="24505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성능 병목으로 인한 백업 시간 지연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571500" y="5324551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838505" y="556229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2805" y="5676595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8505" y="6172200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복잡성 및 오탐 이슈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838505" y="6518758"/>
            <a:ext cx="489021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보안 솔루션의 통합으로 인해 정책 관리 포인트가 증가하고, 초기 설정 시 Suricata 등의 오탐(False Positive) 조정에 어려움이 있었습니다.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38505" y="7250278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990295" y="7433158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6"/>
          <p:cNvSpPr txBox="1"/>
          <p:nvPr/>
        </p:nvSpPr>
        <p:spPr>
          <a:xfrm>
            <a:off x="1143000" y="7364578"/>
            <a:ext cx="24688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트래픽 차단 사례 발생 (초기 튜닝 필요)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90295" y="7684618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1143000" y="7616038"/>
            <a:ext cx="21076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간 로그 포맷 불일치 해결 소요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6334049" y="2295144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601054" y="2533802"/>
            <a:ext cx="457200" cy="342900"/>
          </a:xfrm>
          <a:prstGeom prst="roundRect">
            <a:avLst>
              <a:gd name="adj" fmla="val 74074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15354" y="2590495"/>
            <a:ext cx="228600" cy="22860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0658246" y="2305202"/>
            <a:ext cx="952805" cy="952805"/>
          </a:xfrm>
          <a:prstGeom prst="rect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2"/>
          <p:cNvSpPr txBox="1"/>
          <p:nvPr/>
        </p:nvSpPr>
        <p:spPr>
          <a:xfrm>
            <a:off x="6601054" y="3027578"/>
            <a:ext cx="18123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아키텍처 실증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601054" y="3374136"/>
            <a:ext cx="4890211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오픈소스(OpenStack, pfSense, ELK)와 클라우드(AWS)를 결합하여 비용 효율적이면서도 엔터프라이즈급 기능을 갖춘 보안 인프라를 성공적으로 구현했습니다.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6601054" y="4221785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6752844" y="4404665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6905549" y="4336085"/>
            <a:ext cx="25648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On-Premise와 Public Cloud 간 안전한 연결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752844" y="4656125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8"/>
          <p:cNvSpPr txBox="1"/>
          <p:nvPr/>
        </p:nvSpPr>
        <p:spPr>
          <a:xfrm>
            <a:off x="6905549" y="4587545"/>
            <a:ext cx="215524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구간 트래픽 가시성(Visibility) 확보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6334049" y="5324551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0"/>
          <p:cNvSpPr/>
          <p:nvPr/>
        </p:nvSpPr>
        <p:spPr>
          <a:xfrm>
            <a:off x="6601054" y="556229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15354" y="5676595"/>
            <a:ext cx="228600" cy="228600"/>
          </a:xfrm>
          <a:prstGeom prst="rect">
            <a:avLst/>
          </a:prstGeom>
        </p:spPr>
      </p:pic>
      <p:sp>
        <p:nvSpPr>
          <p:cNvPr id="49" name="Shape 41"/>
          <p:cNvSpPr/>
          <p:nvPr/>
        </p:nvSpPr>
        <p:spPr>
          <a:xfrm>
            <a:off x="10658246" y="5333695"/>
            <a:ext cx="952805" cy="952805"/>
          </a:xfrm>
          <a:prstGeom prst="rect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2"/>
          <p:cNvSpPr txBox="1"/>
          <p:nvPr/>
        </p:nvSpPr>
        <p:spPr>
          <a:xfrm>
            <a:off x="6601054" y="6172200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 확장 기반 확보</a:t>
            </a:r>
            <a:endParaRPr lang="en-US" sz="1300" dirty="0"/>
          </a:p>
        </p:txBody>
      </p:sp>
      <p:sp>
        <p:nvSpPr>
          <p:cNvPr id="51" name="Text 43"/>
          <p:cNvSpPr txBox="1"/>
          <p:nvPr/>
        </p:nvSpPr>
        <p:spPr>
          <a:xfrm>
            <a:off x="6601054" y="6518758"/>
            <a:ext cx="489021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구축된 인프라를 바탕으로 컨테이너 보안, Zero Trust 네트워크, 보안 자동화(SOAR) 등 차세대 보안 기술로 확장할 수 있는 토대를 마련했습니다.</a:t>
            </a:r>
            <a:endParaRPr lang="en-US" sz="1100" dirty="0"/>
          </a:p>
        </p:txBody>
      </p:sp>
      <p:sp>
        <p:nvSpPr>
          <p:cNvPr id="52" name="Shape 44"/>
          <p:cNvSpPr/>
          <p:nvPr/>
        </p:nvSpPr>
        <p:spPr>
          <a:xfrm>
            <a:off x="6601054" y="7250278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5"/>
          <p:cNvSpPr/>
          <p:nvPr/>
        </p:nvSpPr>
        <p:spPr>
          <a:xfrm>
            <a:off x="6752844" y="7433158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6"/>
          <p:cNvSpPr txBox="1"/>
          <p:nvPr/>
        </p:nvSpPr>
        <p:spPr>
          <a:xfrm>
            <a:off x="6905549" y="7364578"/>
            <a:ext cx="26791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K8s 클러스터 연동 및 마이크로서비스 보안 확장</a:t>
            </a:r>
            <a:endParaRPr lang="en-US" sz="1000" dirty="0"/>
          </a:p>
        </p:txBody>
      </p:sp>
      <p:sp>
        <p:nvSpPr>
          <p:cNvPr id="55" name="Shape 47"/>
          <p:cNvSpPr/>
          <p:nvPr/>
        </p:nvSpPr>
        <p:spPr>
          <a:xfrm>
            <a:off x="6752844" y="7684618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48"/>
          <p:cNvSpPr txBox="1"/>
          <p:nvPr/>
        </p:nvSpPr>
        <p:spPr>
          <a:xfrm>
            <a:off x="6905549" y="7616038"/>
            <a:ext cx="257403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기반 로그 분석 및 자동 대응 체계 도입 가능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52805" y="-952805"/>
            <a:ext cx="5715000" cy="57150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905902" y="3524098"/>
            <a:ext cx="4762195" cy="47621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6858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20574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0" y="34290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0" y="48006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0" y="61722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218895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657600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096305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534095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0972800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761695" y="2866644"/>
            <a:ext cx="6553505" cy="685800"/>
          </a:xfrm>
          <a:prstGeom prst="rect">
            <a:avLst/>
          </a:prstGeom>
          <a:noFill/>
          <a:ln w="50800">
            <a:solidFill>
              <a:srgbClr val="22D3EE"/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경청해 주셔서 감사합니다.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프로젝트에 대해 궁금하신 점을 질문해 주세요.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1695" y="4315054"/>
            <a:ext cx="2790749" cy="1238098"/>
          </a:xfrm>
          <a:prstGeom prst="roundRect">
            <a:avLst>
              <a:gd name="adj" fmla="val 6817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l="-9880" r="-9880"/>
          <a:stretch/>
        </p:blipFill>
        <p:spPr>
          <a:xfrm>
            <a:off x="961949" y="4552798"/>
            <a:ext cx="228600" cy="15270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24850" r="-24850"/>
          <a:stretch/>
        </p:blipFill>
        <p:spPr>
          <a:xfrm>
            <a:off x="961949" y="4858207"/>
            <a:ext cx="228600" cy="15270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27265" r="-27265"/>
          <a:stretch/>
        </p:blipFill>
        <p:spPr>
          <a:xfrm>
            <a:off x="961949" y="5162702"/>
            <a:ext cx="228600" cy="15270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4515307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인프라 구축 팀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304849" y="4819802"/>
            <a:ext cx="2162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team_security@project.local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304849" y="5124298"/>
            <a:ext cx="1877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github.com/project-repo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761695" y="886054"/>
            <a:ext cx="2343607" cy="221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2000" dirty="0"/>
          </a:p>
        </p:txBody>
      </p:sp>
      <p:sp>
        <p:nvSpPr>
          <p:cNvPr id="24" name="Text 19"/>
          <p:cNvSpPr txBox="1"/>
          <p:nvPr/>
        </p:nvSpPr>
        <p:spPr>
          <a:xfrm>
            <a:off x="1959559" y="886054"/>
            <a:ext cx="2324405" cy="221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</a:t>
            </a:r>
            <a:endParaRPr lang="en-US" sz="12000" dirty="0"/>
          </a:p>
        </p:txBody>
      </p:sp>
      <p:sp>
        <p:nvSpPr>
          <p:cNvPr id="25" name="Text 20"/>
          <p:cNvSpPr txBox="1"/>
          <p:nvPr/>
        </p:nvSpPr>
        <p:spPr>
          <a:xfrm>
            <a:off x="3138221" y="886054"/>
            <a:ext cx="2153412" cy="221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2000" dirty="0"/>
          </a:p>
        </p:txBody>
      </p:sp>
      <p:sp>
        <p:nvSpPr>
          <p:cNvPr id="26" name="Shape 21"/>
          <p:cNvSpPr/>
          <p:nvPr/>
        </p:nvSpPr>
        <p:spPr>
          <a:xfrm>
            <a:off x="7144207" y="1047902"/>
            <a:ext cx="4286707" cy="4762195"/>
          </a:xfrm>
          <a:prstGeom prst="roundRect">
            <a:avLst>
              <a:gd name="adj" fmla="val 94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241300" dist="1905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8715146" y="961949"/>
            <a:ext cx="1143000" cy="190195"/>
          </a:xfrm>
          <a:prstGeom prst="roundRect">
            <a:avLst>
              <a:gd name="adj" fmla="val 96154"/>
            </a:avLst>
          </a:prstGeom>
          <a:solidFill>
            <a:srgbClr val="38BDF8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3"/>
          <p:cNvSpPr/>
          <p:nvPr/>
        </p:nvSpPr>
        <p:spPr>
          <a:xfrm>
            <a:off x="7438644" y="1781251"/>
            <a:ext cx="3696005" cy="19202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7438644" y="1343254"/>
            <a:ext cx="1791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Discussion Points</a:t>
            </a:r>
            <a:endParaRPr lang="en-US" sz="15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0963656" y="1371600"/>
            <a:ext cx="171907" cy="2286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7438644" y="2104949"/>
            <a:ext cx="75895" cy="75895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7667244" y="2286914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7667244" y="2029054"/>
            <a:ext cx="23381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및 재해 복구(DR) 시나리오 상세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7438644" y="2521915"/>
            <a:ext cx="75895" cy="75895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7667244" y="2703881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0"/>
          <p:cNvSpPr txBox="1"/>
          <p:nvPr/>
        </p:nvSpPr>
        <p:spPr>
          <a:xfrm>
            <a:off x="7667244" y="2446020"/>
            <a:ext cx="25950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오탐(False Positive) 튜닝 과정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7438644" y="2939796"/>
            <a:ext cx="75895" cy="75895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7667244" y="3120847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7667244" y="2862986"/>
            <a:ext cx="18425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OpenVPN 이중화 방안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7438644" y="3356762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5"/>
          <p:cNvSpPr/>
          <p:nvPr/>
        </p:nvSpPr>
        <p:spPr>
          <a:xfrm>
            <a:off x="7667244" y="3518611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6"/>
          <p:cNvSpPr txBox="1"/>
          <p:nvPr/>
        </p:nvSpPr>
        <p:spPr>
          <a:xfrm>
            <a:off x="7667244" y="3279953"/>
            <a:ext cx="5833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Memo...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438644" y="3750869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8"/>
          <p:cNvSpPr/>
          <p:nvPr/>
        </p:nvSpPr>
        <p:spPr>
          <a:xfrm>
            <a:off x="7667244" y="3894430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9"/>
          <p:cNvSpPr/>
          <p:nvPr/>
        </p:nvSpPr>
        <p:spPr>
          <a:xfrm>
            <a:off x="7438644" y="4132174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0"/>
          <p:cNvSpPr/>
          <p:nvPr/>
        </p:nvSpPr>
        <p:spPr>
          <a:xfrm>
            <a:off x="7667244" y="4274820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1"/>
          <p:cNvSpPr/>
          <p:nvPr/>
        </p:nvSpPr>
        <p:spPr>
          <a:xfrm>
            <a:off x="7438644" y="4512564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2"/>
          <p:cNvSpPr/>
          <p:nvPr/>
        </p:nvSpPr>
        <p:spPr>
          <a:xfrm>
            <a:off x="7667244" y="4656125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 r:embed="rId7"/>
          <a:srcRect t="-54" b="-54"/>
          <a:stretch/>
        </p:blipFill>
        <p:spPr>
          <a:xfrm>
            <a:off x="10696651" y="5000854"/>
            <a:ext cx="533095" cy="6099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3443</Words>
  <Application>Microsoft Office PowerPoint</Application>
  <PresentationFormat>와이드스크린</PresentationFormat>
  <Paragraphs>790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Noto Sans KR</vt:lpstr>
      <vt:lpstr>ui-monospace</vt:lpstr>
      <vt:lpstr>맑은 고딕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FullName</cp:lastModifiedBy>
  <cp:revision>14</cp:revision>
  <dcterms:created xsi:type="dcterms:W3CDTF">2026-01-21T11:43:03Z</dcterms:created>
  <dcterms:modified xsi:type="dcterms:W3CDTF">2026-01-29T09:45:45Z</dcterms:modified>
</cp:coreProperties>
</file>
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80" r:id="rId9"/>
    <p:sldId id="266" r:id="rId10"/>
    <p:sldId id="267" r:id="rId11"/>
    <p:sldId id="268" r:id="rId12"/>
    <p:sldId id="275" r:id="rId13"/>
    <p:sldId id="276" r:id="rId14"/>
    <p:sldId id="277" r:id="rId15"/>
    <p:sldId id="278" r:id="rId16"/>
    <p:sldId id="27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285" autoAdjust="0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64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0095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0266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5" Type="http://schemas.openxmlformats.org/officeDocument/2006/relationships/image" Target="../media/image5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9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12" Type="http://schemas.openxmlformats.org/officeDocument/2006/relationships/image" Target="../media/image8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5" Type="http://schemas.openxmlformats.org/officeDocument/2006/relationships/image" Target="../media/image78.png"/><Relationship Id="rId10" Type="http://schemas.openxmlformats.org/officeDocument/2006/relationships/image" Target="../media/image83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32.png"/><Relationship Id="rId7" Type="http://schemas.openxmlformats.org/officeDocument/2006/relationships/image" Target="../media/image8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2.png"/><Relationship Id="rId7" Type="http://schemas.openxmlformats.org/officeDocument/2006/relationships/image" Target="../media/image9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image" Target="../media/image100.pn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7" Type="http://schemas.openxmlformats.org/officeDocument/2006/relationships/image" Target="../media/image10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7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5715000" y="1495044"/>
            <a:ext cx="761695" cy="761695"/>
          </a:xfrm>
          <a:prstGeom prst="roundRect">
            <a:avLst>
              <a:gd name="adj" fmla="val 120048"/>
            </a:avLst>
          </a:prstGeom>
          <a:solidFill>
            <a:srgbClr val="1E3A8A">
              <a:alpha val="50000"/>
            </a:srgbClr>
          </a:solidFill>
          <a:ln w="254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24398" y="1705356"/>
            <a:ext cx="342900" cy="3429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945636" y="2562149"/>
            <a:ext cx="430591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500" b="1" kern="0" spc="-11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인프라 구축</a:t>
            </a:r>
            <a:endParaRPr lang="en-US" sz="4500" dirty="0"/>
          </a:p>
        </p:txBody>
      </p:sp>
      <p:sp>
        <p:nvSpPr>
          <p:cNvPr id="8" name="Text 4"/>
          <p:cNvSpPr txBox="1"/>
          <p:nvPr/>
        </p:nvSpPr>
        <p:spPr>
          <a:xfrm>
            <a:off x="3964838" y="3353105"/>
            <a:ext cx="42675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kern="0" spc="4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보안 아키텍처 설계 및 구현 프로젝트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5524805" y="4190695"/>
            <a:ext cx="1143000" cy="38405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3111703" y="4533595"/>
            <a:ext cx="1209751" cy="371246"/>
          </a:xfrm>
          <a:prstGeom prst="roundRect">
            <a:avLst>
              <a:gd name="adj" fmla="val 246306"/>
            </a:avLst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3273552" y="4653382"/>
            <a:ext cx="114300" cy="13350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414370" y="4619549"/>
            <a:ext cx="7955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7E8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OpenStack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4469587" y="4533595"/>
            <a:ext cx="1086307" cy="371246"/>
          </a:xfrm>
          <a:prstGeom prst="roundRect">
            <a:avLst>
              <a:gd name="adj" fmla="val 246306"/>
            </a:avLst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 l="-1507" r="-1507"/>
          <a:stretch/>
        </p:blipFill>
        <p:spPr>
          <a:xfrm>
            <a:off x="4631436" y="4653382"/>
            <a:ext cx="171907" cy="13350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829861" y="4619549"/>
            <a:ext cx="6144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7E8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pfSense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5702198" y="4533595"/>
            <a:ext cx="857707" cy="371246"/>
          </a:xfrm>
          <a:prstGeom prst="roundRect">
            <a:avLst>
              <a:gd name="adj" fmla="val 246306"/>
            </a:avLst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 l="-1507" r="-1507"/>
          <a:stretch/>
        </p:blipFill>
        <p:spPr>
          <a:xfrm>
            <a:off x="5864047" y="4653382"/>
            <a:ext cx="171907" cy="13350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061558" y="4619549"/>
            <a:ext cx="3858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7E8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</a:t>
            </a:r>
            <a:endParaRPr lang="en-US" sz="1000" dirty="0"/>
          </a:p>
        </p:txBody>
      </p:sp>
      <p:sp>
        <p:nvSpPr>
          <p:cNvPr id="19" name="Shape 12"/>
          <p:cNvSpPr/>
          <p:nvPr/>
        </p:nvSpPr>
        <p:spPr>
          <a:xfrm>
            <a:off x="6708038" y="4533595"/>
            <a:ext cx="1162202" cy="371246"/>
          </a:xfrm>
          <a:prstGeom prst="roundRect">
            <a:avLst>
              <a:gd name="adj" fmla="val 246306"/>
            </a:avLst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870802" y="4653382"/>
            <a:ext cx="133502" cy="13350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7029907" y="4619549"/>
            <a:ext cx="7287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7E8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ELK Stack</a:t>
            </a:r>
            <a:endParaRPr lang="en-US" sz="1000" dirty="0"/>
          </a:p>
        </p:txBody>
      </p:sp>
      <p:sp>
        <p:nvSpPr>
          <p:cNvPr id="22" name="Shape 14"/>
          <p:cNvSpPr/>
          <p:nvPr/>
        </p:nvSpPr>
        <p:spPr>
          <a:xfrm>
            <a:off x="8022946" y="4533595"/>
            <a:ext cx="1067105" cy="371246"/>
          </a:xfrm>
          <a:prstGeom prst="roundRect">
            <a:avLst>
              <a:gd name="adj" fmla="val 246306"/>
            </a:avLst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184794" y="4653382"/>
            <a:ext cx="133502" cy="133502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8343900" y="4619549"/>
            <a:ext cx="6336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7E8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vSphere</a:t>
            </a:r>
            <a:endParaRPr lang="en-US" sz="1000" dirty="0"/>
          </a:p>
        </p:txBody>
      </p:sp>
      <p:sp>
        <p:nvSpPr>
          <p:cNvPr id="25" name="Shape 16"/>
          <p:cNvSpPr/>
          <p:nvPr/>
        </p:nvSpPr>
        <p:spPr>
          <a:xfrm>
            <a:off x="0" y="5629046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7"/>
          <p:cNvSpPr txBox="1"/>
          <p:nvPr/>
        </p:nvSpPr>
        <p:spPr>
          <a:xfrm>
            <a:off x="457200" y="5867705"/>
            <a:ext cx="11859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TEAM</a:t>
            </a:r>
            <a:endParaRPr lang="en-US" sz="1000" dirty="0"/>
          </a:p>
        </p:txBody>
      </p:sp>
      <p:sp>
        <p:nvSpPr>
          <p:cNvPr id="27" name="Text 18"/>
          <p:cNvSpPr txBox="1"/>
          <p:nvPr/>
        </p:nvSpPr>
        <p:spPr>
          <a:xfrm>
            <a:off x="457200" y="6096305"/>
            <a:ext cx="12573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KSL</a:t>
            </a:r>
            <a:endParaRPr lang="en-US" sz="1800" dirty="0"/>
          </a:p>
        </p:txBody>
      </p:sp>
      <p:sp>
        <p:nvSpPr>
          <p:cNvPr id="28" name="Text 19"/>
          <p:cNvSpPr txBox="1"/>
          <p:nvPr/>
        </p:nvSpPr>
        <p:spPr>
          <a:xfrm>
            <a:off x="4648810" y="5905195"/>
            <a:ext cx="3119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MEMBERS</a:t>
            </a:r>
            <a:endParaRPr lang="en-US" sz="1000" dirty="0"/>
          </a:p>
        </p:txBody>
      </p:sp>
      <p:sp>
        <p:nvSpPr>
          <p:cNvPr id="29" name="Text 20"/>
          <p:cNvSpPr txBox="1"/>
          <p:nvPr/>
        </p:nvSpPr>
        <p:spPr>
          <a:xfrm>
            <a:off x="4634179" y="6133795"/>
            <a:ext cx="314827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ko-KR" altLang="en-US" sz="13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김찬혁</a:t>
            </a:r>
            <a:r>
              <a:rPr lang="en-US" altLang="ko-KR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3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송은수</a:t>
            </a:r>
            <a:r>
              <a:rPr lang="ko-KR" alt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이광준</a:t>
            </a:r>
            <a:endParaRPr lang="en-US" sz="1300" dirty="0"/>
          </a:p>
        </p:txBody>
      </p:sp>
      <p:sp>
        <p:nvSpPr>
          <p:cNvPr id="30" name="Text 21"/>
          <p:cNvSpPr txBox="1"/>
          <p:nvPr/>
        </p:nvSpPr>
        <p:spPr>
          <a:xfrm>
            <a:off x="10778033" y="5905195"/>
            <a:ext cx="9573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DATE</a:t>
            </a:r>
            <a:endParaRPr lang="en-US" sz="1000" dirty="0"/>
          </a:p>
        </p:txBody>
      </p:sp>
      <p:sp>
        <p:nvSpPr>
          <p:cNvPr id="31" name="Text 22"/>
          <p:cNvSpPr txBox="1"/>
          <p:nvPr/>
        </p:nvSpPr>
        <p:spPr>
          <a:xfrm>
            <a:off x="10748772" y="6133795"/>
            <a:ext cx="98663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2026.02.02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429500" y="-952805"/>
            <a:ext cx="5715000" cy="5715000"/>
          </a:xfrm>
          <a:prstGeom prst="ellipse">
            <a:avLst/>
          </a:prstGeom>
          <a:solidFill>
            <a:srgbClr val="22D3EE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-476402" y="3524098"/>
            <a:ext cx="3810305" cy="3810305"/>
          </a:xfrm>
          <a:prstGeom prst="ellipse">
            <a:avLst/>
          </a:prstGeom>
          <a:solidFill>
            <a:srgbClr val="22D3EE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71500" y="990295"/>
            <a:ext cx="761695" cy="57607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571500" y="1333195"/>
            <a:ext cx="1117762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인프라 구축 프로젝트 발표 순서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276149"/>
            <a:ext cx="116220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kern="0" spc="-9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목차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71500" y="1867205"/>
            <a:ext cx="5238598" cy="76169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71500" y="1867205"/>
            <a:ext cx="38405" cy="761695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410005" y="2018995"/>
            <a:ext cx="457200" cy="457200"/>
          </a:xfrm>
          <a:prstGeom prst="ellipse">
            <a:avLst/>
          </a:prstGeom>
          <a:solidFill>
            <a:srgbClr val="0E7490"/>
          </a:solidFill>
          <a:ln/>
          <a:effectLst>
            <a:outerShdw blurRad="101600" dist="12700" dir="16200000" algn="bl" rotWithShape="0">
              <a:srgbClr val="22D3EE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48079" y="2157070"/>
            <a:ext cx="181051" cy="181051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2057400" y="2020824"/>
            <a:ext cx="365028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개요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2057400" y="2291486"/>
            <a:ext cx="361645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목표, 범위 및 산출물 정의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381598" y="1867205"/>
            <a:ext cx="5238598" cy="76169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6381598" y="1867205"/>
            <a:ext cx="38405" cy="761695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7220102" y="2018995"/>
            <a:ext cx="457200" cy="457200"/>
          </a:xfrm>
          <a:prstGeom prst="ellipse">
            <a:avLst/>
          </a:prstGeom>
          <a:solidFill>
            <a:srgbClr val="0E7490"/>
          </a:solidFill>
          <a:ln/>
          <a:effectLst>
            <a:outerShdw blurRad="101600" dist="12700" dir="16200000" algn="bl" rotWithShape="0">
              <a:srgbClr val="22D3EE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 l="-1403" r="-1403"/>
          <a:stretch/>
        </p:blipFill>
        <p:spPr>
          <a:xfrm>
            <a:off x="7343546" y="2157070"/>
            <a:ext cx="209398" cy="181051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867498" y="2020824"/>
            <a:ext cx="365028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네트워크 구조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7867498" y="2291486"/>
            <a:ext cx="361645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네트워크 조직도 및 트래픽 흐름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571500" y="2819095"/>
            <a:ext cx="5238598" cy="76169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571500" y="2819095"/>
            <a:ext cx="38405" cy="761695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1"/>
          <p:cNvSpPr/>
          <p:nvPr/>
        </p:nvSpPr>
        <p:spPr>
          <a:xfrm>
            <a:off x="6381598" y="2819095"/>
            <a:ext cx="5238598" cy="76169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2"/>
          <p:cNvSpPr/>
          <p:nvPr/>
        </p:nvSpPr>
        <p:spPr>
          <a:xfrm>
            <a:off x="6381598" y="2819095"/>
            <a:ext cx="38405" cy="761695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3"/>
          <p:cNvSpPr/>
          <p:nvPr/>
        </p:nvSpPr>
        <p:spPr>
          <a:xfrm>
            <a:off x="1410004" y="2959838"/>
            <a:ext cx="457200" cy="457200"/>
          </a:xfrm>
          <a:prstGeom prst="ellipse">
            <a:avLst/>
          </a:prstGeom>
          <a:solidFill>
            <a:srgbClr val="0E7490"/>
          </a:solidFill>
          <a:ln/>
          <a:effectLst>
            <a:outerShdw blurRad="101600" dist="12700" dir="16200000" algn="bl" rotWithShape="0">
              <a:srgbClr val="22D3EE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548079" y="3097912"/>
            <a:ext cx="181051" cy="181051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2057400" y="2961667"/>
            <a:ext cx="365028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pfSense 운영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2057400" y="3232329"/>
            <a:ext cx="361645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Routing, NAT, Suricata IDS/IPS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571500" y="3771900"/>
            <a:ext cx="5238598" cy="76169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7"/>
          <p:cNvSpPr/>
          <p:nvPr/>
        </p:nvSpPr>
        <p:spPr>
          <a:xfrm>
            <a:off x="571500" y="3771900"/>
            <a:ext cx="38405" cy="761695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8"/>
          <p:cNvSpPr/>
          <p:nvPr/>
        </p:nvSpPr>
        <p:spPr>
          <a:xfrm>
            <a:off x="7220103" y="2971800"/>
            <a:ext cx="457200" cy="457200"/>
          </a:xfrm>
          <a:prstGeom prst="ellipse">
            <a:avLst/>
          </a:prstGeom>
          <a:solidFill>
            <a:srgbClr val="0E7490"/>
          </a:solidFill>
          <a:ln/>
          <a:effectLst>
            <a:outerShdw blurRad="101600" dist="12700" dir="16200000" algn="bl" rotWithShape="0">
              <a:srgbClr val="22D3EE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6"/>
          <a:srcRect l="-505" r="-505"/>
          <a:stretch/>
        </p:blipFill>
        <p:spPr>
          <a:xfrm>
            <a:off x="7334403" y="3109874"/>
            <a:ext cx="228600" cy="181051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7867498" y="2973629"/>
            <a:ext cx="365028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 하이브리드 연동</a:t>
            </a:r>
            <a:endParaRPr lang="en-US" sz="1300" dirty="0"/>
          </a:p>
        </p:txBody>
      </p:sp>
      <p:sp>
        <p:nvSpPr>
          <p:cNvPr id="37" name="Text 30"/>
          <p:cNvSpPr txBox="1"/>
          <p:nvPr/>
        </p:nvSpPr>
        <p:spPr>
          <a:xfrm>
            <a:off x="7867498" y="3244291"/>
            <a:ext cx="361645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클라우드 활용 및 OpenVPN 구성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6381598" y="3771900"/>
            <a:ext cx="5238598" cy="76169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2"/>
          <p:cNvSpPr/>
          <p:nvPr/>
        </p:nvSpPr>
        <p:spPr>
          <a:xfrm>
            <a:off x="6381598" y="3771900"/>
            <a:ext cx="38405" cy="761695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3"/>
          <p:cNvSpPr/>
          <p:nvPr/>
        </p:nvSpPr>
        <p:spPr>
          <a:xfrm>
            <a:off x="7220102" y="3924605"/>
            <a:ext cx="457200" cy="457200"/>
          </a:xfrm>
          <a:prstGeom prst="ellipse">
            <a:avLst/>
          </a:prstGeom>
          <a:solidFill>
            <a:srgbClr val="0E7490"/>
          </a:solidFill>
          <a:ln/>
          <a:effectLst>
            <a:outerShdw blurRad="101600" dist="12700" dir="16200000" algn="bl" rotWithShape="0">
              <a:srgbClr val="22D3EE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358177" y="4062679"/>
            <a:ext cx="181051" cy="181051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7867498" y="3926434"/>
            <a:ext cx="365028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ELK 통합 관제</a:t>
            </a:r>
            <a:endParaRPr lang="en-US" sz="1300" dirty="0"/>
          </a:p>
        </p:txBody>
      </p:sp>
      <p:sp>
        <p:nvSpPr>
          <p:cNvPr id="43" name="Text 35"/>
          <p:cNvSpPr txBox="1"/>
          <p:nvPr/>
        </p:nvSpPr>
        <p:spPr>
          <a:xfrm>
            <a:off x="7867498" y="4197096"/>
            <a:ext cx="361645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 수집 파이프라인 및 대시보드</a:t>
            </a:r>
            <a:endParaRPr lang="en-US" sz="900" dirty="0"/>
          </a:p>
        </p:txBody>
      </p:sp>
      <p:sp>
        <p:nvSpPr>
          <p:cNvPr id="44" name="Shape 36"/>
          <p:cNvSpPr/>
          <p:nvPr/>
        </p:nvSpPr>
        <p:spPr>
          <a:xfrm>
            <a:off x="571500" y="4724705"/>
            <a:ext cx="5238598" cy="76169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37"/>
          <p:cNvSpPr/>
          <p:nvPr/>
        </p:nvSpPr>
        <p:spPr>
          <a:xfrm>
            <a:off x="571500" y="4724705"/>
            <a:ext cx="38405" cy="761695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38"/>
          <p:cNvSpPr/>
          <p:nvPr/>
        </p:nvSpPr>
        <p:spPr>
          <a:xfrm>
            <a:off x="1410005" y="4876495"/>
            <a:ext cx="457200" cy="457200"/>
          </a:xfrm>
          <a:prstGeom prst="ellipse">
            <a:avLst/>
          </a:prstGeom>
          <a:solidFill>
            <a:srgbClr val="0E7490"/>
          </a:solidFill>
          <a:ln/>
          <a:effectLst>
            <a:outerShdw blurRad="101600" dist="12700" dir="16200000" algn="bl" rotWithShape="0">
              <a:srgbClr val="22D3EE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548079" y="5014570"/>
            <a:ext cx="181051" cy="181051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2057400" y="4878324"/>
            <a:ext cx="365028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vSphere 백업 전략</a:t>
            </a:r>
            <a:endParaRPr lang="en-US" sz="1300" dirty="0"/>
          </a:p>
        </p:txBody>
      </p:sp>
      <p:sp>
        <p:nvSpPr>
          <p:cNvPr id="49" name="Text 40"/>
          <p:cNvSpPr txBox="1"/>
          <p:nvPr/>
        </p:nvSpPr>
        <p:spPr>
          <a:xfrm>
            <a:off x="2057400" y="5148986"/>
            <a:ext cx="361645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가상머신 스냅샷 및 복구 계획</a:t>
            </a:r>
            <a:endParaRPr lang="en-US" sz="900" dirty="0"/>
          </a:p>
        </p:txBody>
      </p:sp>
      <p:sp>
        <p:nvSpPr>
          <p:cNvPr id="50" name="Shape 41"/>
          <p:cNvSpPr/>
          <p:nvPr/>
        </p:nvSpPr>
        <p:spPr>
          <a:xfrm>
            <a:off x="6381598" y="4724705"/>
            <a:ext cx="5238598" cy="76169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2"/>
          <p:cNvSpPr/>
          <p:nvPr/>
        </p:nvSpPr>
        <p:spPr>
          <a:xfrm>
            <a:off x="6381598" y="4724705"/>
            <a:ext cx="38405" cy="761695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43"/>
          <p:cNvSpPr/>
          <p:nvPr/>
        </p:nvSpPr>
        <p:spPr>
          <a:xfrm>
            <a:off x="7220102" y="4876495"/>
            <a:ext cx="457200" cy="457200"/>
          </a:xfrm>
          <a:prstGeom prst="ellipse">
            <a:avLst/>
          </a:prstGeom>
          <a:solidFill>
            <a:srgbClr val="0E7490"/>
          </a:solidFill>
          <a:ln/>
          <a:effectLst>
            <a:outerShdw blurRad="101600" dist="12700" dir="16200000" algn="bl" rotWithShape="0">
              <a:srgbClr val="22D3EE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7" descr="preencoded.png"/>
          <p:cNvPicPr>
            <a:picLocks noChangeAspect="1"/>
          </p:cNvPicPr>
          <p:nvPr/>
        </p:nvPicPr>
        <p:blipFill>
          <a:blip r:embed="rId9"/>
          <a:srcRect l="-1082" r="-1082"/>
          <a:stretch/>
        </p:blipFill>
        <p:spPr>
          <a:xfrm>
            <a:off x="7367321" y="5014570"/>
            <a:ext cx="161849" cy="181051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7867498" y="4878324"/>
            <a:ext cx="365028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시스템별 보안 설정</a:t>
            </a:r>
            <a:endParaRPr lang="en-US" sz="1300" dirty="0"/>
          </a:p>
        </p:txBody>
      </p:sp>
      <p:sp>
        <p:nvSpPr>
          <p:cNvPr id="55" name="Text 45"/>
          <p:cNvSpPr txBox="1"/>
          <p:nvPr/>
        </p:nvSpPr>
        <p:spPr>
          <a:xfrm>
            <a:off x="7867498" y="5148986"/>
            <a:ext cx="361645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구성요소별 보안 하드닝(Hardening)</a:t>
            </a:r>
            <a:endParaRPr lang="en-US" sz="900" dirty="0"/>
          </a:p>
        </p:txBody>
      </p:sp>
      <p:sp>
        <p:nvSpPr>
          <p:cNvPr id="56" name="Shape 46"/>
          <p:cNvSpPr/>
          <p:nvPr/>
        </p:nvSpPr>
        <p:spPr>
          <a:xfrm>
            <a:off x="571500" y="5676595"/>
            <a:ext cx="5238598" cy="76169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47"/>
          <p:cNvSpPr/>
          <p:nvPr/>
        </p:nvSpPr>
        <p:spPr>
          <a:xfrm>
            <a:off x="571500" y="5676595"/>
            <a:ext cx="38405" cy="761695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48"/>
          <p:cNvSpPr/>
          <p:nvPr/>
        </p:nvSpPr>
        <p:spPr>
          <a:xfrm>
            <a:off x="1410005" y="5829300"/>
            <a:ext cx="457200" cy="457200"/>
          </a:xfrm>
          <a:prstGeom prst="ellipse">
            <a:avLst/>
          </a:prstGeom>
          <a:solidFill>
            <a:srgbClr val="0E7490"/>
          </a:solidFill>
          <a:ln/>
          <a:effectLst>
            <a:outerShdw blurRad="101600" dist="12700" dir="16200000" algn="bl" rotWithShape="0">
              <a:srgbClr val="22D3EE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8" descr="preencoded.png"/>
          <p:cNvPicPr>
            <a:picLocks noChangeAspect="1"/>
          </p:cNvPicPr>
          <p:nvPr/>
        </p:nvPicPr>
        <p:blipFill>
          <a:blip r:embed="rId10"/>
          <a:srcRect l="-1082" r="-1082"/>
          <a:stretch/>
        </p:blipFill>
        <p:spPr>
          <a:xfrm>
            <a:off x="1557223" y="5967374"/>
            <a:ext cx="161849" cy="181051"/>
          </a:xfrm>
          <a:prstGeom prst="rect">
            <a:avLst/>
          </a:prstGeom>
        </p:spPr>
      </p:pic>
      <p:sp>
        <p:nvSpPr>
          <p:cNvPr id="60" name="Text 49"/>
          <p:cNvSpPr txBox="1"/>
          <p:nvPr/>
        </p:nvSpPr>
        <p:spPr>
          <a:xfrm>
            <a:off x="2057400" y="5831129"/>
            <a:ext cx="365028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공격 시나리오 &amp; 대응</a:t>
            </a:r>
            <a:endParaRPr lang="en-US" sz="1300" dirty="0"/>
          </a:p>
        </p:txBody>
      </p:sp>
      <p:sp>
        <p:nvSpPr>
          <p:cNvPr id="61" name="Text 50"/>
          <p:cNvSpPr txBox="1"/>
          <p:nvPr/>
        </p:nvSpPr>
        <p:spPr>
          <a:xfrm>
            <a:off x="2057400" y="6101791"/>
            <a:ext cx="361645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웹쉘 공격 및 계정 탈취 시도 실습</a:t>
            </a:r>
            <a:endParaRPr lang="en-US" sz="900" dirty="0"/>
          </a:p>
        </p:txBody>
      </p:sp>
      <p:sp>
        <p:nvSpPr>
          <p:cNvPr id="62" name="Shape 51"/>
          <p:cNvSpPr/>
          <p:nvPr/>
        </p:nvSpPr>
        <p:spPr>
          <a:xfrm>
            <a:off x="6381598" y="5676595"/>
            <a:ext cx="5238598" cy="76169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52"/>
          <p:cNvSpPr/>
          <p:nvPr/>
        </p:nvSpPr>
        <p:spPr>
          <a:xfrm>
            <a:off x="6381598" y="5676595"/>
            <a:ext cx="38405" cy="761695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53"/>
          <p:cNvSpPr/>
          <p:nvPr/>
        </p:nvSpPr>
        <p:spPr>
          <a:xfrm>
            <a:off x="7220102" y="5829300"/>
            <a:ext cx="457200" cy="457200"/>
          </a:xfrm>
          <a:prstGeom prst="ellipse">
            <a:avLst/>
          </a:prstGeom>
          <a:solidFill>
            <a:srgbClr val="0E7490"/>
          </a:solidFill>
          <a:ln/>
          <a:effectLst>
            <a:outerShdw blurRad="101600" dist="12700" dir="16200000" algn="bl" rotWithShape="0">
              <a:srgbClr val="22D3EE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5" name="Image 9" descr="preencoded.png"/>
          <p:cNvPicPr>
            <a:picLocks noChangeAspect="1"/>
          </p:cNvPicPr>
          <p:nvPr/>
        </p:nvPicPr>
        <p:blipFill>
          <a:blip r:embed="rId11"/>
          <a:srcRect l="-505" r="-505"/>
          <a:stretch/>
        </p:blipFill>
        <p:spPr>
          <a:xfrm>
            <a:off x="7334402" y="5967374"/>
            <a:ext cx="228600" cy="181051"/>
          </a:xfrm>
          <a:prstGeom prst="rect">
            <a:avLst/>
          </a:prstGeom>
        </p:spPr>
      </p:pic>
      <p:sp>
        <p:nvSpPr>
          <p:cNvPr id="66" name="Text 54"/>
          <p:cNvSpPr txBox="1"/>
          <p:nvPr/>
        </p:nvSpPr>
        <p:spPr>
          <a:xfrm>
            <a:off x="7867498" y="5831129"/>
            <a:ext cx="365028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 및 Q&amp;A</a:t>
            </a:r>
            <a:endParaRPr lang="en-US" sz="1300" dirty="0"/>
          </a:p>
        </p:txBody>
      </p:sp>
      <p:sp>
        <p:nvSpPr>
          <p:cNvPr id="67" name="Text 55"/>
          <p:cNvSpPr txBox="1"/>
          <p:nvPr/>
        </p:nvSpPr>
        <p:spPr>
          <a:xfrm>
            <a:off x="7867498" y="6101791"/>
            <a:ext cx="361645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한계, 의의 및 질의응답</a:t>
            </a:r>
            <a:endParaRPr lang="en-US" sz="900" dirty="0"/>
          </a:p>
        </p:txBody>
      </p:sp>
      <p:sp>
        <p:nvSpPr>
          <p:cNvPr id="68" name="Text 56"/>
          <p:cNvSpPr txBox="1"/>
          <p:nvPr/>
        </p:nvSpPr>
        <p:spPr>
          <a:xfrm>
            <a:off x="769010" y="2076602"/>
            <a:ext cx="4572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2D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800" dirty="0"/>
          </a:p>
        </p:txBody>
      </p:sp>
      <p:sp>
        <p:nvSpPr>
          <p:cNvPr id="69" name="Text 57"/>
          <p:cNvSpPr txBox="1"/>
          <p:nvPr/>
        </p:nvSpPr>
        <p:spPr>
          <a:xfrm>
            <a:off x="6579108" y="2076602"/>
            <a:ext cx="4572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2D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800" dirty="0"/>
          </a:p>
        </p:txBody>
      </p:sp>
      <p:sp>
        <p:nvSpPr>
          <p:cNvPr id="70" name="Text 58"/>
          <p:cNvSpPr txBox="1"/>
          <p:nvPr/>
        </p:nvSpPr>
        <p:spPr>
          <a:xfrm>
            <a:off x="769010" y="3029407"/>
            <a:ext cx="4572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2D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800" dirty="0"/>
          </a:p>
        </p:txBody>
      </p:sp>
      <p:sp>
        <p:nvSpPr>
          <p:cNvPr id="71" name="Text 59"/>
          <p:cNvSpPr txBox="1"/>
          <p:nvPr/>
        </p:nvSpPr>
        <p:spPr>
          <a:xfrm>
            <a:off x="6579108" y="3029407"/>
            <a:ext cx="4572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2D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800" dirty="0"/>
          </a:p>
        </p:txBody>
      </p:sp>
      <p:sp>
        <p:nvSpPr>
          <p:cNvPr id="72" name="Text 60"/>
          <p:cNvSpPr txBox="1"/>
          <p:nvPr/>
        </p:nvSpPr>
        <p:spPr>
          <a:xfrm>
            <a:off x="769010" y="3981298"/>
            <a:ext cx="4572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2D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800" dirty="0"/>
          </a:p>
        </p:txBody>
      </p:sp>
      <p:sp>
        <p:nvSpPr>
          <p:cNvPr id="73" name="Text 61"/>
          <p:cNvSpPr txBox="1"/>
          <p:nvPr/>
        </p:nvSpPr>
        <p:spPr>
          <a:xfrm>
            <a:off x="6579108" y="3981298"/>
            <a:ext cx="4572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2D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800" dirty="0"/>
          </a:p>
        </p:txBody>
      </p:sp>
      <p:sp>
        <p:nvSpPr>
          <p:cNvPr id="74" name="Text 62"/>
          <p:cNvSpPr txBox="1"/>
          <p:nvPr/>
        </p:nvSpPr>
        <p:spPr>
          <a:xfrm>
            <a:off x="769010" y="4934102"/>
            <a:ext cx="4572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2D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800" dirty="0"/>
          </a:p>
        </p:txBody>
      </p:sp>
      <p:sp>
        <p:nvSpPr>
          <p:cNvPr id="75" name="Text 63"/>
          <p:cNvSpPr txBox="1"/>
          <p:nvPr/>
        </p:nvSpPr>
        <p:spPr>
          <a:xfrm>
            <a:off x="6579108" y="4934102"/>
            <a:ext cx="4572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2D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1800" dirty="0"/>
          </a:p>
        </p:txBody>
      </p:sp>
      <p:sp>
        <p:nvSpPr>
          <p:cNvPr id="76" name="Text 64"/>
          <p:cNvSpPr txBox="1"/>
          <p:nvPr/>
        </p:nvSpPr>
        <p:spPr>
          <a:xfrm>
            <a:off x="769010" y="5886907"/>
            <a:ext cx="4572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2D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1800" dirty="0"/>
          </a:p>
        </p:txBody>
      </p:sp>
      <p:sp>
        <p:nvSpPr>
          <p:cNvPr id="77" name="Text 65"/>
          <p:cNvSpPr txBox="1"/>
          <p:nvPr/>
        </p:nvSpPr>
        <p:spPr>
          <a:xfrm>
            <a:off x="6579108" y="5886907"/>
            <a:ext cx="4572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2D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1410004" y="3916823"/>
            <a:ext cx="457200" cy="457200"/>
          </a:xfrm>
          <a:prstGeom prst="ellipse">
            <a:avLst/>
          </a:prstGeom>
          <a:solidFill>
            <a:srgbClr val="0E7490"/>
          </a:solidFill>
          <a:ln/>
          <a:effectLst>
            <a:outerShdw blurRad="101600" dist="12700" dir="16200000" algn="bl" rotWithShape="0">
              <a:srgbClr val="22D3EE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12"/>
          <a:srcRect l="-1082" r="-1082"/>
          <a:stretch/>
        </p:blipFill>
        <p:spPr>
          <a:xfrm>
            <a:off x="1557222" y="4054897"/>
            <a:ext cx="161849" cy="181051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2057399" y="3918652"/>
            <a:ext cx="365028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OpenStack 구성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2057399" y="4189314"/>
            <a:ext cx="361645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Controller, Compute, Network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571500" y="838505"/>
            <a:ext cx="1117762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보안 인프라 구축 프로젝트의 방향성 정의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71500" y="1257300"/>
            <a:ext cx="571500" cy="38405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71500" y="1752905"/>
            <a:ext cx="5296205" cy="1752905"/>
          </a:xfrm>
          <a:prstGeom prst="roundRect">
            <a:avLst>
              <a:gd name="adj" fmla="val 2268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933602" y="2104949"/>
            <a:ext cx="133502" cy="1527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9244" y="2523744"/>
            <a:ext cx="4934102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클라우드(AWS)와 온프레미스(OpenStack) 환경을 아우르는</a:t>
            </a: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하이브리드 보안 인프라</a:t>
            </a: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설계하고, 실전적인</a:t>
            </a: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공격 시나리오 검증</a:t>
            </a: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통해 안전하고 가시성 높은 관제 체계를 구현합니다.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56745" y="3714293"/>
            <a:ext cx="5296205" cy="3019348"/>
          </a:xfrm>
          <a:prstGeom prst="roundRect">
            <a:avLst>
              <a:gd name="adj" fmla="val 328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23544" y="4086454"/>
            <a:ext cx="152705" cy="152705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961949" y="4562856"/>
            <a:ext cx="114300" cy="13350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90549" y="4505249"/>
            <a:ext cx="2981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OpenStack 기반 온프레미스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1190549" y="4733849"/>
            <a:ext cx="29672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Compute, Network, Storage 구성 및 서비스 배포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961949" y="5095951"/>
            <a:ext cx="114300" cy="13350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90549" y="5038344"/>
            <a:ext cx="2791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pfSense 보안 게이트웨이</a:t>
            </a:r>
            <a:endParaRPr lang="en-US" sz="1200" dirty="0"/>
          </a:p>
        </p:txBody>
      </p:sp>
      <p:sp>
        <p:nvSpPr>
          <p:cNvPr id="15" name="Text 9"/>
          <p:cNvSpPr txBox="1"/>
          <p:nvPr/>
        </p:nvSpPr>
        <p:spPr>
          <a:xfrm>
            <a:off x="1190549" y="5266944"/>
            <a:ext cx="27770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방화벽 정책, NAT, Suricata IDS/IPS, VPN 연동</a:t>
            </a:r>
            <a:endParaRPr lang="en-US" sz="10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961949" y="5629046"/>
            <a:ext cx="114300" cy="133502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190549" y="5572354"/>
            <a:ext cx="2686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 하이브리드 확장</a:t>
            </a:r>
            <a:endParaRPr lang="en-US" sz="1200" dirty="0"/>
          </a:p>
        </p:txBody>
      </p:sp>
      <p:sp>
        <p:nvSpPr>
          <p:cNvPr id="18" name="Text 11"/>
          <p:cNvSpPr txBox="1"/>
          <p:nvPr/>
        </p:nvSpPr>
        <p:spPr>
          <a:xfrm>
            <a:off x="1190549" y="5800954"/>
            <a:ext cx="26718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OpenVPN 서버 구축 및 관리망 접근 경로 확보</a:t>
            </a:r>
            <a:endParaRPr lang="en-US" sz="10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961949" y="6163056"/>
            <a:ext cx="114300" cy="133502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190549" y="6105449"/>
            <a:ext cx="27532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ELK 보안 관제 &amp; vSphere 백업</a:t>
            </a:r>
            <a:endParaRPr lang="en-US" sz="1200" dirty="0"/>
          </a:p>
        </p:txBody>
      </p:sp>
      <p:sp>
        <p:nvSpPr>
          <p:cNvPr id="21" name="Text 13"/>
          <p:cNvSpPr txBox="1"/>
          <p:nvPr/>
        </p:nvSpPr>
        <p:spPr>
          <a:xfrm>
            <a:off x="1190549" y="6334049"/>
            <a:ext cx="27386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로그 수집, 대시보드 시각화 및 시스템 백업</a:t>
            </a:r>
            <a:endParaRPr lang="en-US" sz="1000" dirty="0"/>
          </a:p>
        </p:txBody>
      </p:sp>
      <p:sp>
        <p:nvSpPr>
          <p:cNvPr id="58" name="Text 47"/>
          <p:cNvSpPr txBox="1"/>
          <p:nvPr/>
        </p:nvSpPr>
        <p:spPr>
          <a:xfrm>
            <a:off x="571500" y="323698"/>
            <a:ext cx="32004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목표와 범위</a:t>
            </a:r>
            <a:endParaRPr lang="en-US" sz="2700" dirty="0"/>
          </a:p>
        </p:txBody>
      </p:sp>
      <p:sp>
        <p:nvSpPr>
          <p:cNvPr id="59" name="Text 48"/>
          <p:cNvSpPr txBox="1"/>
          <p:nvPr/>
        </p:nvSpPr>
        <p:spPr>
          <a:xfrm>
            <a:off x="1304849" y="2038198"/>
            <a:ext cx="12481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목표</a:t>
            </a:r>
            <a:endParaRPr lang="en-US" sz="1500" dirty="0"/>
          </a:p>
        </p:txBody>
      </p:sp>
      <p:sp>
        <p:nvSpPr>
          <p:cNvPr id="60" name="Text 49"/>
          <p:cNvSpPr txBox="1"/>
          <p:nvPr/>
        </p:nvSpPr>
        <p:spPr>
          <a:xfrm>
            <a:off x="1304849" y="4019702"/>
            <a:ext cx="16669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구축 범위 (Scope)</a:t>
            </a:r>
            <a:endParaRPr lang="en-US" sz="1500" dirty="0"/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17C2E719-2785-FF00-1A7F-943B476279CE}"/>
              </a:ext>
            </a:extLst>
          </p:cNvPr>
          <p:cNvGrpSpPr/>
          <p:nvPr/>
        </p:nvGrpSpPr>
        <p:grpSpPr>
          <a:xfrm>
            <a:off x="6324905" y="1752905"/>
            <a:ext cx="5310350" cy="1550121"/>
            <a:chOff x="6324905" y="1752905"/>
            <a:chExt cx="5296204" cy="1904695"/>
          </a:xfrm>
        </p:grpSpPr>
        <p:sp>
          <p:nvSpPr>
            <p:cNvPr id="22" name="Shape 14"/>
            <p:cNvSpPr/>
            <p:nvPr/>
          </p:nvSpPr>
          <p:spPr>
            <a:xfrm>
              <a:off x="6324905" y="1752905"/>
              <a:ext cx="2572207" cy="875995"/>
            </a:xfrm>
            <a:prstGeom prst="roundRect">
              <a:avLst>
                <a:gd name="adj" fmla="val 9077"/>
              </a:avLst>
            </a:prstGeom>
            <a:solidFill>
              <a:srgbClr val="1E293B">
                <a:alpha val="6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 15"/>
            <p:cNvSpPr txBox="1"/>
            <p:nvPr/>
          </p:nvSpPr>
          <p:spPr>
            <a:xfrm>
              <a:off x="6429146" y="2238451"/>
              <a:ext cx="236281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네트워크 조직도</a:t>
              </a:r>
              <a:endParaRPr lang="en-US" sz="1200" dirty="0"/>
            </a:p>
          </p:txBody>
        </p:sp>
        <p:sp>
          <p:nvSpPr>
            <p:cNvPr id="24" name="Shape 16"/>
            <p:cNvSpPr/>
            <p:nvPr/>
          </p:nvSpPr>
          <p:spPr>
            <a:xfrm>
              <a:off x="9048902" y="1752905"/>
              <a:ext cx="2572207" cy="875995"/>
            </a:xfrm>
            <a:prstGeom prst="roundRect">
              <a:avLst>
                <a:gd name="adj" fmla="val 9077"/>
              </a:avLst>
            </a:prstGeom>
            <a:solidFill>
              <a:srgbClr val="1E293B">
                <a:alpha val="6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 17"/>
            <p:cNvSpPr txBox="1"/>
            <p:nvPr/>
          </p:nvSpPr>
          <p:spPr>
            <a:xfrm>
              <a:off x="9153144" y="2238451"/>
              <a:ext cx="236281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구성 문서</a:t>
              </a:r>
              <a:endParaRPr lang="en-US" sz="1200" dirty="0"/>
            </a:p>
          </p:txBody>
        </p:sp>
        <p:sp>
          <p:nvSpPr>
            <p:cNvPr id="26" name="Shape 18"/>
            <p:cNvSpPr/>
            <p:nvPr/>
          </p:nvSpPr>
          <p:spPr>
            <a:xfrm>
              <a:off x="6324905" y="2781605"/>
              <a:ext cx="2572207" cy="875995"/>
            </a:xfrm>
            <a:prstGeom prst="roundRect">
              <a:avLst>
                <a:gd name="adj" fmla="val 9077"/>
              </a:avLst>
            </a:prstGeom>
            <a:solidFill>
              <a:srgbClr val="1E293B">
                <a:alpha val="6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19"/>
            <p:cNvSpPr txBox="1"/>
            <p:nvPr/>
          </p:nvSpPr>
          <p:spPr>
            <a:xfrm>
              <a:off x="6429146" y="3267151"/>
              <a:ext cx="236281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보안 정책서</a:t>
              </a:r>
              <a:endParaRPr lang="en-US" sz="1200" dirty="0"/>
            </a:p>
          </p:txBody>
        </p:sp>
        <p:sp>
          <p:nvSpPr>
            <p:cNvPr id="28" name="Shape 20"/>
            <p:cNvSpPr/>
            <p:nvPr/>
          </p:nvSpPr>
          <p:spPr>
            <a:xfrm>
              <a:off x="9048902" y="2781605"/>
              <a:ext cx="2572207" cy="875995"/>
            </a:xfrm>
            <a:prstGeom prst="roundRect">
              <a:avLst>
                <a:gd name="adj" fmla="val 9077"/>
              </a:avLst>
            </a:prstGeom>
            <a:solidFill>
              <a:srgbClr val="1E293B">
                <a:alpha val="6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Text 21"/>
            <p:cNvSpPr txBox="1"/>
            <p:nvPr/>
          </p:nvSpPr>
          <p:spPr>
            <a:xfrm>
              <a:off x="9153144" y="3267151"/>
              <a:ext cx="236281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공격/탐지 로그</a:t>
              </a:r>
              <a:endParaRPr lang="en-US" sz="1200" dirty="0"/>
            </a:p>
          </p:txBody>
        </p:sp>
        <p:pic>
          <p:nvPicPr>
            <p:cNvPr id="61" name="Image 9" descr="preencoded.png"/>
            <p:cNvPicPr>
              <a:picLocks noChangeAspect="1"/>
            </p:cNvPicPr>
            <p:nvPr/>
          </p:nvPicPr>
          <p:blipFill>
            <a:blip r:embed="rId6"/>
            <a:srcRect t="-45" b="-45"/>
            <a:stretch/>
          </p:blipFill>
          <p:spPr>
            <a:xfrm>
              <a:off x="7481621" y="1914754"/>
              <a:ext cx="256946" cy="228600"/>
            </a:xfrm>
            <a:prstGeom prst="rect">
              <a:avLst/>
            </a:prstGeom>
          </p:spPr>
        </p:pic>
        <p:pic>
          <p:nvPicPr>
            <p:cNvPr id="62" name="Image 10" descr="preencoded.png"/>
            <p:cNvPicPr>
              <a:picLocks noChangeAspect="1"/>
            </p:cNvPicPr>
            <p:nvPr/>
          </p:nvPicPr>
          <p:blipFill>
            <a:blip r:embed="rId7"/>
            <a:srcRect l="-133" r="-133"/>
            <a:stretch/>
          </p:blipFill>
          <p:spPr>
            <a:xfrm>
              <a:off x="10248595" y="1914754"/>
              <a:ext cx="171907" cy="228600"/>
            </a:xfrm>
            <a:prstGeom prst="rect">
              <a:avLst/>
            </a:prstGeom>
          </p:spPr>
        </p:pic>
        <p:pic>
          <p:nvPicPr>
            <p:cNvPr id="63" name="Image 11" descr="preencoded.png"/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7496251" y="2943454"/>
              <a:ext cx="228600" cy="228600"/>
            </a:xfrm>
            <a:prstGeom prst="rect">
              <a:avLst/>
            </a:prstGeom>
          </p:spPr>
        </p:pic>
        <p:pic>
          <p:nvPicPr>
            <p:cNvPr id="64" name="Image 12" descr="preencoded.png"/>
            <p:cNvPicPr>
              <a:picLocks noChangeAspect="1"/>
            </p:cNvPicPr>
            <p:nvPr/>
          </p:nvPicPr>
          <p:blipFill>
            <a:blip r:embed="rId9"/>
            <a:srcRect t="-45" b="-45"/>
            <a:stretch/>
          </p:blipFill>
          <p:spPr>
            <a:xfrm>
              <a:off x="10205618" y="2943454"/>
              <a:ext cx="256946" cy="228600"/>
            </a:xfrm>
            <a:prstGeom prst="rect">
              <a:avLst/>
            </a:prstGeom>
          </p:spPr>
        </p:pic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1461DEF3-5CD5-8866-485C-3C7C2F72D374}"/>
              </a:ext>
            </a:extLst>
          </p:cNvPr>
          <p:cNvGrpSpPr/>
          <p:nvPr/>
        </p:nvGrpSpPr>
        <p:grpSpPr>
          <a:xfrm>
            <a:off x="6324447" y="3434746"/>
            <a:ext cx="5310808" cy="3298895"/>
            <a:chOff x="6324447" y="4028180"/>
            <a:chExt cx="5296205" cy="4457700"/>
          </a:xfrm>
        </p:grpSpPr>
        <p:sp>
          <p:nvSpPr>
            <p:cNvPr id="30" name="Shape 22"/>
            <p:cNvSpPr/>
            <p:nvPr/>
          </p:nvSpPr>
          <p:spPr>
            <a:xfrm>
              <a:off x="6324447" y="4028180"/>
              <a:ext cx="5296205" cy="4457700"/>
            </a:xfrm>
            <a:prstGeom prst="roundRect">
              <a:avLst>
                <a:gd name="adj" fmla="val 351"/>
              </a:avLst>
            </a:prstGeom>
            <a:solidFill>
              <a:srgbClr val="1E293B">
                <a:alpha val="6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Shape 23"/>
            <p:cNvSpPr/>
            <p:nvPr/>
          </p:nvSpPr>
          <p:spPr>
            <a:xfrm>
              <a:off x="6562649" y="4543654"/>
              <a:ext cx="1447495" cy="437998"/>
            </a:xfrm>
            <a:prstGeom prst="rect">
              <a:avLst/>
            </a:prstGeom>
            <a:solidFill>
              <a:srgbClr val="0F172A">
                <a:alpha val="8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Shape 24"/>
            <p:cNvSpPr/>
            <p:nvPr/>
          </p:nvSpPr>
          <p:spPr>
            <a:xfrm>
              <a:off x="6562649" y="4962449"/>
              <a:ext cx="1447495" cy="19202"/>
            </a:xfrm>
            <a:prstGeom prst="rect">
              <a:avLst/>
            </a:prstGeom>
            <a:solidFill>
              <a:srgbClr val="334155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" name="Shape 25"/>
            <p:cNvSpPr/>
            <p:nvPr/>
          </p:nvSpPr>
          <p:spPr>
            <a:xfrm>
              <a:off x="8010894" y="4543652"/>
              <a:ext cx="1695298" cy="437998"/>
            </a:xfrm>
            <a:prstGeom prst="rect">
              <a:avLst/>
            </a:prstGeom>
            <a:solidFill>
              <a:srgbClr val="0F172A">
                <a:alpha val="8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" name="Shape 26"/>
            <p:cNvSpPr/>
            <p:nvPr/>
          </p:nvSpPr>
          <p:spPr>
            <a:xfrm>
              <a:off x="8008315" y="4962449"/>
              <a:ext cx="1695298" cy="19202"/>
            </a:xfrm>
            <a:prstGeom prst="rect">
              <a:avLst/>
            </a:prstGeom>
            <a:solidFill>
              <a:srgbClr val="334155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Shape 27"/>
            <p:cNvSpPr/>
            <p:nvPr/>
          </p:nvSpPr>
          <p:spPr>
            <a:xfrm>
              <a:off x="9695383" y="4543654"/>
              <a:ext cx="1695298" cy="437998"/>
            </a:xfrm>
            <a:prstGeom prst="rect">
              <a:avLst/>
            </a:prstGeom>
            <a:solidFill>
              <a:srgbClr val="0F172A">
                <a:alpha val="8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Shape 28"/>
            <p:cNvSpPr/>
            <p:nvPr/>
          </p:nvSpPr>
          <p:spPr>
            <a:xfrm>
              <a:off x="9695383" y="4962449"/>
              <a:ext cx="1695298" cy="19202"/>
            </a:xfrm>
            <a:prstGeom prst="rect">
              <a:avLst/>
            </a:prstGeom>
            <a:solidFill>
              <a:srgbClr val="334155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Shape 29"/>
            <p:cNvSpPr/>
            <p:nvPr/>
          </p:nvSpPr>
          <p:spPr>
            <a:xfrm>
              <a:off x="6562649" y="4981651"/>
              <a:ext cx="1447495" cy="428854"/>
            </a:xfrm>
            <a:prstGeom prst="rect">
              <a:avLst/>
            </a:prstGeom>
            <a:solidFill>
              <a:srgbClr val="1E293B">
                <a:alpha val="4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Shape 30"/>
            <p:cNvSpPr/>
            <p:nvPr/>
          </p:nvSpPr>
          <p:spPr>
            <a:xfrm>
              <a:off x="6562649" y="5401361"/>
              <a:ext cx="1447495" cy="9144"/>
            </a:xfrm>
            <a:prstGeom prst="rect">
              <a:avLst/>
            </a:prstGeom>
            <a:solidFill>
              <a:srgbClr val="334155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Shape 31"/>
            <p:cNvSpPr/>
            <p:nvPr/>
          </p:nvSpPr>
          <p:spPr>
            <a:xfrm>
              <a:off x="8008315" y="5401361"/>
              <a:ext cx="1695298" cy="9144"/>
            </a:xfrm>
            <a:prstGeom prst="rect">
              <a:avLst/>
            </a:prstGeom>
            <a:solidFill>
              <a:srgbClr val="334155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Shape 32"/>
            <p:cNvSpPr/>
            <p:nvPr/>
          </p:nvSpPr>
          <p:spPr>
            <a:xfrm>
              <a:off x="9695383" y="5401361"/>
              <a:ext cx="1695298" cy="9144"/>
            </a:xfrm>
            <a:prstGeom prst="rect">
              <a:avLst/>
            </a:prstGeom>
            <a:solidFill>
              <a:srgbClr val="334155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Shape 33"/>
            <p:cNvSpPr/>
            <p:nvPr/>
          </p:nvSpPr>
          <p:spPr>
            <a:xfrm>
              <a:off x="6562649" y="5410505"/>
              <a:ext cx="1447495" cy="619049"/>
            </a:xfrm>
            <a:prstGeom prst="rect">
              <a:avLst/>
            </a:prstGeom>
            <a:solidFill>
              <a:srgbClr val="1E293B">
                <a:alpha val="4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" name="Shape 34"/>
            <p:cNvSpPr/>
            <p:nvPr/>
          </p:nvSpPr>
          <p:spPr>
            <a:xfrm>
              <a:off x="6562649" y="6020410"/>
              <a:ext cx="1447495" cy="9144"/>
            </a:xfrm>
            <a:prstGeom prst="rect">
              <a:avLst/>
            </a:prstGeom>
            <a:solidFill>
              <a:srgbClr val="334155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3" name="Shape 35"/>
            <p:cNvSpPr/>
            <p:nvPr/>
          </p:nvSpPr>
          <p:spPr>
            <a:xfrm>
              <a:off x="8008315" y="6020410"/>
              <a:ext cx="1695298" cy="9144"/>
            </a:xfrm>
            <a:prstGeom prst="rect">
              <a:avLst/>
            </a:prstGeom>
            <a:solidFill>
              <a:srgbClr val="334155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4" name="Shape 36"/>
            <p:cNvSpPr/>
            <p:nvPr/>
          </p:nvSpPr>
          <p:spPr>
            <a:xfrm>
              <a:off x="9695383" y="6020410"/>
              <a:ext cx="1695298" cy="9144"/>
            </a:xfrm>
            <a:prstGeom prst="rect">
              <a:avLst/>
            </a:prstGeom>
            <a:solidFill>
              <a:srgbClr val="334155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Shape 37"/>
            <p:cNvSpPr/>
            <p:nvPr/>
          </p:nvSpPr>
          <p:spPr>
            <a:xfrm>
              <a:off x="6562649" y="6029554"/>
              <a:ext cx="1447495" cy="619049"/>
            </a:xfrm>
            <a:prstGeom prst="rect">
              <a:avLst/>
            </a:prstGeom>
            <a:solidFill>
              <a:srgbClr val="1E293B">
                <a:alpha val="4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" name="Shape 38"/>
            <p:cNvSpPr/>
            <p:nvPr/>
          </p:nvSpPr>
          <p:spPr>
            <a:xfrm>
              <a:off x="6562649" y="6639458"/>
              <a:ext cx="1447495" cy="9144"/>
            </a:xfrm>
            <a:prstGeom prst="rect">
              <a:avLst/>
            </a:prstGeom>
            <a:solidFill>
              <a:srgbClr val="334155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7" name="Shape 39"/>
            <p:cNvSpPr/>
            <p:nvPr/>
          </p:nvSpPr>
          <p:spPr>
            <a:xfrm>
              <a:off x="8008315" y="6639458"/>
              <a:ext cx="1695298" cy="9144"/>
            </a:xfrm>
            <a:prstGeom prst="rect">
              <a:avLst/>
            </a:prstGeom>
            <a:solidFill>
              <a:srgbClr val="334155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8" name="Shape 40"/>
            <p:cNvSpPr/>
            <p:nvPr/>
          </p:nvSpPr>
          <p:spPr>
            <a:xfrm>
              <a:off x="9695383" y="6639458"/>
              <a:ext cx="1695298" cy="9144"/>
            </a:xfrm>
            <a:prstGeom prst="rect">
              <a:avLst/>
            </a:prstGeom>
            <a:solidFill>
              <a:srgbClr val="334155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9" name="Shape 41"/>
            <p:cNvSpPr/>
            <p:nvPr/>
          </p:nvSpPr>
          <p:spPr>
            <a:xfrm>
              <a:off x="6562649" y="6648602"/>
              <a:ext cx="1447495" cy="609905"/>
            </a:xfrm>
            <a:prstGeom prst="rect">
              <a:avLst/>
            </a:prstGeom>
            <a:solidFill>
              <a:srgbClr val="1E293B">
                <a:alpha val="4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0" name="Shape 42"/>
            <p:cNvSpPr/>
            <p:nvPr/>
          </p:nvSpPr>
          <p:spPr>
            <a:xfrm>
              <a:off x="6562649" y="7487107"/>
              <a:ext cx="4819802" cy="9144"/>
            </a:xfrm>
            <a:prstGeom prst="rect">
              <a:avLst/>
            </a:prstGeom>
            <a:solidFill>
              <a:srgbClr val="E5E7E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1" name="Text 43"/>
            <p:cNvSpPr txBox="1"/>
            <p:nvPr/>
          </p:nvSpPr>
          <p:spPr>
            <a:xfrm>
              <a:off x="6562649" y="7648956"/>
              <a:ext cx="4920386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00" b="1" kern="0" spc="52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성공 기준 (Success Criteria)</a:t>
              </a:r>
              <a:endParaRPr lang="en-US" sz="1000" dirty="0"/>
            </a:p>
          </p:txBody>
        </p:sp>
        <p:pic>
          <p:nvPicPr>
            <p:cNvPr id="52" name="Image 6" descr="preencoded.png"/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6562649" y="7944307"/>
              <a:ext cx="133502" cy="133502"/>
            </a:xfrm>
            <a:prstGeom prst="rect">
              <a:avLst/>
            </a:prstGeom>
          </p:spPr>
        </p:pic>
        <p:sp>
          <p:nvSpPr>
            <p:cNvPr id="53" name="Text 44"/>
            <p:cNvSpPr txBox="1"/>
            <p:nvPr/>
          </p:nvSpPr>
          <p:spPr>
            <a:xfrm>
              <a:off x="6772046" y="7915046"/>
              <a:ext cx="75803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4D39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가용성 확보</a:t>
              </a:r>
              <a:endParaRPr lang="en-US" sz="1000" dirty="0"/>
            </a:p>
          </p:txBody>
        </p:sp>
        <p:pic>
          <p:nvPicPr>
            <p:cNvPr id="54" name="Image 7" descr="preencoded.png"/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8542325" y="7944307"/>
              <a:ext cx="133502" cy="133502"/>
            </a:xfrm>
            <a:prstGeom prst="rect">
              <a:avLst/>
            </a:prstGeom>
          </p:spPr>
        </p:pic>
        <p:sp>
          <p:nvSpPr>
            <p:cNvPr id="55" name="Text 45"/>
            <p:cNvSpPr txBox="1"/>
            <p:nvPr/>
          </p:nvSpPr>
          <p:spPr>
            <a:xfrm>
              <a:off x="8751722" y="7915046"/>
              <a:ext cx="75803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4D39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보안성 강화</a:t>
              </a:r>
              <a:endParaRPr lang="en-US" sz="1000" dirty="0"/>
            </a:p>
          </p:txBody>
        </p:sp>
        <p:pic>
          <p:nvPicPr>
            <p:cNvPr id="56" name="Image 8" descr="preencoded.png"/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10522001" y="7944307"/>
              <a:ext cx="133502" cy="133502"/>
            </a:xfrm>
            <a:prstGeom prst="rect">
              <a:avLst/>
            </a:prstGeom>
          </p:spPr>
        </p:pic>
        <p:sp>
          <p:nvSpPr>
            <p:cNvPr id="57" name="Text 46"/>
            <p:cNvSpPr txBox="1"/>
            <p:nvPr/>
          </p:nvSpPr>
          <p:spPr>
            <a:xfrm>
              <a:off x="10731398" y="7915046"/>
              <a:ext cx="75803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4D39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관제 가시성</a:t>
              </a:r>
              <a:endParaRPr lang="en-US" sz="1000" dirty="0"/>
            </a:p>
          </p:txBody>
        </p:sp>
        <p:sp>
          <p:nvSpPr>
            <p:cNvPr id="65" name="Text 50"/>
            <p:cNvSpPr txBox="1"/>
            <p:nvPr/>
          </p:nvSpPr>
          <p:spPr>
            <a:xfrm>
              <a:off x="6562649" y="4114800"/>
              <a:ext cx="1305763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범위 상세 정의</a:t>
              </a:r>
              <a:endParaRPr lang="en-US" sz="1500" dirty="0"/>
            </a:p>
          </p:txBody>
        </p:sp>
        <p:sp>
          <p:nvSpPr>
            <p:cNvPr id="66" name="Text 51"/>
            <p:cNvSpPr txBox="1"/>
            <p:nvPr/>
          </p:nvSpPr>
          <p:spPr>
            <a:xfrm>
              <a:off x="6676949" y="4657954"/>
              <a:ext cx="348386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22D3EE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구분</a:t>
              </a:r>
              <a:endParaRPr lang="en-US" sz="1000" dirty="0"/>
            </a:p>
          </p:txBody>
        </p:sp>
        <p:sp>
          <p:nvSpPr>
            <p:cNvPr id="67" name="Text 52"/>
            <p:cNvSpPr txBox="1"/>
            <p:nvPr/>
          </p:nvSpPr>
          <p:spPr>
            <a:xfrm>
              <a:off x="8122615" y="4657954"/>
              <a:ext cx="1062533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22D3EE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In-Scope (포함)</a:t>
              </a:r>
              <a:endParaRPr lang="en-US" sz="1000" dirty="0"/>
            </a:p>
          </p:txBody>
        </p:sp>
        <p:sp>
          <p:nvSpPr>
            <p:cNvPr id="68" name="Text 53"/>
            <p:cNvSpPr txBox="1"/>
            <p:nvPr/>
          </p:nvSpPr>
          <p:spPr>
            <a:xfrm>
              <a:off x="9809683" y="4657954"/>
              <a:ext cx="1357884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22D3EE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Out-of-Scope (제외)</a:t>
              </a:r>
              <a:endParaRPr lang="en-US" sz="1000" dirty="0"/>
            </a:p>
          </p:txBody>
        </p:sp>
        <p:sp>
          <p:nvSpPr>
            <p:cNvPr id="69" name="Text 54"/>
            <p:cNvSpPr txBox="1"/>
            <p:nvPr/>
          </p:nvSpPr>
          <p:spPr>
            <a:xfrm>
              <a:off x="6676949" y="5095951"/>
              <a:ext cx="471830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인프라</a:t>
              </a:r>
              <a:endParaRPr lang="en-US" sz="1000" dirty="0"/>
            </a:p>
          </p:txBody>
        </p:sp>
        <p:sp>
          <p:nvSpPr>
            <p:cNvPr id="70" name="Text 55"/>
            <p:cNvSpPr txBox="1"/>
            <p:nvPr/>
          </p:nvSpPr>
          <p:spPr>
            <a:xfrm>
              <a:off x="8122615" y="5095951"/>
              <a:ext cx="1462126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OpenStack, AWS(EC2)</a:t>
              </a:r>
              <a:endParaRPr lang="en-US" sz="1000" dirty="0"/>
            </a:p>
          </p:txBody>
        </p:sp>
        <p:sp>
          <p:nvSpPr>
            <p:cNvPr id="71" name="Text 56"/>
            <p:cNvSpPr txBox="1"/>
            <p:nvPr/>
          </p:nvSpPr>
          <p:spPr>
            <a:xfrm>
              <a:off x="9809683" y="5095951"/>
              <a:ext cx="1196035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물리적 서버 랙 설치</a:t>
              </a:r>
              <a:endParaRPr lang="en-US" sz="1000" dirty="0"/>
            </a:p>
          </p:txBody>
        </p:sp>
        <p:sp>
          <p:nvSpPr>
            <p:cNvPr id="72" name="Text 57"/>
            <p:cNvSpPr txBox="1"/>
            <p:nvPr/>
          </p:nvSpPr>
          <p:spPr>
            <a:xfrm>
              <a:off x="6676949" y="5619902"/>
              <a:ext cx="348386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보안</a:t>
              </a:r>
              <a:endParaRPr lang="en-US" sz="1000" dirty="0"/>
            </a:p>
          </p:txBody>
        </p:sp>
        <p:sp>
          <p:nvSpPr>
            <p:cNvPr id="73" name="Text 58"/>
            <p:cNvSpPr txBox="1"/>
            <p:nvPr/>
          </p:nvSpPr>
          <p:spPr>
            <a:xfrm>
              <a:off x="8122615" y="5524805"/>
              <a:ext cx="1205179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FW, IDS/IPS, VPN</a:t>
              </a:r>
              <a:endParaRPr lang="en-US" sz="1000" dirty="0"/>
            </a:p>
          </p:txBody>
        </p:sp>
        <p:sp>
          <p:nvSpPr>
            <p:cNvPr id="74" name="Text 59"/>
            <p:cNvSpPr txBox="1"/>
            <p:nvPr/>
          </p:nvSpPr>
          <p:spPr>
            <a:xfrm>
              <a:off x="9809683" y="5524805"/>
              <a:ext cx="1357884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?</a:t>
              </a:r>
              <a:endParaRPr lang="en-US" sz="1000" dirty="0"/>
            </a:p>
          </p:txBody>
        </p:sp>
        <p:sp>
          <p:nvSpPr>
            <p:cNvPr id="75" name="Text 60"/>
            <p:cNvSpPr txBox="1"/>
            <p:nvPr/>
          </p:nvSpPr>
          <p:spPr>
            <a:xfrm>
              <a:off x="6676949" y="6238951"/>
              <a:ext cx="348386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관제</a:t>
              </a:r>
              <a:endParaRPr lang="en-US" sz="1000" dirty="0"/>
            </a:p>
          </p:txBody>
        </p:sp>
        <p:sp>
          <p:nvSpPr>
            <p:cNvPr id="76" name="Text 61"/>
            <p:cNvSpPr txBox="1"/>
            <p:nvPr/>
          </p:nvSpPr>
          <p:spPr>
            <a:xfrm>
              <a:off x="8122615" y="6143854"/>
              <a:ext cx="1548079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System/App/Net Log 통합</a:t>
              </a:r>
              <a:endParaRPr lang="en-US" sz="1000" dirty="0"/>
            </a:p>
          </p:txBody>
        </p:sp>
        <p:sp>
          <p:nvSpPr>
            <p:cNvPr id="77" name="Text 62"/>
            <p:cNvSpPr txBox="1"/>
            <p:nvPr/>
          </p:nvSpPr>
          <p:spPr>
            <a:xfrm>
              <a:off x="9809683" y="6143854"/>
              <a:ext cx="1443838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머신러닝 기반 이상 탐지(AI)</a:t>
              </a:r>
              <a:endParaRPr lang="en-US" sz="1000" dirty="0"/>
            </a:p>
          </p:txBody>
        </p:sp>
        <p:sp>
          <p:nvSpPr>
            <p:cNvPr id="78" name="Text 63"/>
            <p:cNvSpPr txBox="1"/>
            <p:nvPr/>
          </p:nvSpPr>
          <p:spPr>
            <a:xfrm>
              <a:off x="6676949" y="6858000"/>
              <a:ext cx="348386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검증</a:t>
              </a:r>
              <a:endParaRPr lang="en-US" sz="1000" dirty="0"/>
            </a:p>
          </p:txBody>
        </p:sp>
        <p:sp>
          <p:nvSpPr>
            <p:cNvPr id="79" name="Text 64"/>
            <p:cNvSpPr txBox="1"/>
            <p:nvPr/>
          </p:nvSpPr>
          <p:spPr>
            <a:xfrm>
              <a:off x="8122615" y="6762902"/>
              <a:ext cx="1519733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웹 취약점, 계정 탈취 시나리오</a:t>
              </a:r>
              <a:endParaRPr lang="en-US" sz="1000" dirty="0"/>
            </a:p>
          </p:txBody>
        </p:sp>
        <p:sp>
          <p:nvSpPr>
            <p:cNvPr id="80" name="Text 65"/>
            <p:cNvSpPr txBox="1"/>
            <p:nvPr/>
          </p:nvSpPr>
          <p:spPr>
            <a:xfrm>
              <a:off x="9809683" y="6762902"/>
              <a:ext cx="1443838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실제 상용 서비스 모의해킹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81305" y="1353312"/>
            <a:ext cx="11430000" cy="9144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381305" y="952805"/>
            <a:ext cx="419343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OpenStack 온프레미스 &amp; AWS 하이브리드 아키텍처 개요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837" r="-837"/>
          <a:stretch/>
        </p:blipFill>
        <p:spPr>
          <a:xfrm>
            <a:off x="10111435" y="1042416"/>
            <a:ext cx="152705" cy="1335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81305" y="390449"/>
            <a:ext cx="321045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네트워크 구조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10340035" y="1013155"/>
            <a:ext cx="15764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Infrastructure Overview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81305" y="1547165"/>
            <a:ext cx="7563002" cy="4934102"/>
          </a:xfrm>
          <a:prstGeom prst="roundRect">
            <a:avLst>
              <a:gd name="adj" fmla="val 429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  <a:effectLst>
            <a:outerShdw blurRad="292100" dist="1016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371246" y="1537106"/>
            <a:ext cx="190195" cy="1920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371246" y="1537106"/>
            <a:ext cx="19202" cy="190195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763256" y="1537106"/>
            <a:ext cx="190195" cy="1920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7934249" y="1537106"/>
            <a:ext cx="19202" cy="190195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371246" y="6467551"/>
            <a:ext cx="190195" cy="1920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371246" y="6295644"/>
            <a:ext cx="19202" cy="190195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7763256" y="6467551"/>
            <a:ext cx="190195" cy="1920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7934249" y="6295644"/>
            <a:ext cx="19202" cy="190195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6"/>
          <p:cNvSpPr/>
          <p:nvPr/>
        </p:nvSpPr>
        <p:spPr>
          <a:xfrm>
            <a:off x="8229600" y="1542593"/>
            <a:ext cx="3581705" cy="1181405"/>
          </a:xfrm>
          <a:prstGeom prst="rect">
            <a:avLst/>
          </a:prstGeom>
          <a:solidFill>
            <a:srgbClr val="1E293B">
              <a:alpha val="7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/>
          <p:cNvSpPr/>
          <p:nvPr/>
        </p:nvSpPr>
        <p:spPr>
          <a:xfrm>
            <a:off x="8229600" y="1542593"/>
            <a:ext cx="38405" cy="1181405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8419795" y="1695298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22D3EE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86546" y="1762049"/>
            <a:ext cx="133502" cy="13350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781898" y="1708099"/>
            <a:ext cx="227319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pfSense Gateway (통합 관문)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8419795" y="2018995"/>
            <a:ext cx="333573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트래픽의 진입점이자 보안 경계입니다. NAT, 포트포워딩, Suricata IPS가 동작하며 내부망을 보호합니다.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8229600" y="2858414"/>
            <a:ext cx="3581705" cy="1181405"/>
          </a:xfrm>
          <a:prstGeom prst="rect">
            <a:avLst/>
          </a:prstGeom>
          <a:solidFill>
            <a:srgbClr val="1E293B">
              <a:alpha val="7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8229600" y="2858414"/>
            <a:ext cx="38405" cy="1181405"/>
          </a:xfrm>
          <a:prstGeom prst="rect">
            <a:avLst/>
          </a:prstGeom>
          <a:solidFill>
            <a:srgbClr val="F472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3"/>
          <p:cNvSpPr/>
          <p:nvPr/>
        </p:nvSpPr>
        <p:spPr>
          <a:xfrm>
            <a:off x="8419795" y="3011119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F472B6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5"/>
          <a:srcRect l="-1507" r="-1507"/>
          <a:stretch/>
        </p:blipFill>
        <p:spPr>
          <a:xfrm>
            <a:off x="8467344" y="3077870"/>
            <a:ext cx="171907" cy="133502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8781898" y="3023921"/>
            <a:ext cx="138714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 &amp; VPN Link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8419795" y="3334817"/>
            <a:ext cx="333573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 클라우드 자원과 온프레미스 간 OpenVPN 터널링을 통해 안전한 관리자 접근 및 하이브리드 연결을 제공합니다.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8229600" y="4174236"/>
            <a:ext cx="3581705" cy="1000354"/>
          </a:xfrm>
          <a:prstGeom prst="rect">
            <a:avLst/>
          </a:prstGeom>
          <a:solidFill>
            <a:srgbClr val="1E293B">
              <a:alpha val="7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7"/>
          <p:cNvSpPr/>
          <p:nvPr/>
        </p:nvSpPr>
        <p:spPr>
          <a:xfrm>
            <a:off x="8229600" y="4174236"/>
            <a:ext cx="38405" cy="1000354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8"/>
          <p:cNvSpPr/>
          <p:nvPr/>
        </p:nvSpPr>
        <p:spPr>
          <a:xfrm>
            <a:off x="8419795" y="4326941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FBBF24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86546" y="4393692"/>
            <a:ext cx="133502" cy="133502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8781898" y="4339742"/>
            <a:ext cx="148224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OpenStack Cloud</a:t>
            </a:r>
            <a:endParaRPr lang="en-US" sz="1200" dirty="0"/>
          </a:p>
        </p:txBody>
      </p:sp>
      <p:sp>
        <p:nvSpPr>
          <p:cNvPr id="38" name="Text 30"/>
          <p:cNvSpPr txBox="1"/>
          <p:nvPr/>
        </p:nvSpPr>
        <p:spPr>
          <a:xfrm>
            <a:off x="8419795" y="4650638"/>
            <a:ext cx="333573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프라이빗 클라우드로, 웹/DB 서버 및 로드밸런서 등 핵심 서비스 인스턴스가 가상화되어 구동됩니다.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8229600" y="5309006"/>
            <a:ext cx="3581705" cy="1181405"/>
          </a:xfrm>
          <a:prstGeom prst="rect">
            <a:avLst/>
          </a:prstGeom>
          <a:solidFill>
            <a:srgbClr val="1E293B">
              <a:alpha val="7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2"/>
          <p:cNvSpPr/>
          <p:nvPr/>
        </p:nvSpPr>
        <p:spPr>
          <a:xfrm>
            <a:off x="8229600" y="5309006"/>
            <a:ext cx="38405" cy="1181405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3"/>
          <p:cNvSpPr/>
          <p:nvPr/>
        </p:nvSpPr>
        <p:spPr>
          <a:xfrm>
            <a:off x="8419795" y="5460797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34D399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7"/>
          <a:srcRect l="-837" r="-837"/>
          <a:stretch/>
        </p:blipFill>
        <p:spPr>
          <a:xfrm>
            <a:off x="8477402" y="5527548"/>
            <a:ext cx="152705" cy="133502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8781898" y="5474513"/>
            <a:ext cx="124449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ELK Stack 관제</a:t>
            </a:r>
            <a:endParaRPr lang="en-US" sz="1200" dirty="0"/>
          </a:p>
        </p:txBody>
      </p:sp>
      <p:sp>
        <p:nvSpPr>
          <p:cNvPr id="44" name="Text 35"/>
          <p:cNvSpPr txBox="1"/>
          <p:nvPr/>
        </p:nvSpPr>
        <p:spPr>
          <a:xfrm>
            <a:off x="8419795" y="5784494"/>
            <a:ext cx="333573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시스템, 네트워크, 보안 장비에서 발생하는 모든 로그를 수집하여 실시간 대시보드로 시각화하고 위협을 탐지합니다.</a:t>
            </a:r>
            <a:endParaRPr lang="en-US" sz="1000" dirty="0"/>
          </a:p>
        </p:txBody>
      </p:sp>
      <p:pic>
        <p:nvPicPr>
          <p:cNvPr id="45" name="그림 44"/>
          <p:cNvPicPr>
            <a:picLocks noChangeAspect="1"/>
          </p:cNvPicPr>
          <p:nvPr/>
        </p:nvPicPr>
        <p:blipFill rotWithShape="1">
          <a:blip r:embed="rId8"/>
          <a:srcRect l="3282" t="-165" r="1845" b="165"/>
          <a:stretch/>
        </p:blipFill>
        <p:spPr>
          <a:xfrm>
            <a:off x="406299" y="1566367"/>
            <a:ext cx="7518806" cy="4895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71500" y="381305"/>
            <a:ext cx="571500" cy="57607"/>
          </a:xfrm>
          <a:prstGeom prst="roundRect">
            <a:avLst>
              <a:gd name="adj" fmla="val 793654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571500" y="1047902"/>
            <a:ext cx="1117762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시스템의 데이터 이동 경로 및 단계별 보안 통제 포인트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533095"/>
            <a:ext cx="25813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트래픽 흐름 요약</a:t>
            </a:r>
            <a:endParaRPr lang="en-US" sz="2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505" r="-505"/>
          <a:stretch/>
        </p:blipFill>
        <p:spPr>
          <a:xfrm>
            <a:off x="2632558" y="3614623"/>
            <a:ext cx="114300" cy="181051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rcRect l="-505" r="-505"/>
          <a:stretch/>
        </p:blipFill>
        <p:spPr>
          <a:xfrm>
            <a:off x="4903927" y="3614623"/>
            <a:ext cx="114300" cy="181051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rcRect l="-505" r="-505"/>
          <a:stretch/>
        </p:blipFill>
        <p:spPr>
          <a:xfrm>
            <a:off x="7174382" y="3614623"/>
            <a:ext cx="114300" cy="181051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/>
          <a:srcRect l="-505" r="-505"/>
          <a:stretch/>
        </p:blipFill>
        <p:spPr>
          <a:xfrm>
            <a:off x="9444838" y="3614623"/>
            <a:ext cx="114300" cy="181051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571500" y="1695298"/>
            <a:ext cx="1971446" cy="4591202"/>
          </a:xfrm>
          <a:prstGeom prst="roundRect">
            <a:avLst>
              <a:gd name="adj" fmla="val 2689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5"/>
          <p:cNvSpPr/>
          <p:nvPr/>
        </p:nvSpPr>
        <p:spPr>
          <a:xfrm>
            <a:off x="1269187" y="1990649"/>
            <a:ext cx="571500" cy="571500"/>
          </a:xfrm>
          <a:prstGeom prst="ellipse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rcRect l="-80" r="-80"/>
          <a:stretch/>
        </p:blipFill>
        <p:spPr>
          <a:xfrm>
            <a:off x="1411834" y="2162556"/>
            <a:ext cx="286207" cy="22860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673913" y="2704795"/>
            <a:ext cx="176479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사용자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트래픽 진입</a:t>
            </a:r>
            <a:endParaRPr lang="en-US" sz="1300" dirty="0"/>
          </a:p>
        </p:txBody>
      </p:sp>
      <p:sp>
        <p:nvSpPr>
          <p:cNvPr id="14" name="Text 7"/>
          <p:cNvSpPr txBox="1"/>
          <p:nvPr/>
        </p:nvSpPr>
        <p:spPr>
          <a:xfrm>
            <a:off x="675742" y="3147365"/>
            <a:ext cx="1764792" cy="2200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 사용자 또는 공격자가 외부 인터넷망을 통해 접근 시도</a:t>
            </a:r>
            <a:endParaRPr lang="en-US" sz="1000" dirty="0"/>
          </a:p>
        </p:txBody>
      </p:sp>
      <p:sp>
        <p:nvSpPr>
          <p:cNvPr id="15" name="Shape 8"/>
          <p:cNvSpPr/>
          <p:nvPr/>
        </p:nvSpPr>
        <p:spPr>
          <a:xfrm>
            <a:off x="724205" y="5484571"/>
            <a:ext cx="1666951" cy="609905"/>
          </a:xfrm>
          <a:prstGeom prst="roundRect">
            <a:avLst>
              <a:gd name="adj" fmla="val 14055"/>
            </a:avLst>
          </a:prstGeom>
          <a:solidFill>
            <a:srgbClr val="0F172A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9"/>
          <p:cNvSpPr/>
          <p:nvPr/>
        </p:nvSpPr>
        <p:spPr>
          <a:xfrm>
            <a:off x="724205" y="5484571"/>
            <a:ext cx="1666951" cy="19202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0"/>
          <p:cNvSpPr txBox="1"/>
          <p:nvPr/>
        </p:nvSpPr>
        <p:spPr>
          <a:xfrm>
            <a:off x="779069" y="5598871"/>
            <a:ext cx="155722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kern="0" spc="4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CONTROL</a:t>
            </a:r>
            <a:endParaRPr lang="en-US" sz="800" dirty="0"/>
          </a:p>
        </p:txBody>
      </p:sp>
      <p:sp>
        <p:nvSpPr>
          <p:cNvPr id="18" name="Text 11"/>
          <p:cNvSpPr txBox="1"/>
          <p:nvPr/>
        </p:nvSpPr>
        <p:spPr>
          <a:xfrm>
            <a:off x="770839" y="5797296"/>
            <a:ext cx="15736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Geo-IP 필터링</a:t>
            </a:r>
            <a:endParaRPr lang="en-US" sz="1000" dirty="0"/>
          </a:p>
        </p:txBody>
      </p:sp>
      <p:sp>
        <p:nvSpPr>
          <p:cNvPr id="19" name="Shape 12"/>
          <p:cNvSpPr/>
          <p:nvPr/>
        </p:nvSpPr>
        <p:spPr>
          <a:xfrm>
            <a:off x="2841955" y="1695298"/>
            <a:ext cx="1971446" cy="4591202"/>
          </a:xfrm>
          <a:prstGeom prst="roundRect">
            <a:avLst>
              <a:gd name="adj" fmla="val 2689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3"/>
          <p:cNvSpPr/>
          <p:nvPr/>
        </p:nvSpPr>
        <p:spPr>
          <a:xfrm>
            <a:off x="3539642" y="1990649"/>
            <a:ext cx="571500" cy="571500"/>
          </a:xfrm>
          <a:prstGeom prst="ellipse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710635" y="2162556"/>
            <a:ext cx="228600" cy="22860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2931566" y="2704795"/>
            <a:ext cx="179313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pfSense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게이트웨이</a:t>
            </a:r>
            <a:endParaRPr lang="en-US" sz="1300" dirty="0"/>
          </a:p>
        </p:txBody>
      </p:sp>
      <p:sp>
        <p:nvSpPr>
          <p:cNvPr id="23" name="Text 15"/>
          <p:cNvSpPr txBox="1"/>
          <p:nvPr/>
        </p:nvSpPr>
        <p:spPr>
          <a:xfrm>
            <a:off x="2946197" y="3147365"/>
            <a:ext cx="1764792" cy="2200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1차 보안 경계로 패킷 필터링 및 포트포워딩 수행</a:t>
            </a:r>
            <a:endParaRPr lang="en-US" sz="1000" dirty="0"/>
          </a:p>
        </p:txBody>
      </p:sp>
      <p:sp>
        <p:nvSpPr>
          <p:cNvPr id="24" name="Shape 16"/>
          <p:cNvSpPr/>
          <p:nvPr/>
        </p:nvSpPr>
        <p:spPr>
          <a:xfrm>
            <a:off x="2994660" y="5484571"/>
            <a:ext cx="1666951" cy="609905"/>
          </a:xfrm>
          <a:prstGeom prst="roundRect">
            <a:avLst>
              <a:gd name="adj" fmla="val 14055"/>
            </a:avLst>
          </a:prstGeom>
          <a:solidFill>
            <a:srgbClr val="0F172A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7"/>
          <p:cNvSpPr/>
          <p:nvPr/>
        </p:nvSpPr>
        <p:spPr>
          <a:xfrm>
            <a:off x="2994660" y="5484571"/>
            <a:ext cx="1666951" cy="1920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8"/>
          <p:cNvSpPr txBox="1"/>
          <p:nvPr/>
        </p:nvSpPr>
        <p:spPr>
          <a:xfrm>
            <a:off x="3049524" y="5598871"/>
            <a:ext cx="155722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kern="0" spc="4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CONTROL</a:t>
            </a:r>
            <a:endParaRPr lang="en-US" sz="800" dirty="0"/>
          </a:p>
        </p:txBody>
      </p:sp>
      <p:sp>
        <p:nvSpPr>
          <p:cNvPr id="27" name="Text 19"/>
          <p:cNvSpPr txBox="1"/>
          <p:nvPr/>
        </p:nvSpPr>
        <p:spPr>
          <a:xfrm>
            <a:off x="3041294" y="5797296"/>
            <a:ext cx="15736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Suricata IPS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5113325" y="1695298"/>
            <a:ext cx="1971446" cy="4591202"/>
          </a:xfrm>
          <a:prstGeom prst="roundRect">
            <a:avLst>
              <a:gd name="adj" fmla="val 2689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1"/>
          <p:cNvSpPr/>
          <p:nvPr/>
        </p:nvSpPr>
        <p:spPr>
          <a:xfrm>
            <a:off x="5810098" y="1990649"/>
            <a:ext cx="571500" cy="571500"/>
          </a:xfrm>
          <a:prstGeom prst="ellipse">
            <a:avLst/>
          </a:prstGeom>
          <a:solidFill>
            <a:srgbClr val="818CF8">
              <a:alpha val="10000"/>
            </a:srgbClr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5995721" y="2162556"/>
            <a:ext cx="200254" cy="22860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5202936" y="2704795"/>
            <a:ext cx="179313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OpenStack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서비스</a:t>
            </a:r>
            <a:endParaRPr lang="en-US" sz="1300" dirty="0"/>
          </a:p>
        </p:txBody>
      </p:sp>
      <p:sp>
        <p:nvSpPr>
          <p:cNvPr id="32" name="Text 23"/>
          <p:cNvSpPr txBox="1"/>
          <p:nvPr/>
        </p:nvSpPr>
        <p:spPr>
          <a:xfrm>
            <a:off x="5216652" y="3147365"/>
            <a:ext cx="1764792" cy="2200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L4 로드밸런서를 거쳐 웹/DB 서버 등 실제 서비스 처리</a:t>
            </a:r>
            <a:endParaRPr lang="en-US" sz="1000" dirty="0"/>
          </a:p>
        </p:txBody>
      </p:sp>
      <p:sp>
        <p:nvSpPr>
          <p:cNvPr id="33" name="Shape 24"/>
          <p:cNvSpPr/>
          <p:nvPr/>
        </p:nvSpPr>
        <p:spPr>
          <a:xfrm>
            <a:off x="5265115" y="5484571"/>
            <a:ext cx="1666951" cy="609905"/>
          </a:xfrm>
          <a:prstGeom prst="roundRect">
            <a:avLst>
              <a:gd name="adj" fmla="val 14055"/>
            </a:avLst>
          </a:prstGeom>
          <a:solidFill>
            <a:srgbClr val="0F172A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5"/>
          <p:cNvSpPr/>
          <p:nvPr/>
        </p:nvSpPr>
        <p:spPr>
          <a:xfrm>
            <a:off x="5265115" y="5484571"/>
            <a:ext cx="1666951" cy="19202"/>
          </a:xfrm>
          <a:prstGeom prst="rect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6"/>
          <p:cNvSpPr txBox="1"/>
          <p:nvPr/>
        </p:nvSpPr>
        <p:spPr>
          <a:xfrm>
            <a:off x="5320894" y="5598871"/>
            <a:ext cx="155722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kern="0" spc="4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CONTROL</a:t>
            </a:r>
            <a:endParaRPr lang="en-US" sz="800" dirty="0"/>
          </a:p>
        </p:txBody>
      </p:sp>
      <p:sp>
        <p:nvSpPr>
          <p:cNvPr id="36" name="Text 27"/>
          <p:cNvSpPr txBox="1"/>
          <p:nvPr/>
        </p:nvSpPr>
        <p:spPr>
          <a:xfrm>
            <a:off x="5312664" y="5797296"/>
            <a:ext cx="15736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보안그룹 (SG)</a:t>
            </a:r>
            <a:endParaRPr lang="en-US" sz="1000" dirty="0"/>
          </a:p>
        </p:txBody>
      </p:sp>
      <p:sp>
        <p:nvSpPr>
          <p:cNvPr id="37" name="Shape 28"/>
          <p:cNvSpPr/>
          <p:nvPr/>
        </p:nvSpPr>
        <p:spPr>
          <a:xfrm>
            <a:off x="7383780" y="1695298"/>
            <a:ext cx="1971446" cy="4591202"/>
          </a:xfrm>
          <a:prstGeom prst="roundRect">
            <a:avLst>
              <a:gd name="adj" fmla="val 2689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29"/>
          <p:cNvSpPr/>
          <p:nvPr/>
        </p:nvSpPr>
        <p:spPr>
          <a:xfrm>
            <a:off x="8081467" y="1990649"/>
            <a:ext cx="571500" cy="571500"/>
          </a:xfrm>
          <a:prstGeom prst="ellipse">
            <a:avLst/>
          </a:prstGeom>
          <a:solidFill>
            <a:srgbClr val="34D399">
              <a:alpha val="10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252460" y="2162556"/>
            <a:ext cx="228600" cy="228600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7564831" y="2704795"/>
            <a:ext cx="161208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ELK Stack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 수집</a:t>
            </a:r>
            <a:endParaRPr lang="en-US" sz="1300" dirty="0"/>
          </a:p>
        </p:txBody>
      </p:sp>
      <p:sp>
        <p:nvSpPr>
          <p:cNvPr id="41" name="Text 31"/>
          <p:cNvSpPr txBox="1"/>
          <p:nvPr/>
        </p:nvSpPr>
        <p:spPr>
          <a:xfrm>
            <a:off x="7488022" y="3147365"/>
            <a:ext cx="1764792" cy="2200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단계의 시스템/보안 로그를 중앙으로 전송 및 저장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7536485" y="5484571"/>
            <a:ext cx="1666951" cy="609905"/>
          </a:xfrm>
          <a:prstGeom prst="roundRect">
            <a:avLst>
              <a:gd name="adj" fmla="val 14055"/>
            </a:avLst>
          </a:prstGeom>
          <a:solidFill>
            <a:srgbClr val="0F172A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3"/>
          <p:cNvSpPr/>
          <p:nvPr/>
        </p:nvSpPr>
        <p:spPr>
          <a:xfrm>
            <a:off x="7536485" y="5484571"/>
            <a:ext cx="1666951" cy="19202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4"/>
          <p:cNvSpPr txBox="1"/>
          <p:nvPr/>
        </p:nvSpPr>
        <p:spPr>
          <a:xfrm>
            <a:off x="7591349" y="5598871"/>
            <a:ext cx="155722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kern="0" spc="4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CONTROL</a:t>
            </a:r>
            <a:endParaRPr lang="en-US" sz="800" dirty="0"/>
          </a:p>
        </p:txBody>
      </p:sp>
      <p:sp>
        <p:nvSpPr>
          <p:cNvPr id="45" name="Text 35"/>
          <p:cNvSpPr txBox="1"/>
          <p:nvPr/>
        </p:nvSpPr>
        <p:spPr>
          <a:xfrm>
            <a:off x="7583119" y="5797296"/>
            <a:ext cx="15736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TLS 암호화</a:t>
            </a:r>
            <a:endParaRPr lang="en-US" sz="1000" dirty="0"/>
          </a:p>
        </p:txBody>
      </p:sp>
      <p:sp>
        <p:nvSpPr>
          <p:cNvPr id="46" name="Shape 36"/>
          <p:cNvSpPr/>
          <p:nvPr/>
        </p:nvSpPr>
        <p:spPr>
          <a:xfrm>
            <a:off x="9655150" y="1695298"/>
            <a:ext cx="1971446" cy="4591202"/>
          </a:xfrm>
          <a:prstGeom prst="roundRect">
            <a:avLst>
              <a:gd name="adj" fmla="val 2689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37"/>
          <p:cNvSpPr/>
          <p:nvPr/>
        </p:nvSpPr>
        <p:spPr>
          <a:xfrm>
            <a:off x="10351922" y="1990649"/>
            <a:ext cx="571500" cy="571500"/>
          </a:xfrm>
          <a:prstGeom prst="ellipse">
            <a:avLst/>
          </a:prstGeom>
          <a:solidFill>
            <a:srgbClr val="F472B6">
              <a:alpha val="10000"/>
            </a:srgbClr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8"/>
          <a:srcRect l="-80" r="-80"/>
          <a:stretch/>
        </p:blipFill>
        <p:spPr>
          <a:xfrm>
            <a:off x="10494569" y="2162556"/>
            <a:ext cx="286207" cy="228600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9789566" y="2704795"/>
            <a:ext cx="169804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 VPN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 접근</a:t>
            </a:r>
            <a:endParaRPr lang="en-US" sz="1300" dirty="0"/>
          </a:p>
        </p:txBody>
      </p:sp>
      <p:sp>
        <p:nvSpPr>
          <p:cNvPr id="50" name="Text 39"/>
          <p:cNvSpPr txBox="1"/>
          <p:nvPr/>
        </p:nvSpPr>
        <p:spPr>
          <a:xfrm>
            <a:off x="9758477" y="3147365"/>
            <a:ext cx="1764792" cy="2200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관리자나 개발자는 별도의 VPN 터널을 통해 내부망 접근</a:t>
            </a:r>
            <a:endParaRPr lang="en-US" sz="1000" dirty="0"/>
          </a:p>
        </p:txBody>
      </p:sp>
      <p:sp>
        <p:nvSpPr>
          <p:cNvPr id="51" name="Shape 40"/>
          <p:cNvSpPr/>
          <p:nvPr/>
        </p:nvSpPr>
        <p:spPr>
          <a:xfrm>
            <a:off x="9806940" y="5484571"/>
            <a:ext cx="1666951" cy="609905"/>
          </a:xfrm>
          <a:prstGeom prst="roundRect">
            <a:avLst>
              <a:gd name="adj" fmla="val 14055"/>
            </a:avLst>
          </a:prstGeom>
          <a:solidFill>
            <a:srgbClr val="0F172A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41"/>
          <p:cNvSpPr/>
          <p:nvPr/>
        </p:nvSpPr>
        <p:spPr>
          <a:xfrm>
            <a:off x="9806940" y="5484571"/>
            <a:ext cx="1666951" cy="19202"/>
          </a:xfrm>
          <a:prstGeom prst="rect">
            <a:avLst/>
          </a:prstGeom>
          <a:solidFill>
            <a:srgbClr val="F472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42"/>
          <p:cNvSpPr txBox="1"/>
          <p:nvPr/>
        </p:nvSpPr>
        <p:spPr>
          <a:xfrm>
            <a:off x="9862718" y="5598871"/>
            <a:ext cx="155722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kern="0" spc="4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CONTROL</a:t>
            </a:r>
            <a:endParaRPr lang="en-US" sz="800" dirty="0"/>
          </a:p>
        </p:txBody>
      </p:sp>
      <p:sp>
        <p:nvSpPr>
          <p:cNvPr id="54" name="Text 43"/>
          <p:cNvSpPr txBox="1"/>
          <p:nvPr/>
        </p:nvSpPr>
        <p:spPr>
          <a:xfrm>
            <a:off x="9853574" y="5797296"/>
            <a:ext cx="15736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MFA 인증</a:t>
            </a:r>
            <a:endParaRPr lang="en-US" sz="1000" dirty="0"/>
          </a:p>
        </p:txBody>
      </p:sp>
      <p:sp>
        <p:nvSpPr>
          <p:cNvPr id="55" name="Shape 44"/>
          <p:cNvSpPr/>
          <p:nvPr/>
        </p:nvSpPr>
        <p:spPr>
          <a:xfrm>
            <a:off x="1401775" y="1561795"/>
            <a:ext cx="304495" cy="304495"/>
          </a:xfrm>
          <a:prstGeom prst="ellipse">
            <a:avLst/>
          </a:prstGeom>
          <a:solidFill>
            <a:srgbClr val="0F172A"/>
          </a:solidFill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45"/>
          <p:cNvSpPr txBox="1"/>
          <p:nvPr/>
        </p:nvSpPr>
        <p:spPr>
          <a:xfrm>
            <a:off x="1419149" y="1612087"/>
            <a:ext cx="274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000" dirty="0"/>
          </a:p>
        </p:txBody>
      </p:sp>
      <p:sp>
        <p:nvSpPr>
          <p:cNvPr id="57" name="Shape 46"/>
          <p:cNvSpPr/>
          <p:nvPr/>
        </p:nvSpPr>
        <p:spPr>
          <a:xfrm>
            <a:off x="3673145" y="1561795"/>
            <a:ext cx="304495" cy="304495"/>
          </a:xfrm>
          <a:prstGeom prst="ellipse">
            <a:avLst/>
          </a:prstGeom>
          <a:solidFill>
            <a:srgbClr val="0F172A"/>
          </a:solidFill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47"/>
          <p:cNvSpPr txBox="1"/>
          <p:nvPr/>
        </p:nvSpPr>
        <p:spPr>
          <a:xfrm>
            <a:off x="3690518" y="1612087"/>
            <a:ext cx="274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000" dirty="0"/>
          </a:p>
        </p:txBody>
      </p:sp>
      <p:sp>
        <p:nvSpPr>
          <p:cNvPr id="59" name="Shape 48"/>
          <p:cNvSpPr/>
          <p:nvPr/>
        </p:nvSpPr>
        <p:spPr>
          <a:xfrm>
            <a:off x="5943600" y="1561795"/>
            <a:ext cx="304495" cy="304495"/>
          </a:xfrm>
          <a:prstGeom prst="ellipse">
            <a:avLst/>
          </a:prstGeom>
          <a:solidFill>
            <a:srgbClr val="0F172A"/>
          </a:solidFill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49"/>
          <p:cNvSpPr txBox="1"/>
          <p:nvPr/>
        </p:nvSpPr>
        <p:spPr>
          <a:xfrm>
            <a:off x="5960974" y="1612087"/>
            <a:ext cx="274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000" dirty="0"/>
          </a:p>
        </p:txBody>
      </p:sp>
      <p:sp>
        <p:nvSpPr>
          <p:cNvPr id="61" name="Shape 50"/>
          <p:cNvSpPr/>
          <p:nvPr/>
        </p:nvSpPr>
        <p:spPr>
          <a:xfrm>
            <a:off x="8214970" y="1561795"/>
            <a:ext cx="304495" cy="304495"/>
          </a:xfrm>
          <a:prstGeom prst="ellipse">
            <a:avLst/>
          </a:prstGeom>
          <a:solidFill>
            <a:srgbClr val="0F172A"/>
          </a:solidFill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1"/>
          <p:cNvSpPr txBox="1"/>
          <p:nvPr/>
        </p:nvSpPr>
        <p:spPr>
          <a:xfrm>
            <a:off x="8232343" y="1612087"/>
            <a:ext cx="274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000" dirty="0"/>
          </a:p>
        </p:txBody>
      </p:sp>
      <p:sp>
        <p:nvSpPr>
          <p:cNvPr id="63" name="Shape 52"/>
          <p:cNvSpPr/>
          <p:nvPr/>
        </p:nvSpPr>
        <p:spPr>
          <a:xfrm>
            <a:off x="10485425" y="1561795"/>
            <a:ext cx="304495" cy="304495"/>
          </a:xfrm>
          <a:prstGeom prst="ellipse">
            <a:avLst/>
          </a:prstGeom>
          <a:solidFill>
            <a:srgbClr val="0F172A"/>
          </a:solidFill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53"/>
          <p:cNvSpPr txBox="1"/>
          <p:nvPr/>
        </p:nvSpPr>
        <p:spPr>
          <a:xfrm>
            <a:off x="10502798" y="1612087"/>
            <a:ext cx="274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571500" y="838505"/>
            <a:ext cx="1117762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네트워크 보안의 핵심 관문 (Core Gateway of Security Infrastructure)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71500" y="1257300"/>
            <a:ext cx="571500" cy="38405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71500" y="1676095"/>
            <a:ext cx="5333695" cy="4800600"/>
          </a:xfrm>
          <a:prstGeom prst="roundRect">
            <a:avLst>
              <a:gd name="adj" fmla="val 302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2746" y="2428646"/>
            <a:ext cx="190195" cy="19019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9149" y="2562149"/>
            <a:ext cx="434888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Stateful Packet Inspection 기반의 트래픽 제어. In/Outbound 정책을 엄격히 적용하여 비인가 접근을 원천 봉쇄합니다.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8972" y="3396082"/>
            <a:ext cx="237744" cy="1901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19149" y="3528670"/>
            <a:ext cx="434888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IP(192.168.x.x) 구조를 은닉하고, 웹 서비스 등 필수 포트만 제한적으로 외부(WAN)에 노출시켜 공격 면적을 최소화합니다.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 l="-1282" r="-1282"/>
          <a:stretch/>
        </p:blipFill>
        <p:spPr>
          <a:xfrm>
            <a:off x="929030" y="4362602"/>
            <a:ext cx="219456" cy="19019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19149" y="4496105"/>
            <a:ext cx="434888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시그니처 기반의 실시간 침입 탐지 및 차단 시스템. 웹쉘(WebShell) 업로드 시도나 악성 스캔 트래픽을 패킷 레벨에서 감지합니다.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42746" y="5329123"/>
            <a:ext cx="190195" cy="19019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419149" y="5462626"/>
            <a:ext cx="434888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 OpenVPN과 연동하여 하이브리드 클라우드 간 안전한 터널링을 제공하고, 원격 관리자의 안전한 내부망 접근을 보장합니다.</a:t>
            </a:r>
            <a:endParaRPr lang="en-US" sz="1000" dirty="0"/>
          </a:p>
        </p:txBody>
      </p:sp>
      <p:sp>
        <p:nvSpPr>
          <p:cNvPr id="14" name="Shape 8"/>
          <p:cNvSpPr/>
          <p:nvPr/>
        </p:nvSpPr>
        <p:spPr>
          <a:xfrm>
            <a:off x="6286500" y="1676095"/>
            <a:ext cx="2590495" cy="2324405"/>
          </a:xfrm>
          <a:prstGeom prst="roundRect">
            <a:avLst>
              <a:gd name="adj" fmla="val 129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rcRect t="-530" b="-530"/>
          <a:stretch/>
        </p:blipFill>
        <p:spPr>
          <a:xfrm>
            <a:off x="7457846" y="2257654"/>
            <a:ext cx="247802" cy="286207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6858914" y="3200400"/>
            <a:ext cx="14529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Policy-based Filtering</a:t>
            </a:r>
            <a:endParaRPr lang="en-US" sz="1000" dirty="0"/>
          </a:p>
        </p:txBody>
      </p:sp>
      <p:sp>
        <p:nvSpPr>
          <p:cNvPr id="17" name="Text 10"/>
          <p:cNvSpPr txBox="1"/>
          <p:nvPr/>
        </p:nvSpPr>
        <p:spPr>
          <a:xfrm>
            <a:off x="7164324" y="3429000"/>
            <a:ext cx="8385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Geo-IP &amp; Alias</a:t>
            </a:r>
            <a:endParaRPr lang="en-US" sz="900" dirty="0"/>
          </a:p>
        </p:txBody>
      </p:sp>
      <p:sp>
        <p:nvSpPr>
          <p:cNvPr id="18" name="Shape 11"/>
          <p:cNvSpPr/>
          <p:nvPr/>
        </p:nvSpPr>
        <p:spPr>
          <a:xfrm>
            <a:off x="9029700" y="1676095"/>
            <a:ext cx="2590495" cy="2324405"/>
          </a:xfrm>
          <a:prstGeom prst="roundRect">
            <a:avLst>
              <a:gd name="adj" fmla="val 129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181844" y="2257654"/>
            <a:ext cx="286207" cy="286207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9823399" y="3200400"/>
            <a:ext cx="10049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NAT &amp; Routing</a:t>
            </a:r>
            <a:endParaRPr lang="en-US" sz="1000" dirty="0"/>
          </a:p>
        </p:txBody>
      </p:sp>
      <p:sp>
        <p:nvSpPr>
          <p:cNvPr id="21" name="Text 13"/>
          <p:cNvSpPr txBox="1"/>
          <p:nvPr/>
        </p:nvSpPr>
        <p:spPr>
          <a:xfrm>
            <a:off x="9870034" y="3429000"/>
            <a:ext cx="9144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Load Balancing</a:t>
            </a:r>
            <a:endParaRPr lang="en-US" sz="900" dirty="0"/>
          </a:p>
        </p:txBody>
      </p:sp>
      <p:sp>
        <p:nvSpPr>
          <p:cNvPr id="22" name="Shape 14"/>
          <p:cNvSpPr/>
          <p:nvPr/>
        </p:nvSpPr>
        <p:spPr>
          <a:xfrm>
            <a:off x="6286500" y="4153205"/>
            <a:ext cx="2590495" cy="2324405"/>
          </a:xfrm>
          <a:prstGeom prst="roundRect">
            <a:avLst>
              <a:gd name="adj" fmla="val 129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rcRect l="-607" r="-607"/>
          <a:stretch/>
        </p:blipFill>
        <p:spPr>
          <a:xfrm>
            <a:off x="7401154" y="4733849"/>
            <a:ext cx="362102" cy="286207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7263079" y="5676595"/>
            <a:ext cx="643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IDS / IPS</a:t>
            </a:r>
            <a:endParaRPr lang="en-US" sz="1000" dirty="0"/>
          </a:p>
        </p:txBody>
      </p:sp>
      <p:sp>
        <p:nvSpPr>
          <p:cNvPr id="25" name="Text 16"/>
          <p:cNvSpPr txBox="1"/>
          <p:nvPr/>
        </p:nvSpPr>
        <p:spPr>
          <a:xfrm>
            <a:off x="6911035" y="5905195"/>
            <a:ext cx="13432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Deep Packet Inspection</a:t>
            </a:r>
            <a:endParaRPr lang="en-US" sz="900" dirty="0"/>
          </a:p>
        </p:txBody>
      </p:sp>
      <p:sp>
        <p:nvSpPr>
          <p:cNvPr id="26" name="Shape 17"/>
          <p:cNvSpPr/>
          <p:nvPr/>
        </p:nvSpPr>
        <p:spPr>
          <a:xfrm>
            <a:off x="9029700" y="4153205"/>
            <a:ext cx="2590495" cy="2324405"/>
          </a:xfrm>
          <a:prstGeom prst="roundRect">
            <a:avLst>
              <a:gd name="adj" fmla="val 129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181844" y="4733849"/>
            <a:ext cx="286207" cy="286207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9715500" y="5676595"/>
            <a:ext cx="12243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Hybrid Cloud VPN</a:t>
            </a:r>
            <a:endParaRPr lang="en-US" sz="1000" dirty="0"/>
          </a:p>
        </p:txBody>
      </p:sp>
      <p:sp>
        <p:nvSpPr>
          <p:cNvPr id="29" name="Text 19"/>
          <p:cNvSpPr txBox="1"/>
          <p:nvPr/>
        </p:nvSpPr>
        <p:spPr>
          <a:xfrm>
            <a:off x="9983419" y="5905195"/>
            <a:ext cx="6858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Site-to-Site</a:t>
            </a:r>
            <a:endParaRPr lang="en-US" sz="900" dirty="0"/>
          </a:p>
        </p:txBody>
      </p:sp>
      <p:sp>
        <p:nvSpPr>
          <p:cNvPr id="30" name="Text 20"/>
          <p:cNvSpPr txBox="1"/>
          <p:nvPr/>
        </p:nvSpPr>
        <p:spPr>
          <a:xfrm>
            <a:off x="571500" y="323698"/>
            <a:ext cx="26005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pfSense의 역할</a:t>
            </a:r>
            <a:endParaRPr lang="en-US" sz="2700" dirty="0"/>
          </a:p>
        </p:txBody>
      </p:sp>
      <p:sp>
        <p:nvSpPr>
          <p:cNvPr id="31" name="Text 21"/>
          <p:cNvSpPr txBox="1"/>
          <p:nvPr/>
        </p:nvSpPr>
        <p:spPr>
          <a:xfrm>
            <a:off x="1419149" y="2247595"/>
            <a:ext cx="27249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경계 방화벽 (Border Firewall)</a:t>
            </a:r>
            <a:endParaRPr lang="en-US" sz="1500" dirty="0"/>
          </a:p>
        </p:txBody>
      </p:sp>
      <p:sp>
        <p:nvSpPr>
          <p:cNvPr id="32" name="Text 22"/>
          <p:cNvSpPr txBox="1"/>
          <p:nvPr/>
        </p:nvSpPr>
        <p:spPr>
          <a:xfrm>
            <a:off x="1419149" y="3215030"/>
            <a:ext cx="16770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NAT 및 포트포워딩</a:t>
            </a:r>
            <a:endParaRPr lang="en-US" sz="1500" dirty="0"/>
          </a:p>
        </p:txBody>
      </p:sp>
      <p:sp>
        <p:nvSpPr>
          <p:cNvPr id="33" name="Text 23"/>
          <p:cNvSpPr txBox="1"/>
          <p:nvPr/>
        </p:nvSpPr>
        <p:spPr>
          <a:xfrm>
            <a:off x="1419149" y="4181551"/>
            <a:ext cx="20766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Suricata IDS/IPS 연동</a:t>
            </a:r>
            <a:endParaRPr lang="en-US" sz="1500" dirty="0"/>
          </a:p>
        </p:txBody>
      </p:sp>
      <p:sp>
        <p:nvSpPr>
          <p:cNvPr id="34" name="Text 24"/>
          <p:cNvSpPr txBox="1"/>
          <p:nvPr/>
        </p:nvSpPr>
        <p:spPr>
          <a:xfrm>
            <a:off x="1419149" y="5148072"/>
            <a:ext cx="14676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VPN 게이트웨이</a:t>
            </a:r>
            <a:endParaRPr lang="en-US" sz="1500" dirty="0"/>
          </a:p>
        </p:txBody>
      </p:sp>
      <p:sp>
        <p:nvSpPr>
          <p:cNvPr id="35" name="Text 25"/>
          <p:cNvSpPr txBox="1"/>
          <p:nvPr/>
        </p:nvSpPr>
        <p:spPr>
          <a:xfrm>
            <a:off x="6901891" y="2866644"/>
            <a:ext cx="13670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Access Control</a:t>
            </a:r>
            <a:endParaRPr lang="en-US" sz="1300" dirty="0"/>
          </a:p>
        </p:txBody>
      </p:sp>
      <p:sp>
        <p:nvSpPr>
          <p:cNvPr id="36" name="Text 26"/>
          <p:cNvSpPr txBox="1"/>
          <p:nvPr/>
        </p:nvSpPr>
        <p:spPr>
          <a:xfrm>
            <a:off x="9726473" y="2866644"/>
            <a:ext cx="12051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Traffic Mgmt</a:t>
            </a:r>
            <a:endParaRPr lang="en-US" sz="1300" dirty="0"/>
          </a:p>
        </p:txBody>
      </p:sp>
      <p:sp>
        <p:nvSpPr>
          <p:cNvPr id="37" name="Text 27"/>
          <p:cNvSpPr txBox="1"/>
          <p:nvPr/>
        </p:nvSpPr>
        <p:spPr>
          <a:xfrm>
            <a:off x="6879031" y="5343754"/>
            <a:ext cx="14145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Threat Defence</a:t>
            </a:r>
            <a:endParaRPr lang="en-US" sz="1300" dirty="0"/>
          </a:p>
        </p:txBody>
      </p:sp>
      <p:sp>
        <p:nvSpPr>
          <p:cNvPr id="38" name="Text 28"/>
          <p:cNvSpPr txBox="1"/>
          <p:nvPr/>
        </p:nvSpPr>
        <p:spPr>
          <a:xfrm>
            <a:off x="9724644" y="5343754"/>
            <a:ext cx="12051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Connectivity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71500" y="381305"/>
            <a:ext cx="761695" cy="57607"/>
          </a:xfrm>
          <a:prstGeom prst="roundRect">
            <a:avLst>
              <a:gd name="adj" fmla="val 793654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571500" y="1037844"/>
            <a:ext cx="1117762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네트워크 흐름 제어 및 외부 서비스 연결 정책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523951"/>
            <a:ext cx="53538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pfSense 라우팅 · NAT · 포트포워딩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71500" y="1495044"/>
            <a:ext cx="3534156" cy="2447849"/>
          </a:xfrm>
          <a:prstGeom prst="roundRect">
            <a:avLst>
              <a:gd name="adj" fmla="val 1744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330598" y="1495044"/>
            <a:ext cx="3534156" cy="2447849"/>
          </a:xfrm>
          <a:prstGeom prst="roundRect">
            <a:avLst>
              <a:gd name="adj" fmla="val 1744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571500" y="4125773"/>
            <a:ext cx="11048695" cy="2352751"/>
          </a:xfrm>
          <a:prstGeom prst="roundRect">
            <a:avLst>
              <a:gd name="adj" fmla="val 1888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8089697" y="1495044"/>
            <a:ext cx="3534156" cy="2447849"/>
          </a:xfrm>
          <a:prstGeom prst="roundRect">
            <a:avLst>
              <a:gd name="adj" fmla="val 1744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1754" y="4364431"/>
            <a:ext cx="152705" cy="152705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771754" y="4668926"/>
            <a:ext cx="2133295" cy="400507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8"/>
          <p:cNvSpPr/>
          <p:nvPr/>
        </p:nvSpPr>
        <p:spPr>
          <a:xfrm>
            <a:off x="771754" y="5050231"/>
            <a:ext cx="2133295" cy="19202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2901391" y="4668926"/>
            <a:ext cx="1600200" cy="400507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0"/>
          <p:cNvSpPr/>
          <p:nvPr/>
        </p:nvSpPr>
        <p:spPr>
          <a:xfrm>
            <a:off x="2901391" y="5050231"/>
            <a:ext cx="1600200" cy="19202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1"/>
          <p:cNvSpPr/>
          <p:nvPr/>
        </p:nvSpPr>
        <p:spPr>
          <a:xfrm>
            <a:off x="4498848" y="4668926"/>
            <a:ext cx="1600200" cy="400507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2"/>
          <p:cNvSpPr/>
          <p:nvPr/>
        </p:nvSpPr>
        <p:spPr>
          <a:xfrm>
            <a:off x="4498848" y="5050231"/>
            <a:ext cx="1600200" cy="19202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3"/>
          <p:cNvSpPr/>
          <p:nvPr/>
        </p:nvSpPr>
        <p:spPr>
          <a:xfrm>
            <a:off x="6095390" y="4668926"/>
            <a:ext cx="2667305" cy="400507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4"/>
          <p:cNvSpPr/>
          <p:nvPr/>
        </p:nvSpPr>
        <p:spPr>
          <a:xfrm>
            <a:off x="6095390" y="5050231"/>
            <a:ext cx="2667305" cy="19202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5"/>
          <p:cNvSpPr/>
          <p:nvPr/>
        </p:nvSpPr>
        <p:spPr>
          <a:xfrm>
            <a:off x="8758123" y="4668926"/>
            <a:ext cx="2667305" cy="400507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6"/>
          <p:cNvSpPr/>
          <p:nvPr/>
        </p:nvSpPr>
        <p:spPr>
          <a:xfrm>
            <a:off x="8758123" y="5050231"/>
            <a:ext cx="2667305" cy="19202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7"/>
          <p:cNvSpPr/>
          <p:nvPr/>
        </p:nvSpPr>
        <p:spPr>
          <a:xfrm>
            <a:off x="771754" y="5472684"/>
            <a:ext cx="2133295" cy="9144"/>
          </a:xfrm>
          <a:prstGeom prst="rect">
            <a:avLst/>
          </a:prstGeom>
          <a:solidFill>
            <a:srgbClr val="94A3B8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8"/>
          <p:cNvSpPr/>
          <p:nvPr/>
        </p:nvSpPr>
        <p:spPr>
          <a:xfrm>
            <a:off x="2901391" y="5472684"/>
            <a:ext cx="1600200" cy="9144"/>
          </a:xfrm>
          <a:prstGeom prst="rect">
            <a:avLst/>
          </a:prstGeom>
          <a:solidFill>
            <a:srgbClr val="94A3B8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9"/>
          <p:cNvSpPr/>
          <p:nvPr/>
        </p:nvSpPr>
        <p:spPr>
          <a:xfrm>
            <a:off x="4498848" y="5472684"/>
            <a:ext cx="1600200" cy="9144"/>
          </a:xfrm>
          <a:prstGeom prst="rect">
            <a:avLst/>
          </a:prstGeom>
          <a:solidFill>
            <a:srgbClr val="94A3B8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0"/>
          <p:cNvSpPr/>
          <p:nvPr/>
        </p:nvSpPr>
        <p:spPr>
          <a:xfrm>
            <a:off x="6095390" y="5472684"/>
            <a:ext cx="2667305" cy="9144"/>
          </a:xfrm>
          <a:prstGeom prst="rect">
            <a:avLst/>
          </a:prstGeom>
          <a:solidFill>
            <a:srgbClr val="94A3B8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1"/>
          <p:cNvSpPr/>
          <p:nvPr/>
        </p:nvSpPr>
        <p:spPr>
          <a:xfrm>
            <a:off x="8758123" y="5472684"/>
            <a:ext cx="2667305" cy="9144"/>
          </a:xfrm>
          <a:prstGeom prst="rect">
            <a:avLst/>
          </a:prstGeom>
          <a:solidFill>
            <a:srgbClr val="94A3B8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2"/>
          <p:cNvSpPr/>
          <p:nvPr/>
        </p:nvSpPr>
        <p:spPr>
          <a:xfrm>
            <a:off x="771754" y="5878678"/>
            <a:ext cx="2133295" cy="9144"/>
          </a:xfrm>
          <a:prstGeom prst="rect">
            <a:avLst/>
          </a:prstGeom>
          <a:solidFill>
            <a:srgbClr val="94A3B8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3"/>
          <p:cNvSpPr/>
          <p:nvPr/>
        </p:nvSpPr>
        <p:spPr>
          <a:xfrm>
            <a:off x="2901391" y="5878678"/>
            <a:ext cx="1600200" cy="9144"/>
          </a:xfrm>
          <a:prstGeom prst="rect">
            <a:avLst/>
          </a:prstGeom>
          <a:solidFill>
            <a:srgbClr val="94A3B8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4"/>
          <p:cNvSpPr/>
          <p:nvPr/>
        </p:nvSpPr>
        <p:spPr>
          <a:xfrm>
            <a:off x="4498848" y="5878678"/>
            <a:ext cx="1600200" cy="9144"/>
          </a:xfrm>
          <a:prstGeom prst="rect">
            <a:avLst/>
          </a:prstGeom>
          <a:solidFill>
            <a:srgbClr val="94A3B8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5"/>
          <p:cNvSpPr/>
          <p:nvPr/>
        </p:nvSpPr>
        <p:spPr>
          <a:xfrm>
            <a:off x="6095390" y="5878678"/>
            <a:ext cx="2667305" cy="9144"/>
          </a:xfrm>
          <a:prstGeom prst="rect">
            <a:avLst/>
          </a:prstGeom>
          <a:solidFill>
            <a:srgbClr val="94A3B8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6"/>
          <p:cNvSpPr/>
          <p:nvPr/>
        </p:nvSpPr>
        <p:spPr>
          <a:xfrm>
            <a:off x="8758123" y="5878678"/>
            <a:ext cx="2667305" cy="9144"/>
          </a:xfrm>
          <a:prstGeom prst="rect">
            <a:avLst/>
          </a:prstGeom>
          <a:solidFill>
            <a:srgbClr val="94A3B8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6"/>
          <p:cNvSpPr txBox="1"/>
          <p:nvPr/>
        </p:nvSpPr>
        <p:spPr>
          <a:xfrm>
            <a:off x="1086307" y="4326026"/>
            <a:ext cx="3172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공개 서비스 포트 목록 (Public Service Ports)</a:t>
            </a:r>
            <a:endParaRPr lang="en-US" sz="1200" dirty="0"/>
          </a:p>
        </p:txBody>
      </p:sp>
      <p:sp>
        <p:nvSpPr>
          <p:cNvPr id="60" name="Text 57"/>
          <p:cNvSpPr txBox="1"/>
          <p:nvPr/>
        </p:nvSpPr>
        <p:spPr>
          <a:xfrm>
            <a:off x="923544" y="4764024"/>
            <a:ext cx="10497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(Service)</a:t>
            </a:r>
            <a:endParaRPr lang="en-US" sz="1000" dirty="0"/>
          </a:p>
        </p:txBody>
      </p:sp>
      <p:sp>
        <p:nvSpPr>
          <p:cNvPr id="61" name="Text 58"/>
          <p:cNvSpPr txBox="1"/>
          <p:nvPr/>
        </p:nvSpPr>
        <p:spPr>
          <a:xfrm>
            <a:off x="3054096" y="4764024"/>
            <a:ext cx="5833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프로토콜</a:t>
            </a:r>
            <a:endParaRPr lang="en-US" sz="1000" dirty="0"/>
          </a:p>
        </p:txBody>
      </p:sp>
      <p:sp>
        <p:nvSpPr>
          <p:cNvPr id="62" name="Text 59"/>
          <p:cNvSpPr txBox="1"/>
          <p:nvPr/>
        </p:nvSpPr>
        <p:spPr>
          <a:xfrm>
            <a:off x="4650638" y="4764024"/>
            <a:ext cx="6117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포트</a:t>
            </a:r>
            <a:endParaRPr lang="en-US" sz="1000" dirty="0"/>
          </a:p>
        </p:txBody>
      </p:sp>
      <p:sp>
        <p:nvSpPr>
          <p:cNvPr id="63" name="Text 60"/>
          <p:cNvSpPr txBox="1"/>
          <p:nvPr/>
        </p:nvSpPr>
        <p:spPr>
          <a:xfrm>
            <a:off x="6248095" y="4764024"/>
            <a:ext cx="11457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대상 (Target)</a:t>
            </a:r>
            <a:endParaRPr lang="en-US" sz="1000" dirty="0"/>
          </a:p>
        </p:txBody>
      </p:sp>
      <p:sp>
        <p:nvSpPr>
          <p:cNvPr id="64" name="Text 61"/>
          <p:cNvSpPr txBox="1"/>
          <p:nvPr/>
        </p:nvSpPr>
        <p:spPr>
          <a:xfrm>
            <a:off x="8909914" y="4764024"/>
            <a:ext cx="3456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비고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923544" y="5175504"/>
            <a:ext cx="8311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Web Server</a:t>
            </a:r>
            <a:endParaRPr lang="en-US" sz="1000" dirty="0"/>
          </a:p>
        </p:txBody>
      </p:sp>
      <p:sp>
        <p:nvSpPr>
          <p:cNvPr id="66" name="Text 63"/>
          <p:cNvSpPr txBox="1"/>
          <p:nvPr/>
        </p:nvSpPr>
        <p:spPr>
          <a:xfrm>
            <a:off x="3054096" y="5175504"/>
            <a:ext cx="3456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TCP</a:t>
            </a:r>
            <a:endParaRPr lang="en-US" sz="1000" dirty="0"/>
          </a:p>
        </p:txBody>
      </p:sp>
      <p:sp>
        <p:nvSpPr>
          <p:cNvPr id="67" name="Text 64"/>
          <p:cNvSpPr txBox="1"/>
          <p:nvPr/>
        </p:nvSpPr>
        <p:spPr>
          <a:xfrm>
            <a:off x="4650638" y="5175504"/>
            <a:ext cx="5833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80 / 443</a:t>
            </a:r>
            <a:endParaRPr lang="en-US" sz="1000" dirty="0"/>
          </a:p>
        </p:txBody>
      </p:sp>
      <p:sp>
        <p:nvSpPr>
          <p:cNvPr id="68" name="Text 65"/>
          <p:cNvSpPr txBox="1"/>
          <p:nvPr/>
        </p:nvSpPr>
        <p:spPr>
          <a:xfrm>
            <a:off x="6248095" y="5175504"/>
            <a:ext cx="14026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192.168.10.10 (Nginx)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8909914" y="5168189"/>
            <a:ext cx="838505" cy="209398"/>
          </a:xfrm>
          <a:prstGeom prst="roundRect">
            <a:avLst>
              <a:gd name="adj" fmla="val 79396"/>
            </a:avLst>
          </a:prstGeom>
          <a:solidFill>
            <a:srgbClr val="22C55E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7"/>
          <p:cNvSpPr txBox="1"/>
          <p:nvPr/>
        </p:nvSpPr>
        <p:spPr>
          <a:xfrm>
            <a:off x="8986723" y="5187391"/>
            <a:ext cx="7717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ADE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 Open</a:t>
            </a:r>
            <a:endParaRPr lang="en-US" sz="900" dirty="0"/>
          </a:p>
        </p:txBody>
      </p:sp>
      <p:sp>
        <p:nvSpPr>
          <p:cNvPr id="71" name="Text 68"/>
          <p:cNvSpPr txBox="1"/>
          <p:nvPr/>
        </p:nvSpPr>
        <p:spPr>
          <a:xfrm>
            <a:off x="923544" y="5585155"/>
            <a:ext cx="7068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OpenVPN</a:t>
            </a:r>
            <a:endParaRPr lang="en-US" sz="1000" dirty="0"/>
          </a:p>
        </p:txBody>
      </p:sp>
      <p:sp>
        <p:nvSpPr>
          <p:cNvPr id="72" name="Text 69"/>
          <p:cNvSpPr txBox="1"/>
          <p:nvPr/>
        </p:nvSpPr>
        <p:spPr>
          <a:xfrm>
            <a:off x="3054096" y="5585155"/>
            <a:ext cx="3639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UDP</a:t>
            </a:r>
            <a:endParaRPr lang="en-US" sz="1000" dirty="0"/>
          </a:p>
        </p:txBody>
      </p:sp>
      <p:sp>
        <p:nvSpPr>
          <p:cNvPr id="73" name="Text 70"/>
          <p:cNvSpPr txBox="1"/>
          <p:nvPr/>
        </p:nvSpPr>
        <p:spPr>
          <a:xfrm>
            <a:off x="4650638" y="5585155"/>
            <a:ext cx="3931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1194</a:t>
            </a:r>
            <a:endParaRPr lang="en-US" sz="1000" dirty="0"/>
          </a:p>
        </p:txBody>
      </p:sp>
      <p:sp>
        <p:nvSpPr>
          <p:cNvPr id="74" name="Text 71"/>
          <p:cNvSpPr txBox="1"/>
          <p:nvPr/>
        </p:nvSpPr>
        <p:spPr>
          <a:xfrm>
            <a:off x="6248095" y="5585155"/>
            <a:ext cx="10881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127.0.0.1 (Local)</a:t>
            </a:r>
            <a:endParaRPr lang="en-US" sz="1000" dirty="0"/>
          </a:p>
        </p:txBody>
      </p:sp>
      <p:sp>
        <p:nvSpPr>
          <p:cNvPr id="75" name="Shape 72"/>
          <p:cNvSpPr/>
          <p:nvPr/>
        </p:nvSpPr>
        <p:spPr>
          <a:xfrm>
            <a:off x="8909914" y="5577840"/>
            <a:ext cx="714146" cy="209398"/>
          </a:xfrm>
          <a:prstGeom prst="roundRect">
            <a:avLst>
              <a:gd name="adj" fmla="val 79396"/>
            </a:avLst>
          </a:prstGeom>
          <a:solidFill>
            <a:srgbClr val="A855F7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3"/>
          <p:cNvSpPr txBox="1"/>
          <p:nvPr/>
        </p:nvSpPr>
        <p:spPr>
          <a:xfrm>
            <a:off x="8986723" y="5597042"/>
            <a:ext cx="6483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084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Tunneling</a:t>
            </a:r>
            <a:endParaRPr lang="en-US" sz="900" dirty="0"/>
          </a:p>
        </p:txBody>
      </p:sp>
      <p:sp>
        <p:nvSpPr>
          <p:cNvPr id="77" name="Text 74"/>
          <p:cNvSpPr txBox="1"/>
          <p:nvPr/>
        </p:nvSpPr>
        <p:spPr>
          <a:xfrm>
            <a:off x="923544" y="5987491"/>
            <a:ext cx="878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Bastion SSH</a:t>
            </a:r>
            <a:endParaRPr lang="en-US" sz="1000" dirty="0"/>
          </a:p>
        </p:txBody>
      </p:sp>
      <p:sp>
        <p:nvSpPr>
          <p:cNvPr id="78" name="Text 75"/>
          <p:cNvSpPr txBox="1"/>
          <p:nvPr/>
        </p:nvSpPr>
        <p:spPr>
          <a:xfrm>
            <a:off x="3054096" y="5987491"/>
            <a:ext cx="3456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TCP</a:t>
            </a:r>
            <a:endParaRPr lang="en-US" sz="1000" dirty="0"/>
          </a:p>
        </p:txBody>
      </p:sp>
      <p:sp>
        <p:nvSpPr>
          <p:cNvPr id="79" name="Text 76"/>
          <p:cNvSpPr txBox="1"/>
          <p:nvPr/>
        </p:nvSpPr>
        <p:spPr>
          <a:xfrm>
            <a:off x="4650638" y="5987491"/>
            <a:ext cx="75529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2222 (변경)</a:t>
            </a:r>
            <a:endParaRPr lang="en-US" sz="1000" dirty="0"/>
          </a:p>
        </p:txBody>
      </p:sp>
      <p:sp>
        <p:nvSpPr>
          <p:cNvPr id="80" name="Text 77"/>
          <p:cNvSpPr txBox="1"/>
          <p:nvPr/>
        </p:nvSpPr>
        <p:spPr>
          <a:xfrm>
            <a:off x="6248095" y="5987491"/>
            <a:ext cx="14401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192.168.20.5 (Bastion)</a:t>
            </a:r>
            <a:endParaRPr lang="en-US" sz="1000" dirty="0"/>
          </a:p>
        </p:txBody>
      </p:sp>
      <p:sp>
        <p:nvSpPr>
          <p:cNvPr id="81" name="Text 78"/>
          <p:cNvSpPr txBox="1"/>
          <p:nvPr/>
        </p:nvSpPr>
        <p:spPr>
          <a:xfrm>
            <a:off x="8909914" y="5987491"/>
            <a:ext cx="124998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IP 화이트리스트 적용</a:t>
            </a:r>
            <a:endParaRPr lang="en-US" sz="1000" dirty="0"/>
          </a:p>
        </p:txBody>
      </p:sp>
      <p:sp>
        <p:nvSpPr>
          <p:cNvPr id="82" name="Shape 79"/>
          <p:cNvSpPr/>
          <p:nvPr/>
        </p:nvSpPr>
        <p:spPr>
          <a:xfrm>
            <a:off x="580644" y="1505102"/>
            <a:ext cx="3514954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Shape 80"/>
          <p:cNvSpPr/>
          <p:nvPr/>
        </p:nvSpPr>
        <p:spPr>
          <a:xfrm>
            <a:off x="580644" y="2229307"/>
            <a:ext cx="3514954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" name="Shape 81"/>
          <p:cNvSpPr/>
          <p:nvPr/>
        </p:nvSpPr>
        <p:spPr>
          <a:xfrm>
            <a:off x="771754" y="1676095"/>
            <a:ext cx="381305" cy="381305"/>
          </a:xfrm>
          <a:prstGeom prst="roundRect">
            <a:avLst>
              <a:gd name="adj" fmla="val 59952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12700" dir="16200000" algn="bl" rotWithShape="0">
              <a:srgbClr val="3B82F6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75995" y="1781251"/>
            <a:ext cx="171907" cy="171907"/>
          </a:xfrm>
          <a:prstGeom prst="rect">
            <a:avLst/>
          </a:prstGeom>
        </p:spPr>
      </p:pic>
      <p:sp>
        <p:nvSpPr>
          <p:cNvPr id="86" name="Text 82"/>
          <p:cNvSpPr txBox="1"/>
          <p:nvPr/>
        </p:nvSpPr>
        <p:spPr>
          <a:xfrm>
            <a:off x="1266444" y="1647749"/>
            <a:ext cx="8860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Routing</a:t>
            </a:r>
            <a:endParaRPr lang="en-US" sz="1500" dirty="0"/>
          </a:p>
        </p:txBody>
      </p:sp>
      <p:sp>
        <p:nvSpPr>
          <p:cNvPr id="87" name="Text 83"/>
          <p:cNvSpPr txBox="1"/>
          <p:nvPr/>
        </p:nvSpPr>
        <p:spPr>
          <a:xfrm>
            <a:off x="1266444" y="1923898"/>
            <a:ext cx="8293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C5FD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경로 제어</a:t>
            </a:r>
            <a:endParaRPr lang="en-US" sz="900" dirty="0"/>
          </a:p>
        </p:txBody>
      </p:sp>
      <p:grpSp>
        <p:nvGrpSpPr>
          <p:cNvPr id="109" name="그룹 108"/>
          <p:cNvGrpSpPr/>
          <p:nvPr/>
        </p:nvGrpSpPr>
        <p:grpSpPr>
          <a:xfrm>
            <a:off x="771754" y="2391157"/>
            <a:ext cx="3133649" cy="1449324"/>
            <a:chOff x="771754" y="2391156"/>
            <a:chExt cx="3133649" cy="2046427"/>
          </a:xfrm>
        </p:grpSpPr>
        <p:sp>
          <p:nvSpPr>
            <p:cNvPr id="8" name="Shape 6"/>
            <p:cNvSpPr/>
            <p:nvPr/>
          </p:nvSpPr>
          <p:spPr>
            <a:xfrm>
              <a:off x="771754" y="2391156"/>
              <a:ext cx="3133649" cy="609905"/>
            </a:xfrm>
            <a:prstGeom prst="roundRect">
              <a:avLst>
                <a:gd name="adj" fmla="val 18741"/>
              </a:avLst>
            </a:prstGeom>
            <a:solidFill>
              <a:srgbClr val="0F172A">
                <a:alpha val="3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1114654" y="2731313"/>
              <a:ext cx="2053742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내부망(MGMT, SVC, DB) 간 통신 중계</a:t>
              </a:r>
              <a:endParaRPr lang="en-US" sz="9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771754" y="3108960"/>
              <a:ext cx="3133649" cy="609905"/>
            </a:xfrm>
            <a:prstGeom prst="roundRect">
              <a:avLst>
                <a:gd name="adj" fmla="val 18741"/>
              </a:avLst>
            </a:prstGeom>
            <a:solidFill>
              <a:srgbClr val="0F172A">
                <a:alpha val="3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 9"/>
            <p:cNvSpPr txBox="1"/>
            <p:nvPr/>
          </p:nvSpPr>
          <p:spPr>
            <a:xfrm>
              <a:off x="1086307" y="3450031"/>
              <a:ext cx="1930298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OpenVPN 및 특수 목적망 경로 지정</a:t>
              </a:r>
              <a:endParaRPr lang="en-US" sz="9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771754" y="3827678"/>
              <a:ext cx="3133649" cy="609905"/>
            </a:xfrm>
            <a:prstGeom prst="roundRect">
              <a:avLst>
                <a:gd name="adj" fmla="val 18741"/>
              </a:avLst>
            </a:prstGeom>
            <a:solidFill>
              <a:srgbClr val="0F172A">
                <a:alpha val="3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 11"/>
            <p:cNvSpPr txBox="1"/>
            <p:nvPr/>
          </p:nvSpPr>
          <p:spPr>
            <a:xfrm>
              <a:off x="1104595" y="4168750"/>
              <a:ext cx="1805940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Multi-WAN 페일오버 및 우선순위</a:t>
              </a:r>
              <a:endParaRPr lang="en-US" sz="900" dirty="0"/>
            </a:p>
          </p:txBody>
        </p:sp>
        <p:sp>
          <p:nvSpPr>
            <p:cNvPr id="50" name="Text 47"/>
            <p:cNvSpPr txBox="1"/>
            <p:nvPr/>
          </p:nvSpPr>
          <p:spPr>
            <a:xfrm>
              <a:off x="1114654" y="2495398"/>
              <a:ext cx="1490472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F1F5F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Inter-VLAN Routing</a:t>
              </a:r>
              <a:endParaRPr lang="en-US" sz="1100" dirty="0"/>
            </a:p>
          </p:txBody>
        </p:sp>
        <p:sp>
          <p:nvSpPr>
            <p:cNvPr id="51" name="Text 48"/>
            <p:cNvSpPr txBox="1"/>
            <p:nvPr/>
          </p:nvSpPr>
          <p:spPr>
            <a:xfrm>
              <a:off x="1086307" y="3214116"/>
              <a:ext cx="1052474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F1F5F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Static Routes</a:t>
              </a:r>
              <a:endParaRPr lang="en-US" sz="1100" dirty="0"/>
            </a:p>
          </p:txBody>
        </p:sp>
        <p:sp>
          <p:nvSpPr>
            <p:cNvPr id="52" name="Text 49"/>
            <p:cNvSpPr txBox="1"/>
            <p:nvPr/>
          </p:nvSpPr>
          <p:spPr>
            <a:xfrm>
              <a:off x="1104595" y="3932834"/>
              <a:ext cx="1318565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F1F5F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Gateway Priority</a:t>
              </a:r>
              <a:endParaRPr lang="en-US" sz="1100" dirty="0"/>
            </a:p>
          </p:txBody>
        </p:sp>
        <p:pic>
          <p:nvPicPr>
            <p:cNvPr id="88" name="Image 2" descr="preencoded.png"/>
            <p:cNvPicPr>
              <a:picLocks noChangeAspect="1"/>
            </p:cNvPicPr>
            <p:nvPr/>
          </p:nvPicPr>
          <p:blipFill>
            <a:blip r:embed="rId5">
              <a:alphaModFix amt="80000"/>
            </a:blip>
            <a:srcRect t="-80" b="-80"/>
            <a:stretch/>
          </p:blipFill>
          <p:spPr>
            <a:xfrm>
              <a:off x="875995" y="2533802"/>
              <a:ext cx="142646" cy="114300"/>
            </a:xfrm>
            <a:prstGeom prst="rect">
              <a:avLst/>
            </a:prstGeom>
          </p:spPr>
        </p:pic>
        <p:pic>
          <p:nvPicPr>
            <p:cNvPr id="89" name="Image 3" descr="preencoded.png"/>
            <p:cNvPicPr>
              <a:picLocks noChangeAspect="1"/>
            </p:cNvPicPr>
            <p:nvPr/>
          </p:nvPicPr>
          <p:blipFill>
            <a:blip r:embed="rId6">
              <a:alphaModFix amt="80000"/>
            </a:blip>
            <a:srcRect/>
            <a:stretch/>
          </p:blipFill>
          <p:spPr>
            <a:xfrm>
              <a:off x="875995" y="3252521"/>
              <a:ext cx="114300" cy="114300"/>
            </a:xfrm>
            <a:prstGeom prst="rect">
              <a:avLst/>
            </a:prstGeom>
          </p:spPr>
        </p:pic>
        <p:pic>
          <p:nvPicPr>
            <p:cNvPr id="90" name="Image 4" descr="preencoded.png"/>
            <p:cNvPicPr>
              <a:picLocks noChangeAspect="1"/>
            </p:cNvPicPr>
            <p:nvPr/>
          </p:nvPicPr>
          <p:blipFill>
            <a:blip r:embed="rId7">
              <a:alphaModFix amt="80000"/>
            </a:blip>
            <a:srcRect l="-1911" r="-1911"/>
            <a:stretch/>
          </p:blipFill>
          <p:spPr>
            <a:xfrm>
              <a:off x="875995" y="3970325"/>
              <a:ext cx="133502" cy="114300"/>
            </a:xfrm>
            <a:prstGeom prst="rect">
              <a:avLst/>
            </a:prstGeom>
          </p:spPr>
        </p:pic>
      </p:grpSp>
      <p:sp>
        <p:nvSpPr>
          <p:cNvPr id="91" name="Shape 84"/>
          <p:cNvSpPr/>
          <p:nvPr/>
        </p:nvSpPr>
        <p:spPr>
          <a:xfrm>
            <a:off x="4340657" y="1505102"/>
            <a:ext cx="3514954" cy="38405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" name="Shape 85"/>
          <p:cNvSpPr/>
          <p:nvPr/>
        </p:nvSpPr>
        <p:spPr>
          <a:xfrm>
            <a:off x="4340657" y="2229307"/>
            <a:ext cx="3514954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" name="Shape 86"/>
          <p:cNvSpPr/>
          <p:nvPr/>
        </p:nvSpPr>
        <p:spPr>
          <a:xfrm>
            <a:off x="4530852" y="1676095"/>
            <a:ext cx="381305" cy="381305"/>
          </a:xfrm>
          <a:prstGeom prst="roundRect">
            <a:avLst>
              <a:gd name="adj" fmla="val 59952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12700" dir="16200000" algn="bl" rotWithShape="0">
              <a:srgbClr val="F97316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4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635094" y="1781251"/>
            <a:ext cx="171907" cy="171907"/>
          </a:xfrm>
          <a:prstGeom prst="rect">
            <a:avLst/>
          </a:prstGeom>
        </p:spPr>
      </p:pic>
      <p:sp>
        <p:nvSpPr>
          <p:cNvPr id="95" name="Text 87"/>
          <p:cNvSpPr txBox="1"/>
          <p:nvPr/>
        </p:nvSpPr>
        <p:spPr>
          <a:xfrm>
            <a:off x="5026457" y="1647749"/>
            <a:ext cx="5148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NAT</a:t>
            </a:r>
            <a:endParaRPr lang="en-US" sz="1500" dirty="0"/>
          </a:p>
        </p:txBody>
      </p:sp>
      <p:sp>
        <p:nvSpPr>
          <p:cNvPr id="96" name="Text 88"/>
          <p:cNvSpPr txBox="1"/>
          <p:nvPr/>
        </p:nvSpPr>
        <p:spPr>
          <a:xfrm>
            <a:off x="5026457" y="1923898"/>
            <a:ext cx="5431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주소 변환</a:t>
            </a:r>
            <a:endParaRPr lang="en-US" sz="900" dirty="0"/>
          </a:p>
        </p:txBody>
      </p:sp>
      <p:grpSp>
        <p:nvGrpSpPr>
          <p:cNvPr id="110" name="그룹 109"/>
          <p:cNvGrpSpPr/>
          <p:nvPr/>
        </p:nvGrpSpPr>
        <p:grpSpPr>
          <a:xfrm>
            <a:off x="4530852" y="2391156"/>
            <a:ext cx="3133649" cy="1449325"/>
            <a:chOff x="4530852" y="2391156"/>
            <a:chExt cx="3133649" cy="2046427"/>
          </a:xfrm>
        </p:grpSpPr>
        <p:sp>
          <p:nvSpPr>
            <p:cNvPr id="15" name="Shape 13"/>
            <p:cNvSpPr/>
            <p:nvPr/>
          </p:nvSpPr>
          <p:spPr>
            <a:xfrm>
              <a:off x="4530852" y="2391156"/>
              <a:ext cx="3133649" cy="609905"/>
            </a:xfrm>
            <a:prstGeom prst="roundRect">
              <a:avLst>
                <a:gd name="adj" fmla="val 18741"/>
              </a:avLst>
            </a:prstGeom>
            <a:solidFill>
              <a:srgbClr val="0F172A">
                <a:alpha val="3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 14"/>
            <p:cNvSpPr txBox="1"/>
            <p:nvPr/>
          </p:nvSpPr>
          <p:spPr>
            <a:xfrm>
              <a:off x="4845406" y="2731313"/>
              <a:ext cx="2044598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내부 사설 IP → 공인 IP 변환 (Hybrid)</a:t>
              </a:r>
              <a:endParaRPr lang="en-US" sz="9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4530852" y="3108960"/>
              <a:ext cx="3133649" cy="609905"/>
            </a:xfrm>
            <a:prstGeom prst="roundRect">
              <a:avLst>
                <a:gd name="adj" fmla="val 18741"/>
              </a:avLst>
            </a:prstGeom>
            <a:solidFill>
              <a:srgbClr val="0F172A">
                <a:alpha val="3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 16"/>
            <p:cNvSpPr txBox="1"/>
            <p:nvPr/>
          </p:nvSpPr>
          <p:spPr>
            <a:xfrm>
              <a:off x="4863694" y="3450031"/>
              <a:ext cx="1644091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소스 IP 은닉 및 외부 통신 지원</a:t>
              </a:r>
              <a:endParaRPr lang="en-US" sz="9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4530852" y="3827678"/>
              <a:ext cx="3133649" cy="609905"/>
            </a:xfrm>
            <a:prstGeom prst="roundRect">
              <a:avLst>
                <a:gd name="adj" fmla="val 18741"/>
              </a:avLst>
            </a:prstGeom>
            <a:solidFill>
              <a:srgbClr val="0F172A">
                <a:alpha val="3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 18"/>
            <p:cNvSpPr txBox="1"/>
            <p:nvPr/>
          </p:nvSpPr>
          <p:spPr>
            <a:xfrm>
              <a:off x="4816145" y="4168750"/>
              <a:ext cx="1720901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변환 이벤트 기록 및 추적성 확보</a:t>
              </a:r>
              <a:endParaRPr lang="en-US" sz="900" dirty="0"/>
            </a:p>
          </p:txBody>
        </p:sp>
        <p:sp>
          <p:nvSpPr>
            <p:cNvPr id="53" name="Text 50"/>
            <p:cNvSpPr txBox="1"/>
            <p:nvPr/>
          </p:nvSpPr>
          <p:spPr>
            <a:xfrm>
              <a:off x="4845406" y="2495398"/>
              <a:ext cx="1156716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F1F5F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Outbound NAT</a:t>
              </a:r>
              <a:endParaRPr lang="en-US" sz="1100" dirty="0"/>
            </a:p>
          </p:txBody>
        </p:sp>
        <p:sp>
          <p:nvSpPr>
            <p:cNvPr id="54" name="Text 51"/>
            <p:cNvSpPr txBox="1"/>
            <p:nvPr/>
          </p:nvSpPr>
          <p:spPr>
            <a:xfrm>
              <a:off x="4863694" y="3214116"/>
              <a:ext cx="1118311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F1F5F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Masquerading</a:t>
              </a:r>
              <a:endParaRPr lang="en-US" sz="1100" dirty="0"/>
            </a:p>
          </p:txBody>
        </p:sp>
        <p:sp>
          <p:nvSpPr>
            <p:cNvPr id="55" name="Text 52"/>
            <p:cNvSpPr txBox="1"/>
            <p:nvPr/>
          </p:nvSpPr>
          <p:spPr>
            <a:xfrm>
              <a:off x="4816145" y="3932834"/>
              <a:ext cx="1004011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F1F5F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NAT Logging</a:t>
              </a:r>
              <a:endParaRPr lang="en-US" sz="1100" dirty="0"/>
            </a:p>
          </p:txBody>
        </p:sp>
        <p:pic>
          <p:nvPicPr>
            <p:cNvPr id="97" name="Image 6" descr="preencoded.png"/>
            <p:cNvPicPr>
              <a:picLocks noChangeAspect="1"/>
            </p:cNvPicPr>
            <p:nvPr/>
          </p:nvPicPr>
          <p:blipFill>
            <a:blip r:embed="rId9">
              <a:alphaModFix amt="80000"/>
            </a:blip>
            <a:srcRect/>
            <a:stretch/>
          </p:blipFill>
          <p:spPr>
            <a:xfrm>
              <a:off x="4635094" y="2533802"/>
              <a:ext cx="114300" cy="114300"/>
            </a:xfrm>
            <a:prstGeom prst="rect">
              <a:avLst/>
            </a:prstGeom>
          </p:spPr>
        </p:pic>
        <p:pic>
          <p:nvPicPr>
            <p:cNvPr id="98" name="Image 7" descr="preencoded.png"/>
            <p:cNvPicPr>
              <a:picLocks noChangeAspect="1"/>
            </p:cNvPicPr>
            <p:nvPr/>
          </p:nvPicPr>
          <p:blipFill>
            <a:blip r:embed="rId10">
              <a:alphaModFix amt="80000"/>
            </a:blip>
            <a:srcRect l="-1911" r="-1911"/>
            <a:stretch/>
          </p:blipFill>
          <p:spPr>
            <a:xfrm>
              <a:off x="4635094" y="3252521"/>
              <a:ext cx="133502" cy="114300"/>
            </a:xfrm>
            <a:prstGeom prst="rect">
              <a:avLst/>
            </a:prstGeom>
          </p:spPr>
        </p:pic>
        <p:pic>
          <p:nvPicPr>
            <p:cNvPr id="99" name="Image 8" descr="preencoded.png"/>
            <p:cNvPicPr>
              <a:picLocks noChangeAspect="1"/>
            </p:cNvPicPr>
            <p:nvPr/>
          </p:nvPicPr>
          <p:blipFill>
            <a:blip r:embed="rId11">
              <a:alphaModFix amt="80000"/>
            </a:blip>
            <a:srcRect l="-133" r="-133"/>
            <a:stretch/>
          </p:blipFill>
          <p:spPr>
            <a:xfrm>
              <a:off x="4635094" y="3970325"/>
              <a:ext cx="85954" cy="114300"/>
            </a:xfrm>
            <a:prstGeom prst="rect">
              <a:avLst/>
            </a:prstGeom>
          </p:spPr>
        </p:pic>
      </p:grpSp>
      <p:sp>
        <p:nvSpPr>
          <p:cNvPr id="100" name="Shape 89"/>
          <p:cNvSpPr/>
          <p:nvPr/>
        </p:nvSpPr>
        <p:spPr>
          <a:xfrm>
            <a:off x="8099755" y="1505102"/>
            <a:ext cx="3514954" cy="38405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" name="Shape 90"/>
          <p:cNvSpPr/>
          <p:nvPr/>
        </p:nvSpPr>
        <p:spPr>
          <a:xfrm>
            <a:off x="8099755" y="2229307"/>
            <a:ext cx="3514954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" name="Shape 91"/>
          <p:cNvSpPr/>
          <p:nvPr/>
        </p:nvSpPr>
        <p:spPr>
          <a:xfrm>
            <a:off x="8289950" y="1676095"/>
            <a:ext cx="381305" cy="381305"/>
          </a:xfrm>
          <a:prstGeom prst="roundRect">
            <a:avLst>
              <a:gd name="adj" fmla="val 59952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12700" dir="16200000" algn="bl" rotWithShape="0">
              <a:srgbClr val="A855F7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03" name="Image 9" descr="preencoded.png"/>
          <p:cNvPicPr>
            <a:picLocks noChangeAspect="1"/>
          </p:cNvPicPr>
          <p:nvPr/>
        </p:nvPicPr>
        <p:blipFill>
          <a:blip r:embed="rId12"/>
          <a:srcRect t="-842" b="-842"/>
          <a:stretch/>
        </p:blipFill>
        <p:spPr>
          <a:xfrm>
            <a:off x="8385048" y="1781251"/>
            <a:ext cx="190195" cy="171907"/>
          </a:xfrm>
          <a:prstGeom prst="rect">
            <a:avLst/>
          </a:prstGeom>
        </p:spPr>
      </p:pic>
      <p:sp>
        <p:nvSpPr>
          <p:cNvPr id="104" name="Text 92"/>
          <p:cNvSpPr txBox="1"/>
          <p:nvPr/>
        </p:nvSpPr>
        <p:spPr>
          <a:xfrm>
            <a:off x="8785555" y="1647749"/>
            <a:ext cx="13908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Port Forward</a:t>
            </a:r>
            <a:endParaRPr lang="en-US" sz="1500" dirty="0"/>
          </a:p>
        </p:txBody>
      </p:sp>
      <p:sp>
        <p:nvSpPr>
          <p:cNvPr id="105" name="Text 93"/>
          <p:cNvSpPr txBox="1"/>
          <p:nvPr/>
        </p:nvSpPr>
        <p:spPr>
          <a:xfrm>
            <a:off x="8785555" y="1923898"/>
            <a:ext cx="13341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4B5FD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노출</a:t>
            </a:r>
            <a:endParaRPr lang="en-US" sz="900" dirty="0"/>
          </a:p>
        </p:txBody>
      </p:sp>
      <p:grpSp>
        <p:nvGrpSpPr>
          <p:cNvPr id="111" name="그룹 110"/>
          <p:cNvGrpSpPr/>
          <p:nvPr/>
        </p:nvGrpSpPr>
        <p:grpSpPr>
          <a:xfrm>
            <a:off x="8289950" y="2391156"/>
            <a:ext cx="3133649" cy="1449325"/>
            <a:chOff x="8289950" y="2391156"/>
            <a:chExt cx="3133649" cy="2046427"/>
          </a:xfrm>
        </p:grpSpPr>
        <p:sp>
          <p:nvSpPr>
            <p:cNvPr id="22" name="Shape 20"/>
            <p:cNvSpPr/>
            <p:nvPr/>
          </p:nvSpPr>
          <p:spPr>
            <a:xfrm>
              <a:off x="8289950" y="2391156"/>
              <a:ext cx="3133649" cy="609905"/>
            </a:xfrm>
            <a:prstGeom prst="roundRect">
              <a:avLst>
                <a:gd name="adj" fmla="val 18741"/>
              </a:avLst>
            </a:prstGeom>
            <a:solidFill>
              <a:srgbClr val="0F172A">
                <a:alpha val="3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 21"/>
            <p:cNvSpPr txBox="1"/>
            <p:nvPr/>
          </p:nvSpPr>
          <p:spPr>
            <a:xfrm>
              <a:off x="8604504" y="2731313"/>
              <a:ext cx="1854403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공인 IP에 대한 별칭 및 ARP Proxy</a:t>
              </a:r>
              <a:endParaRPr lang="en-US" sz="9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8289950" y="3108960"/>
              <a:ext cx="3133649" cy="609905"/>
            </a:xfrm>
            <a:prstGeom prst="roundRect">
              <a:avLst>
                <a:gd name="adj" fmla="val 18741"/>
              </a:avLst>
            </a:prstGeom>
            <a:solidFill>
              <a:srgbClr val="0F172A">
                <a:alpha val="3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 23"/>
            <p:cNvSpPr txBox="1"/>
            <p:nvPr/>
          </p:nvSpPr>
          <p:spPr>
            <a:xfrm>
              <a:off x="8604504" y="3450031"/>
              <a:ext cx="1835201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특정 포트 요청을 내부 서버로 전달</a:t>
              </a:r>
              <a:endParaRPr lang="en-US" sz="9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8289950" y="3827678"/>
              <a:ext cx="3133649" cy="609905"/>
            </a:xfrm>
            <a:prstGeom prst="roundRect">
              <a:avLst>
                <a:gd name="adj" fmla="val 18741"/>
              </a:avLst>
            </a:prstGeom>
            <a:solidFill>
              <a:srgbClr val="0F172A">
                <a:alpha val="3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25"/>
            <p:cNvSpPr txBox="1"/>
            <p:nvPr/>
          </p:nvSpPr>
          <p:spPr>
            <a:xfrm>
              <a:off x="8604504" y="4168750"/>
              <a:ext cx="1758391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허용 국가 외 접속 자동 차단 연동</a:t>
              </a:r>
              <a:endParaRPr lang="en-US" sz="900" dirty="0"/>
            </a:p>
          </p:txBody>
        </p:sp>
        <p:sp>
          <p:nvSpPr>
            <p:cNvPr id="56" name="Text 53"/>
            <p:cNvSpPr txBox="1"/>
            <p:nvPr/>
          </p:nvSpPr>
          <p:spPr>
            <a:xfrm>
              <a:off x="8604504" y="2495398"/>
              <a:ext cx="1232611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F1F5F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Virtual IPs (VIP)</a:t>
              </a:r>
              <a:endParaRPr lang="en-US" sz="1100" dirty="0"/>
            </a:p>
          </p:txBody>
        </p:sp>
        <p:sp>
          <p:nvSpPr>
            <p:cNvPr id="57" name="Text 54"/>
            <p:cNvSpPr txBox="1"/>
            <p:nvPr/>
          </p:nvSpPr>
          <p:spPr>
            <a:xfrm>
              <a:off x="8604504" y="3214116"/>
              <a:ext cx="1033272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F1F5F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Inbound NAT</a:t>
              </a:r>
              <a:endParaRPr lang="en-US" sz="1100" dirty="0"/>
            </a:p>
          </p:txBody>
        </p:sp>
        <p:sp>
          <p:nvSpPr>
            <p:cNvPr id="58" name="Text 55"/>
            <p:cNvSpPr txBox="1"/>
            <p:nvPr/>
          </p:nvSpPr>
          <p:spPr>
            <a:xfrm>
              <a:off x="8604504" y="3932834"/>
              <a:ext cx="101407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F1F5F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Geo-IP Filter</a:t>
              </a:r>
              <a:endParaRPr lang="en-US" sz="1100" dirty="0"/>
            </a:p>
          </p:txBody>
        </p:sp>
        <p:pic>
          <p:nvPicPr>
            <p:cNvPr id="106" name="Image 10" descr="preencoded.png"/>
            <p:cNvPicPr>
              <a:picLocks noChangeAspect="1"/>
            </p:cNvPicPr>
            <p:nvPr/>
          </p:nvPicPr>
          <p:blipFill>
            <a:blip r:embed="rId13">
              <a:alphaModFix amt="80000"/>
            </a:blip>
            <a:srcRect/>
            <a:stretch/>
          </p:blipFill>
          <p:spPr>
            <a:xfrm>
              <a:off x="8395106" y="2533802"/>
              <a:ext cx="114300" cy="114300"/>
            </a:xfrm>
            <a:prstGeom prst="rect">
              <a:avLst/>
            </a:prstGeom>
          </p:spPr>
        </p:pic>
        <p:pic>
          <p:nvPicPr>
            <p:cNvPr id="107" name="Image 11" descr="preencoded.png"/>
            <p:cNvPicPr>
              <a:picLocks noChangeAspect="1"/>
            </p:cNvPicPr>
            <p:nvPr/>
          </p:nvPicPr>
          <p:blipFill>
            <a:blip r:embed="rId14">
              <a:alphaModFix amt="80000"/>
            </a:blip>
            <a:srcRect/>
            <a:stretch/>
          </p:blipFill>
          <p:spPr>
            <a:xfrm>
              <a:off x="8395106" y="3252521"/>
              <a:ext cx="114300" cy="114300"/>
            </a:xfrm>
            <a:prstGeom prst="rect">
              <a:avLst/>
            </a:prstGeom>
          </p:spPr>
        </p:pic>
        <p:pic>
          <p:nvPicPr>
            <p:cNvPr id="108" name="Image 12" descr="preencoded.png"/>
            <p:cNvPicPr>
              <a:picLocks noChangeAspect="1"/>
            </p:cNvPicPr>
            <p:nvPr/>
          </p:nvPicPr>
          <p:blipFill>
            <a:blip r:embed="rId15">
              <a:alphaModFix amt="80000"/>
            </a:blip>
            <a:srcRect/>
            <a:stretch/>
          </p:blipFill>
          <p:spPr>
            <a:xfrm>
              <a:off x="8395106" y="3970325"/>
              <a:ext cx="114300" cy="1143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81305" y="1353312"/>
            <a:ext cx="11430000" cy="9144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1507" r="-1507"/>
          <a:stretch/>
        </p:blipFill>
        <p:spPr>
          <a:xfrm>
            <a:off x="10253167" y="1042416"/>
            <a:ext cx="171907" cy="1335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00970" y="1013155"/>
            <a:ext cx="14145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Neutron Architecture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81305" y="1547165"/>
            <a:ext cx="7563002" cy="4934102"/>
          </a:xfrm>
          <a:prstGeom prst="roundRect">
            <a:avLst>
              <a:gd name="adj" fmla="val 429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  <a:effectLst>
            <a:outerShdw blurRad="292100" dist="1016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371246" y="1537106"/>
            <a:ext cx="190195" cy="1920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371246" y="1537106"/>
            <a:ext cx="19202" cy="190195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763256" y="1537106"/>
            <a:ext cx="190195" cy="1920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7934249" y="1537106"/>
            <a:ext cx="19202" cy="190195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371246" y="6467551"/>
            <a:ext cx="190195" cy="1920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371246" y="6295644"/>
            <a:ext cx="19202" cy="190195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7763256" y="6467551"/>
            <a:ext cx="190195" cy="1920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7934249" y="6295644"/>
            <a:ext cx="19202" cy="190195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0"/>
          <p:cNvSpPr/>
          <p:nvPr/>
        </p:nvSpPr>
        <p:spPr>
          <a:xfrm>
            <a:off x="8229600" y="1452067"/>
            <a:ext cx="3581705" cy="1181405"/>
          </a:xfrm>
          <a:prstGeom prst="rect">
            <a:avLst/>
          </a:prstGeom>
          <a:solidFill>
            <a:srgbClr val="1E293B">
              <a:alpha val="7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1"/>
          <p:cNvSpPr/>
          <p:nvPr/>
        </p:nvSpPr>
        <p:spPr>
          <a:xfrm>
            <a:off x="8229600" y="1452067"/>
            <a:ext cx="38405" cy="1181405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2"/>
          <p:cNvSpPr/>
          <p:nvPr/>
        </p:nvSpPr>
        <p:spPr>
          <a:xfrm>
            <a:off x="8419795" y="1603858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22D3EE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4"/>
          <a:srcRect l="-837" r="-837"/>
          <a:stretch/>
        </p:blipFill>
        <p:spPr>
          <a:xfrm>
            <a:off x="8477402" y="1670609"/>
            <a:ext cx="152705" cy="133502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8781898" y="1617574"/>
            <a:ext cx="197784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테넌트 네트워크 (Overlay)</a:t>
            </a:r>
            <a:endParaRPr lang="en-US" sz="1200" dirty="0"/>
          </a:p>
        </p:txBody>
      </p:sp>
      <p:sp>
        <p:nvSpPr>
          <p:cNvPr id="42" name="Text 34"/>
          <p:cNvSpPr txBox="1"/>
          <p:nvPr/>
        </p:nvSpPr>
        <p:spPr>
          <a:xfrm>
            <a:off x="8419795" y="1928470"/>
            <a:ext cx="333573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VXLAN/GRE 터널링을 통해 각 프로젝트(테넌트) 간 완벽한 논리적 네트워크 격리를 제공하여 멀티 테넌시 보안을 보장합니다.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8229600" y="2767889"/>
            <a:ext cx="3581705" cy="1181405"/>
          </a:xfrm>
          <a:prstGeom prst="rect">
            <a:avLst/>
          </a:prstGeom>
          <a:solidFill>
            <a:srgbClr val="1E293B">
              <a:alpha val="7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36"/>
          <p:cNvSpPr/>
          <p:nvPr/>
        </p:nvSpPr>
        <p:spPr>
          <a:xfrm>
            <a:off x="8229600" y="2767889"/>
            <a:ext cx="38405" cy="1181405"/>
          </a:xfrm>
          <a:prstGeom prst="rect">
            <a:avLst/>
          </a:prstGeom>
          <a:solidFill>
            <a:srgbClr val="F472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37"/>
          <p:cNvSpPr/>
          <p:nvPr/>
        </p:nvSpPr>
        <p:spPr>
          <a:xfrm>
            <a:off x="8419795" y="2919679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F472B6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486546" y="2986430"/>
            <a:ext cx="133502" cy="133502"/>
          </a:xfrm>
          <a:prstGeom prst="rect">
            <a:avLst/>
          </a:prstGeom>
        </p:spPr>
      </p:pic>
      <p:sp>
        <p:nvSpPr>
          <p:cNvPr id="47" name="Text 38"/>
          <p:cNvSpPr txBox="1"/>
          <p:nvPr/>
        </p:nvSpPr>
        <p:spPr>
          <a:xfrm>
            <a:off x="8781898" y="2933395"/>
            <a:ext cx="187269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Neutron Router &amp; NAT</a:t>
            </a:r>
            <a:endParaRPr lang="en-US" sz="1200" dirty="0"/>
          </a:p>
        </p:txBody>
      </p:sp>
      <p:sp>
        <p:nvSpPr>
          <p:cNvPr id="48" name="Text 39"/>
          <p:cNvSpPr txBox="1"/>
          <p:nvPr/>
        </p:nvSpPr>
        <p:spPr>
          <a:xfrm>
            <a:off x="8419795" y="3244291"/>
            <a:ext cx="333573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가상 라우터가 내부망과 외부망을 연결하며, Floating IP(1:1 NAT)와 SNAT를 통해 인바운드/아웃바운드 통신을 제어합니다.</a:t>
            </a:r>
            <a:endParaRPr lang="en-US" sz="1000" dirty="0"/>
          </a:p>
        </p:txBody>
      </p:sp>
      <p:sp>
        <p:nvSpPr>
          <p:cNvPr id="49" name="Shape 40"/>
          <p:cNvSpPr/>
          <p:nvPr/>
        </p:nvSpPr>
        <p:spPr>
          <a:xfrm>
            <a:off x="8229600" y="4083710"/>
            <a:ext cx="3581705" cy="1181405"/>
          </a:xfrm>
          <a:prstGeom prst="rect">
            <a:avLst/>
          </a:prstGeom>
          <a:solidFill>
            <a:srgbClr val="1E293B">
              <a:alpha val="7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1"/>
          <p:cNvSpPr/>
          <p:nvPr/>
        </p:nvSpPr>
        <p:spPr>
          <a:xfrm>
            <a:off x="8229600" y="4083710"/>
            <a:ext cx="38405" cy="1181405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2"/>
          <p:cNvSpPr/>
          <p:nvPr/>
        </p:nvSpPr>
        <p:spPr>
          <a:xfrm>
            <a:off x="8419795" y="4235501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34D399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2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86546" y="4302252"/>
            <a:ext cx="133502" cy="133502"/>
          </a:xfrm>
          <a:prstGeom prst="rect">
            <a:avLst/>
          </a:prstGeom>
        </p:spPr>
      </p:pic>
      <p:sp>
        <p:nvSpPr>
          <p:cNvPr id="53" name="Text 43"/>
          <p:cNvSpPr txBox="1"/>
          <p:nvPr/>
        </p:nvSpPr>
        <p:spPr>
          <a:xfrm>
            <a:off x="8781898" y="4249217"/>
            <a:ext cx="250179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그룹 (Micro-segmentation)</a:t>
            </a:r>
            <a:endParaRPr lang="en-US" sz="1200" dirty="0"/>
          </a:p>
        </p:txBody>
      </p:sp>
      <p:sp>
        <p:nvSpPr>
          <p:cNvPr id="54" name="Text 44"/>
          <p:cNvSpPr txBox="1"/>
          <p:nvPr/>
        </p:nvSpPr>
        <p:spPr>
          <a:xfrm>
            <a:off x="8419795" y="4559198"/>
            <a:ext cx="333573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VM의 vNIC 앞단에서 작동하는 L4 방화벽입니다. 기본적으로 모든 인바운드를 차단(Deny)하고 명시된 트래픽만 허용합니다.</a:t>
            </a:r>
            <a:endParaRPr lang="en-US" sz="1000" dirty="0"/>
          </a:p>
        </p:txBody>
      </p:sp>
      <p:sp>
        <p:nvSpPr>
          <p:cNvPr id="55" name="Shape 45"/>
          <p:cNvSpPr/>
          <p:nvPr/>
        </p:nvSpPr>
        <p:spPr>
          <a:xfrm>
            <a:off x="8229600" y="5399532"/>
            <a:ext cx="3581705" cy="1181405"/>
          </a:xfrm>
          <a:prstGeom prst="rect">
            <a:avLst/>
          </a:prstGeom>
          <a:solidFill>
            <a:srgbClr val="1E293B">
              <a:alpha val="7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46"/>
          <p:cNvSpPr/>
          <p:nvPr/>
        </p:nvSpPr>
        <p:spPr>
          <a:xfrm>
            <a:off x="8229600" y="5399532"/>
            <a:ext cx="38405" cy="1181405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47"/>
          <p:cNvSpPr/>
          <p:nvPr/>
        </p:nvSpPr>
        <p:spPr>
          <a:xfrm>
            <a:off x="8419795" y="5551322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FBBF24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8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86546" y="5618074"/>
            <a:ext cx="133502" cy="133502"/>
          </a:xfrm>
          <a:prstGeom prst="rect">
            <a:avLst/>
          </a:prstGeom>
        </p:spPr>
      </p:pic>
      <p:sp>
        <p:nvSpPr>
          <p:cNvPr id="59" name="Text 48"/>
          <p:cNvSpPr txBox="1"/>
          <p:nvPr/>
        </p:nvSpPr>
        <p:spPr>
          <a:xfrm>
            <a:off x="8781898" y="5565038"/>
            <a:ext cx="124449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네트워크 망 분리</a:t>
            </a:r>
            <a:endParaRPr lang="en-US" sz="1200" dirty="0"/>
          </a:p>
        </p:txBody>
      </p:sp>
      <p:sp>
        <p:nvSpPr>
          <p:cNvPr id="60" name="Text 49"/>
          <p:cNvSpPr txBox="1"/>
          <p:nvPr/>
        </p:nvSpPr>
        <p:spPr>
          <a:xfrm>
            <a:off x="8419795" y="5875020"/>
            <a:ext cx="333573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관리망(Mgmt), API망, 데이터망(Tunnel), 스토리지망을 물리적/논리적으로 분리하여 트래픽 간섭과 보안 위협을 최소화합니다.</a:t>
            </a:r>
            <a:endParaRPr lang="en-US" sz="1000" dirty="0"/>
          </a:p>
        </p:txBody>
      </p:sp>
      <p:pic>
        <p:nvPicPr>
          <p:cNvPr id="65" name="그림 64"/>
          <p:cNvPicPr>
            <a:picLocks noChangeAspect="1"/>
          </p:cNvPicPr>
          <p:nvPr/>
        </p:nvPicPr>
        <p:blipFill rotWithShape="1">
          <a:blip r:embed="rId8"/>
          <a:srcRect l="5068" t="11277" r="10968"/>
          <a:stretch/>
        </p:blipFill>
        <p:spPr>
          <a:xfrm>
            <a:off x="409575" y="1582181"/>
            <a:ext cx="7505699" cy="4873284"/>
          </a:xfrm>
          <a:prstGeom prst="rect">
            <a:avLst/>
          </a:prstGeom>
        </p:spPr>
      </p:pic>
      <p:sp>
        <p:nvSpPr>
          <p:cNvPr id="66" name="Shape 2"/>
          <p:cNvSpPr/>
          <p:nvPr/>
        </p:nvSpPr>
        <p:spPr>
          <a:xfrm>
            <a:off x="371246" y="258295"/>
            <a:ext cx="761695" cy="57607"/>
          </a:xfrm>
          <a:prstGeom prst="roundRect">
            <a:avLst>
              <a:gd name="adj" fmla="val 793654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Text 3"/>
          <p:cNvSpPr txBox="1"/>
          <p:nvPr/>
        </p:nvSpPr>
        <p:spPr>
          <a:xfrm>
            <a:off x="371246" y="914834"/>
            <a:ext cx="1117762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네트워크 흐름 제어 및 외부 서비스 연결 정책</a:t>
            </a:r>
            <a:endParaRPr lang="en-US" sz="1300" dirty="0"/>
          </a:p>
        </p:txBody>
      </p:sp>
      <p:sp>
        <p:nvSpPr>
          <p:cNvPr id="68" name="Text 4"/>
          <p:cNvSpPr txBox="1"/>
          <p:nvPr/>
        </p:nvSpPr>
        <p:spPr>
          <a:xfrm>
            <a:off x="371246" y="400941"/>
            <a:ext cx="53538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kern="0" spc="-67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pfSense</a:t>
            </a:r>
            <a:r>
              <a:rPr lang="en-US" sz="2700" b="1" kern="0" spc="-6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700" b="1" kern="0" spc="-67" dirty="0" smtClean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NAT Outbound</a:t>
            </a: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4171500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571500" y="838505"/>
            <a:ext cx="1117762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네트워크 위협 탐지 및 차단 전략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71500" y="1257300"/>
            <a:ext cx="571500" cy="38405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71500" y="1752905"/>
            <a:ext cx="5296205" cy="1962302"/>
          </a:xfrm>
          <a:prstGeom prst="roundRect">
            <a:avLst>
              <a:gd name="adj" fmla="val 181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3544" y="2104949"/>
            <a:ext cx="152705" cy="15270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301" b="-301"/>
          <a:stretch/>
        </p:blipFill>
        <p:spPr>
          <a:xfrm>
            <a:off x="886054" y="2581351"/>
            <a:ext cx="75895" cy="15270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76249" y="2523744"/>
            <a:ext cx="2667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ET (Emerging Threats) Open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1076249" y="2752344"/>
            <a:ext cx="26535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최신 멀웨어, 봇넷, 악성 IP 대역 자동 업데이트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rcRect t="-301" b="-301"/>
          <a:stretch/>
        </p:blipFill>
        <p:spPr>
          <a:xfrm>
            <a:off x="886054" y="3114446"/>
            <a:ext cx="75895" cy="15270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76249" y="3057754"/>
            <a:ext cx="41440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Custom Signatures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1076249" y="3286354"/>
            <a:ext cx="4129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웹쉘(WebShell) 업로드 패턴 및 내부 보안 규정 위반 탐지용 자체 룰 제작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571500" y="3943807"/>
            <a:ext cx="5296205" cy="2266798"/>
          </a:xfrm>
          <a:prstGeom prst="roundRect">
            <a:avLst>
              <a:gd name="adj" fmla="val 1356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23544" y="4295851"/>
            <a:ext cx="152705" cy="15270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09244" y="4714646"/>
            <a:ext cx="492038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안정성을 위해 단계적으로 모드를 전환하여 오탐(False Positive)으로 인한 서비스 중단을 방지합니다.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809244" y="5300777"/>
            <a:ext cx="2229307" cy="666598"/>
          </a:xfrm>
          <a:prstGeom prst="roundRect">
            <a:avLst>
              <a:gd name="adj" fmla="val 783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1"/>
          <p:cNvSpPr txBox="1"/>
          <p:nvPr/>
        </p:nvSpPr>
        <p:spPr>
          <a:xfrm>
            <a:off x="890626" y="5424221"/>
            <a:ext cx="20674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1단계 (초기)</a:t>
            </a:r>
            <a:endParaRPr lang="en-US" sz="900" dirty="0"/>
          </a:p>
        </p:txBody>
      </p:sp>
      <p:sp>
        <p:nvSpPr>
          <p:cNvPr id="18" name="Text 12"/>
          <p:cNvSpPr txBox="1"/>
          <p:nvPr/>
        </p:nvSpPr>
        <p:spPr>
          <a:xfrm>
            <a:off x="875995" y="5615330"/>
            <a:ext cx="2095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IDS (탐지)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3400654" y="5300777"/>
            <a:ext cx="2229307" cy="666598"/>
          </a:xfrm>
          <a:prstGeom prst="roundRect">
            <a:avLst>
              <a:gd name="adj" fmla="val 783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4"/>
          <p:cNvSpPr txBox="1"/>
          <p:nvPr/>
        </p:nvSpPr>
        <p:spPr>
          <a:xfrm>
            <a:off x="3481121" y="5424221"/>
            <a:ext cx="20674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2단계 (안정화)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3467405" y="5615330"/>
            <a:ext cx="2095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IPS (차단)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71500" y="6433718"/>
            <a:ext cx="5296205" cy="1514246"/>
          </a:xfrm>
          <a:prstGeom prst="roundRect">
            <a:avLst>
              <a:gd name="adj" fmla="val 3038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rcRect t="-180" b="-180"/>
          <a:stretch/>
        </p:blipFill>
        <p:spPr>
          <a:xfrm>
            <a:off x="905256" y="6786677"/>
            <a:ext cx="190195" cy="15270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09244" y="7129577"/>
            <a:ext cx="492038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eve.json</a:t>
            </a: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포맷으로 출력된 로그는 Filebeat를 통해 실시간으로 ELK 스택으로 전송되어 시각화됩니다.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6324905" y="1752905"/>
            <a:ext cx="5296205" cy="6200546"/>
          </a:xfrm>
          <a:prstGeom prst="roundRect">
            <a:avLst>
              <a:gd name="adj" fmla="val 248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19"/>
          <p:cNvSpPr/>
          <p:nvPr/>
        </p:nvSpPr>
        <p:spPr>
          <a:xfrm>
            <a:off x="6562649" y="2486254"/>
            <a:ext cx="4819802" cy="4524451"/>
          </a:xfrm>
          <a:prstGeom prst="roundRect">
            <a:avLst>
              <a:gd name="adj" fmla="val 340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0"/>
          <p:cNvSpPr/>
          <p:nvPr/>
        </p:nvSpPr>
        <p:spPr>
          <a:xfrm>
            <a:off x="6572707" y="2648102"/>
            <a:ext cx="961949" cy="457200"/>
          </a:xfrm>
          <a:prstGeom prst="rect">
            <a:avLst/>
          </a:prstGeom>
          <a:solidFill>
            <a:srgbClr val="0F172A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1"/>
          <p:cNvSpPr/>
          <p:nvPr/>
        </p:nvSpPr>
        <p:spPr>
          <a:xfrm>
            <a:off x="6572707" y="3086100"/>
            <a:ext cx="961949" cy="19202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2"/>
          <p:cNvSpPr/>
          <p:nvPr/>
        </p:nvSpPr>
        <p:spPr>
          <a:xfrm>
            <a:off x="7529170" y="2648102"/>
            <a:ext cx="1904695" cy="457200"/>
          </a:xfrm>
          <a:prstGeom prst="rect">
            <a:avLst/>
          </a:prstGeom>
          <a:solidFill>
            <a:srgbClr val="0F172A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3"/>
          <p:cNvSpPr/>
          <p:nvPr/>
        </p:nvSpPr>
        <p:spPr>
          <a:xfrm>
            <a:off x="7529170" y="3086100"/>
            <a:ext cx="1904695" cy="19202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4"/>
          <p:cNvSpPr/>
          <p:nvPr/>
        </p:nvSpPr>
        <p:spPr>
          <a:xfrm>
            <a:off x="9427464" y="2648102"/>
            <a:ext cx="761695" cy="457200"/>
          </a:xfrm>
          <a:prstGeom prst="rect">
            <a:avLst/>
          </a:prstGeom>
          <a:solidFill>
            <a:srgbClr val="0F172A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5"/>
          <p:cNvSpPr/>
          <p:nvPr/>
        </p:nvSpPr>
        <p:spPr>
          <a:xfrm>
            <a:off x="9427464" y="3086100"/>
            <a:ext cx="761695" cy="19202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6"/>
          <p:cNvSpPr/>
          <p:nvPr/>
        </p:nvSpPr>
        <p:spPr>
          <a:xfrm>
            <a:off x="10183673" y="2648102"/>
            <a:ext cx="1190549" cy="457200"/>
          </a:xfrm>
          <a:prstGeom prst="rect">
            <a:avLst/>
          </a:prstGeom>
          <a:solidFill>
            <a:srgbClr val="0F172A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7"/>
          <p:cNvSpPr/>
          <p:nvPr/>
        </p:nvSpPr>
        <p:spPr>
          <a:xfrm>
            <a:off x="10183673" y="3086100"/>
            <a:ext cx="1190549" cy="19202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8"/>
          <p:cNvSpPr/>
          <p:nvPr/>
        </p:nvSpPr>
        <p:spPr>
          <a:xfrm>
            <a:off x="6572707" y="3749954"/>
            <a:ext cx="961949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29"/>
          <p:cNvSpPr/>
          <p:nvPr/>
        </p:nvSpPr>
        <p:spPr>
          <a:xfrm>
            <a:off x="7529170" y="3749954"/>
            <a:ext cx="1904695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0"/>
          <p:cNvSpPr/>
          <p:nvPr/>
        </p:nvSpPr>
        <p:spPr>
          <a:xfrm>
            <a:off x="9427464" y="3749954"/>
            <a:ext cx="761695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1"/>
          <p:cNvSpPr/>
          <p:nvPr/>
        </p:nvSpPr>
        <p:spPr>
          <a:xfrm>
            <a:off x="10183673" y="3749954"/>
            <a:ext cx="1190549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2"/>
          <p:cNvSpPr/>
          <p:nvPr/>
        </p:nvSpPr>
        <p:spPr>
          <a:xfrm>
            <a:off x="10297973" y="3393338"/>
            <a:ext cx="514807" cy="57607"/>
          </a:xfrm>
          <a:prstGeom prst="roundRect">
            <a:avLst>
              <a:gd name="adj" fmla="val 1587307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3"/>
          <p:cNvSpPr/>
          <p:nvPr/>
        </p:nvSpPr>
        <p:spPr>
          <a:xfrm>
            <a:off x="6572707" y="4399178"/>
            <a:ext cx="961949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4"/>
          <p:cNvSpPr/>
          <p:nvPr/>
        </p:nvSpPr>
        <p:spPr>
          <a:xfrm>
            <a:off x="7529170" y="4399178"/>
            <a:ext cx="1904695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5"/>
          <p:cNvSpPr/>
          <p:nvPr/>
        </p:nvSpPr>
        <p:spPr>
          <a:xfrm>
            <a:off x="9427464" y="4399178"/>
            <a:ext cx="761695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6"/>
          <p:cNvSpPr/>
          <p:nvPr/>
        </p:nvSpPr>
        <p:spPr>
          <a:xfrm>
            <a:off x="10183673" y="4399178"/>
            <a:ext cx="1190549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37"/>
          <p:cNvSpPr/>
          <p:nvPr/>
        </p:nvSpPr>
        <p:spPr>
          <a:xfrm>
            <a:off x="6572707" y="5049317"/>
            <a:ext cx="961949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38"/>
          <p:cNvSpPr/>
          <p:nvPr/>
        </p:nvSpPr>
        <p:spPr>
          <a:xfrm>
            <a:off x="7529170" y="5049317"/>
            <a:ext cx="1904695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39"/>
          <p:cNvSpPr/>
          <p:nvPr/>
        </p:nvSpPr>
        <p:spPr>
          <a:xfrm>
            <a:off x="9427464" y="5049317"/>
            <a:ext cx="761695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0"/>
          <p:cNvSpPr/>
          <p:nvPr/>
        </p:nvSpPr>
        <p:spPr>
          <a:xfrm>
            <a:off x="10183673" y="5049317"/>
            <a:ext cx="1190549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1"/>
          <p:cNvSpPr/>
          <p:nvPr/>
        </p:nvSpPr>
        <p:spPr>
          <a:xfrm>
            <a:off x="6572707" y="5699455"/>
            <a:ext cx="961949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2"/>
          <p:cNvSpPr/>
          <p:nvPr/>
        </p:nvSpPr>
        <p:spPr>
          <a:xfrm>
            <a:off x="7529170" y="5699455"/>
            <a:ext cx="1904695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3"/>
          <p:cNvSpPr/>
          <p:nvPr/>
        </p:nvSpPr>
        <p:spPr>
          <a:xfrm>
            <a:off x="9427464" y="5699455"/>
            <a:ext cx="761695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4"/>
          <p:cNvSpPr/>
          <p:nvPr/>
        </p:nvSpPr>
        <p:spPr>
          <a:xfrm>
            <a:off x="10183673" y="5699455"/>
            <a:ext cx="1190549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45"/>
          <p:cNvSpPr/>
          <p:nvPr/>
        </p:nvSpPr>
        <p:spPr>
          <a:xfrm>
            <a:off x="10297973" y="5343754"/>
            <a:ext cx="514807" cy="57607"/>
          </a:xfrm>
          <a:prstGeom prst="roundRect">
            <a:avLst>
              <a:gd name="adj" fmla="val 1587307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46"/>
          <p:cNvSpPr/>
          <p:nvPr/>
        </p:nvSpPr>
        <p:spPr>
          <a:xfrm>
            <a:off x="6572707" y="6352337"/>
            <a:ext cx="961949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47"/>
          <p:cNvSpPr/>
          <p:nvPr/>
        </p:nvSpPr>
        <p:spPr>
          <a:xfrm>
            <a:off x="7529170" y="6352337"/>
            <a:ext cx="1904695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48"/>
          <p:cNvSpPr/>
          <p:nvPr/>
        </p:nvSpPr>
        <p:spPr>
          <a:xfrm>
            <a:off x="9427464" y="6352337"/>
            <a:ext cx="761695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49"/>
          <p:cNvSpPr/>
          <p:nvPr/>
        </p:nvSpPr>
        <p:spPr>
          <a:xfrm>
            <a:off x="10183673" y="6352337"/>
            <a:ext cx="1190549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0"/>
          <p:cNvSpPr/>
          <p:nvPr/>
        </p:nvSpPr>
        <p:spPr>
          <a:xfrm>
            <a:off x="10297973" y="5995721"/>
            <a:ext cx="181051" cy="57607"/>
          </a:xfrm>
          <a:prstGeom prst="roundRect">
            <a:avLst>
              <a:gd name="adj" fmla="val 1587307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1"/>
          <p:cNvSpPr/>
          <p:nvPr/>
        </p:nvSpPr>
        <p:spPr>
          <a:xfrm>
            <a:off x="10297973" y="6645859"/>
            <a:ext cx="133502" cy="57607"/>
          </a:xfrm>
          <a:prstGeom prst="roundRect">
            <a:avLst>
              <a:gd name="adj" fmla="val 1587307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2"/>
          <p:cNvSpPr/>
          <p:nvPr/>
        </p:nvSpPr>
        <p:spPr>
          <a:xfrm>
            <a:off x="6562649" y="7156094"/>
            <a:ext cx="4819802" cy="552298"/>
          </a:xfrm>
          <a:prstGeom prst="roundRect">
            <a:avLst>
              <a:gd name="adj" fmla="val 11418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3"/>
          <p:cNvSpPr txBox="1"/>
          <p:nvPr/>
        </p:nvSpPr>
        <p:spPr>
          <a:xfrm>
            <a:off x="571500" y="323698"/>
            <a:ext cx="364845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Suricata IDS/IPS 운영</a:t>
            </a:r>
            <a:endParaRPr lang="en-US" sz="2700" dirty="0"/>
          </a:p>
        </p:txBody>
      </p:sp>
      <p:sp>
        <p:nvSpPr>
          <p:cNvPr id="61" name="Text 54"/>
          <p:cNvSpPr txBox="1"/>
          <p:nvPr/>
        </p:nvSpPr>
        <p:spPr>
          <a:xfrm>
            <a:off x="1304849" y="2038198"/>
            <a:ext cx="19723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탐지 룰셋 (Rule Sets)</a:t>
            </a:r>
            <a:endParaRPr lang="en-US" sz="1500" dirty="0"/>
          </a:p>
        </p:txBody>
      </p:sp>
      <p:sp>
        <p:nvSpPr>
          <p:cNvPr id="62" name="Text 55"/>
          <p:cNvSpPr txBox="1"/>
          <p:nvPr/>
        </p:nvSpPr>
        <p:spPr>
          <a:xfrm>
            <a:off x="1304849" y="4229100"/>
            <a:ext cx="27057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모드 (Operation Modes)</a:t>
            </a:r>
            <a:endParaRPr lang="en-US" sz="1500" dirty="0"/>
          </a:p>
        </p:txBody>
      </p:sp>
      <p:pic>
        <p:nvPicPr>
          <p:cNvPr id="63" name="Image 5" descr="preencoded.png"/>
          <p:cNvPicPr>
            <a:picLocks noChangeAspect="1"/>
          </p:cNvPicPr>
          <p:nvPr/>
        </p:nvPicPr>
        <p:blipFill>
          <a:blip r:embed="rId7"/>
          <a:srcRect t="-43" b="-43"/>
          <a:stretch/>
        </p:blipFill>
        <p:spPr>
          <a:xfrm>
            <a:off x="3152851" y="5567782"/>
            <a:ext cx="133502" cy="152705"/>
          </a:xfrm>
          <a:prstGeom prst="rect">
            <a:avLst/>
          </a:prstGeom>
        </p:spPr>
      </p:pic>
      <p:sp>
        <p:nvSpPr>
          <p:cNvPr id="64" name="Text 56"/>
          <p:cNvSpPr txBox="1"/>
          <p:nvPr/>
        </p:nvSpPr>
        <p:spPr>
          <a:xfrm>
            <a:off x="1304849" y="6719926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 연계</a:t>
            </a:r>
            <a:endParaRPr lang="en-US" sz="1500" dirty="0"/>
          </a:p>
        </p:txBody>
      </p:sp>
      <p:sp>
        <p:nvSpPr>
          <p:cNvPr id="65" name="Text 57"/>
          <p:cNvSpPr txBox="1"/>
          <p:nvPr/>
        </p:nvSpPr>
        <p:spPr>
          <a:xfrm>
            <a:off x="6562649" y="1981505"/>
            <a:ext cx="18864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활성 룰 카테고리 현황</a:t>
            </a:r>
            <a:endParaRPr lang="en-US" sz="1500" dirty="0"/>
          </a:p>
        </p:txBody>
      </p:sp>
      <p:pic>
        <p:nvPicPr>
          <p:cNvPr id="66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002622" y="2072030"/>
            <a:ext cx="114300" cy="114300"/>
          </a:xfrm>
          <a:prstGeom prst="rect">
            <a:avLst/>
          </a:prstGeom>
        </p:spPr>
      </p:pic>
      <p:sp>
        <p:nvSpPr>
          <p:cNvPr id="67" name="Text 58"/>
          <p:cNvSpPr txBox="1"/>
          <p:nvPr/>
        </p:nvSpPr>
        <p:spPr>
          <a:xfrm>
            <a:off x="10155326" y="2038198"/>
            <a:ext cx="12006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Updated: 2026-01-20</a:t>
            </a:r>
            <a:endParaRPr lang="en-US" sz="900" dirty="0"/>
          </a:p>
        </p:txBody>
      </p:sp>
      <p:sp>
        <p:nvSpPr>
          <p:cNvPr id="68" name="Text 59"/>
          <p:cNvSpPr txBox="1"/>
          <p:nvPr/>
        </p:nvSpPr>
        <p:spPr>
          <a:xfrm>
            <a:off x="6687007" y="2762402"/>
            <a:ext cx="7132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Category</a:t>
            </a:r>
            <a:endParaRPr lang="en-US" sz="1000" dirty="0"/>
          </a:p>
        </p:txBody>
      </p:sp>
      <p:sp>
        <p:nvSpPr>
          <p:cNvPr id="69" name="Text 60"/>
          <p:cNvSpPr txBox="1"/>
          <p:nvPr/>
        </p:nvSpPr>
        <p:spPr>
          <a:xfrm>
            <a:off x="7643470" y="2762402"/>
            <a:ext cx="88422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70" name="Text 61"/>
          <p:cNvSpPr txBox="1"/>
          <p:nvPr/>
        </p:nvSpPr>
        <p:spPr>
          <a:xfrm>
            <a:off x="9541764" y="2762402"/>
            <a:ext cx="54132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Action</a:t>
            </a:r>
            <a:endParaRPr lang="en-US" sz="1000" dirty="0"/>
          </a:p>
        </p:txBody>
      </p:sp>
      <p:sp>
        <p:nvSpPr>
          <p:cNvPr id="71" name="Text 62"/>
          <p:cNvSpPr txBox="1"/>
          <p:nvPr/>
        </p:nvSpPr>
        <p:spPr>
          <a:xfrm>
            <a:off x="10297973" y="2762402"/>
            <a:ext cx="62727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Priority</a:t>
            </a:r>
            <a:endParaRPr lang="en-US" sz="1000" dirty="0"/>
          </a:p>
        </p:txBody>
      </p:sp>
      <p:sp>
        <p:nvSpPr>
          <p:cNvPr id="72" name="Text 63"/>
          <p:cNvSpPr txBox="1"/>
          <p:nvPr/>
        </p:nvSpPr>
        <p:spPr>
          <a:xfrm>
            <a:off x="6687007" y="3318358"/>
            <a:ext cx="56967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Exploit</a:t>
            </a:r>
            <a:endParaRPr lang="en-US" sz="1000" dirty="0"/>
          </a:p>
        </p:txBody>
      </p:sp>
      <p:sp>
        <p:nvSpPr>
          <p:cNvPr id="73" name="Text 64"/>
          <p:cNvSpPr txBox="1"/>
          <p:nvPr/>
        </p:nvSpPr>
        <p:spPr>
          <a:xfrm>
            <a:off x="7643470" y="3215945"/>
            <a:ext cx="164592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CVE 취약점 공격 시도 탐지 (Apache, SSH)</a:t>
            </a:r>
            <a:endParaRPr lang="en-US" sz="1000" dirty="0"/>
          </a:p>
        </p:txBody>
      </p:sp>
      <p:sp>
        <p:nvSpPr>
          <p:cNvPr id="74" name="Shape 65"/>
          <p:cNvSpPr/>
          <p:nvPr/>
        </p:nvSpPr>
        <p:spPr>
          <a:xfrm>
            <a:off x="9557309" y="3299155"/>
            <a:ext cx="495605" cy="256946"/>
          </a:xfrm>
          <a:prstGeom prst="roundRect">
            <a:avLst>
              <a:gd name="adj" fmla="val 52722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66"/>
          <p:cNvSpPr txBox="1"/>
          <p:nvPr/>
        </p:nvSpPr>
        <p:spPr>
          <a:xfrm>
            <a:off x="9600286" y="3346704"/>
            <a:ext cx="4096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CA5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DROP</a:t>
            </a:r>
            <a:endParaRPr lang="en-US" sz="900" dirty="0"/>
          </a:p>
        </p:txBody>
      </p:sp>
      <p:sp>
        <p:nvSpPr>
          <p:cNvPr id="76" name="Text 67"/>
          <p:cNvSpPr txBox="1"/>
          <p:nvPr/>
        </p:nvSpPr>
        <p:spPr>
          <a:xfrm>
            <a:off x="10881360" y="3335731"/>
            <a:ext cx="4672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</a:t>
            </a:r>
            <a:endParaRPr lang="en-US" sz="900" dirty="0"/>
          </a:p>
        </p:txBody>
      </p:sp>
      <p:sp>
        <p:nvSpPr>
          <p:cNvPr id="77" name="Text 68"/>
          <p:cNvSpPr txBox="1"/>
          <p:nvPr/>
        </p:nvSpPr>
        <p:spPr>
          <a:xfrm>
            <a:off x="6687007" y="3865169"/>
            <a:ext cx="532181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Web Attack</a:t>
            </a:r>
            <a:endParaRPr lang="en-US" sz="1000" dirty="0"/>
          </a:p>
        </p:txBody>
      </p:sp>
      <p:sp>
        <p:nvSpPr>
          <p:cNvPr id="78" name="Text 69"/>
          <p:cNvSpPr txBox="1"/>
          <p:nvPr/>
        </p:nvSpPr>
        <p:spPr>
          <a:xfrm>
            <a:off x="7643470" y="3865169"/>
            <a:ext cx="164592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SQL Injection, XSS, Path Traversal 시도</a:t>
            </a:r>
            <a:endParaRPr lang="en-US" sz="1000" dirty="0"/>
          </a:p>
        </p:txBody>
      </p:sp>
      <p:sp>
        <p:nvSpPr>
          <p:cNvPr id="79" name="Shape 70"/>
          <p:cNvSpPr/>
          <p:nvPr/>
        </p:nvSpPr>
        <p:spPr>
          <a:xfrm>
            <a:off x="9557309" y="3949294"/>
            <a:ext cx="495605" cy="256946"/>
          </a:xfrm>
          <a:prstGeom prst="roundRect">
            <a:avLst>
              <a:gd name="adj" fmla="val 52722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Text 71"/>
          <p:cNvSpPr txBox="1"/>
          <p:nvPr/>
        </p:nvSpPr>
        <p:spPr>
          <a:xfrm>
            <a:off x="9600286" y="3996842"/>
            <a:ext cx="4096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CA5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DROP</a:t>
            </a:r>
            <a:endParaRPr lang="en-US" sz="900" dirty="0"/>
          </a:p>
        </p:txBody>
      </p:sp>
      <p:sp>
        <p:nvSpPr>
          <p:cNvPr id="81" name="Text 72"/>
          <p:cNvSpPr txBox="1"/>
          <p:nvPr/>
        </p:nvSpPr>
        <p:spPr>
          <a:xfrm>
            <a:off x="11010290" y="3985870"/>
            <a:ext cx="3429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</a:t>
            </a:r>
            <a:endParaRPr lang="en-US" sz="900" dirty="0"/>
          </a:p>
        </p:txBody>
      </p:sp>
      <p:sp>
        <p:nvSpPr>
          <p:cNvPr id="82" name="Text 73"/>
          <p:cNvSpPr txBox="1"/>
          <p:nvPr/>
        </p:nvSpPr>
        <p:spPr>
          <a:xfrm>
            <a:off x="6687007" y="4617720"/>
            <a:ext cx="6748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Malware</a:t>
            </a:r>
            <a:endParaRPr lang="en-US" sz="1000" dirty="0"/>
          </a:p>
        </p:txBody>
      </p:sp>
      <p:sp>
        <p:nvSpPr>
          <p:cNvPr id="83" name="Text 74"/>
          <p:cNvSpPr txBox="1"/>
          <p:nvPr/>
        </p:nvSpPr>
        <p:spPr>
          <a:xfrm>
            <a:off x="7643470" y="4515307"/>
            <a:ext cx="162763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트로이목마, 랜섬웨어 C&amp;C 서버 통신</a:t>
            </a:r>
            <a:endParaRPr lang="en-US" sz="1000" dirty="0"/>
          </a:p>
        </p:txBody>
      </p:sp>
      <p:sp>
        <p:nvSpPr>
          <p:cNvPr id="84" name="Shape 75"/>
          <p:cNvSpPr/>
          <p:nvPr/>
        </p:nvSpPr>
        <p:spPr>
          <a:xfrm>
            <a:off x="9557309" y="4599432"/>
            <a:ext cx="495605" cy="256946"/>
          </a:xfrm>
          <a:prstGeom prst="roundRect">
            <a:avLst>
              <a:gd name="adj" fmla="val 52722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Text 76"/>
          <p:cNvSpPr txBox="1"/>
          <p:nvPr/>
        </p:nvSpPr>
        <p:spPr>
          <a:xfrm>
            <a:off x="9600286" y="4646981"/>
            <a:ext cx="4096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CA5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DROP</a:t>
            </a:r>
            <a:endParaRPr lang="en-US" sz="900" dirty="0"/>
          </a:p>
        </p:txBody>
      </p:sp>
      <p:sp>
        <p:nvSpPr>
          <p:cNvPr id="86" name="Text 77"/>
          <p:cNvSpPr txBox="1"/>
          <p:nvPr/>
        </p:nvSpPr>
        <p:spPr>
          <a:xfrm>
            <a:off x="11010290" y="4635094"/>
            <a:ext cx="3429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</a:t>
            </a:r>
            <a:endParaRPr lang="en-US" sz="900" dirty="0"/>
          </a:p>
        </p:txBody>
      </p:sp>
      <p:sp>
        <p:nvSpPr>
          <p:cNvPr id="87" name="Text 78"/>
          <p:cNvSpPr txBox="1"/>
          <p:nvPr/>
        </p:nvSpPr>
        <p:spPr>
          <a:xfrm>
            <a:off x="6687007" y="5269687"/>
            <a:ext cx="6080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Custom</a:t>
            </a:r>
            <a:endParaRPr lang="en-US" sz="1000" dirty="0"/>
          </a:p>
        </p:txBody>
      </p:sp>
      <p:sp>
        <p:nvSpPr>
          <p:cNvPr id="88" name="Text 79"/>
          <p:cNvSpPr txBox="1"/>
          <p:nvPr/>
        </p:nvSpPr>
        <p:spPr>
          <a:xfrm>
            <a:off x="7643470" y="5232197"/>
            <a:ext cx="5056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[User]</a:t>
            </a:r>
            <a:endParaRPr lang="en-US" sz="900" dirty="0"/>
          </a:p>
        </p:txBody>
      </p:sp>
      <p:sp>
        <p:nvSpPr>
          <p:cNvPr id="89" name="Text 80"/>
          <p:cNvSpPr txBox="1"/>
          <p:nvPr/>
        </p:nvSpPr>
        <p:spPr>
          <a:xfrm>
            <a:off x="7643470" y="5165446"/>
            <a:ext cx="168432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웹쉘 파일 업로드 및 실행 패턴</a:t>
            </a:r>
            <a:endParaRPr lang="en-US" sz="1000" dirty="0"/>
          </a:p>
        </p:txBody>
      </p:sp>
      <p:sp>
        <p:nvSpPr>
          <p:cNvPr id="90" name="Shape 81"/>
          <p:cNvSpPr/>
          <p:nvPr/>
        </p:nvSpPr>
        <p:spPr>
          <a:xfrm>
            <a:off x="9557309" y="5250485"/>
            <a:ext cx="495605" cy="256946"/>
          </a:xfrm>
          <a:prstGeom prst="roundRect">
            <a:avLst>
              <a:gd name="adj" fmla="val 52722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Text 82"/>
          <p:cNvSpPr txBox="1"/>
          <p:nvPr/>
        </p:nvSpPr>
        <p:spPr>
          <a:xfrm>
            <a:off x="9600286" y="5298034"/>
            <a:ext cx="4096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CA5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DROP</a:t>
            </a:r>
            <a:endParaRPr lang="en-US" sz="900" dirty="0"/>
          </a:p>
        </p:txBody>
      </p:sp>
      <p:sp>
        <p:nvSpPr>
          <p:cNvPr id="92" name="Text 83"/>
          <p:cNvSpPr txBox="1"/>
          <p:nvPr/>
        </p:nvSpPr>
        <p:spPr>
          <a:xfrm>
            <a:off x="10881360" y="5287061"/>
            <a:ext cx="4672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</a:t>
            </a:r>
            <a:endParaRPr lang="en-US" sz="900" dirty="0"/>
          </a:p>
        </p:txBody>
      </p:sp>
      <p:sp>
        <p:nvSpPr>
          <p:cNvPr id="93" name="Text 84"/>
          <p:cNvSpPr txBox="1"/>
          <p:nvPr/>
        </p:nvSpPr>
        <p:spPr>
          <a:xfrm>
            <a:off x="6687007" y="5921654"/>
            <a:ext cx="51297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Policy</a:t>
            </a:r>
            <a:endParaRPr lang="en-US" sz="1000" dirty="0"/>
          </a:p>
        </p:txBody>
      </p:sp>
      <p:sp>
        <p:nvSpPr>
          <p:cNvPr id="94" name="Text 85"/>
          <p:cNvSpPr txBox="1"/>
          <p:nvPr/>
        </p:nvSpPr>
        <p:spPr>
          <a:xfrm>
            <a:off x="7643470" y="5818327"/>
            <a:ext cx="1694383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비업무 포트(P2P, Gaming) 및 프로토콜 사용</a:t>
            </a:r>
            <a:endParaRPr lang="en-US" sz="1000" dirty="0"/>
          </a:p>
        </p:txBody>
      </p:sp>
      <p:sp>
        <p:nvSpPr>
          <p:cNvPr id="95" name="Shape 86"/>
          <p:cNvSpPr/>
          <p:nvPr/>
        </p:nvSpPr>
        <p:spPr>
          <a:xfrm>
            <a:off x="9541764" y="5902452"/>
            <a:ext cx="533095" cy="256946"/>
          </a:xfrm>
          <a:prstGeom prst="roundRect">
            <a:avLst>
              <a:gd name="adj" fmla="val 52722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6" name="Text 87"/>
          <p:cNvSpPr txBox="1"/>
          <p:nvPr/>
        </p:nvSpPr>
        <p:spPr>
          <a:xfrm>
            <a:off x="9584741" y="5950001"/>
            <a:ext cx="448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CD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ALERT</a:t>
            </a:r>
            <a:endParaRPr lang="en-US" sz="900" dirty="0"/>
          </a:p>
        </p:txBody>
      </p:sp>
      <p:sp>
        <p:nvSpPr>
          <p:cNvPr id="97" name="Text 88"/>
          <p:cNvSpPr txBox="1"/>
          <p:nvPr/>
        </p:nvSpPr>
        <p:spPr>
          <a:xfrm>
            <a:off x="10824667" y="5939028"/>
            <a:ext cx="5239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Medium</a:t>
            </a:r>
            <a:endParaRPr lang="en-US" sz="900" dirty="0"/>
          </a:p>
        </p:txBody>
      </p:sp>
      <p:sp>
        <p:nvSpPr>
          <p:cNvPr id="98" name="Text 89"/>
          <p:cNvSpPr txBox="1"/>
          <p:nvPr/>
        </p:nvSpPr>
        <p:spPr>
          <a:xfrm>
            <a:off x="6687007" y="6570878"/>
            <a:ext cx="42702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Scan</a:t>
            </a:r>
            <a:endParaRPr lang="en-US" sz="1000" dirty="0"/>
          </a:p>
        </p:txBody>
      </p:sp>
      <p:sp>
        <p:nvSpPr>
          <p:cNvPr id="99" name="Text 90"/>
          <p:cNvSpPr txBox="1"/>
          <p:nvPr/>
        </p:nvSpPr>
        <p:spPr>
          <a:xfrm>
            <a:off x="7643470" y="6468466"/>
            <a:ext cx="1694383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Nmap 등 포트 스캔 및 네트워크 정찰 행위</a:t>
            </a:r>
            <a:endParaRPr lang="en-US" sz="1000" dirty="0"/>
          </a:p>
        </p:txBody>
      </p:sp>
      <p:sp>
        <p:nvSpPr>
          <p:cNvPr id="100" name="Shape 91"/>
          <p:cNvSpPr/>
          <p:nvPr/>
        </p:nvSpPr>
        <p:spPr>
          <a:xfrm>
            <a:off x="9541764" y="6552590"/>
            <a:ext cx="533095" cy="256946"/>
          </a:xfrm>
          <a:prstGeom prst="roundRect">
            <a:avLst>
              <a:gd name="adj" fmla="val 52722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" name="Text 92"/>
          <p:cNvSpPr txBox="1"/>
          <p:nvPr/>
        </p:nvSpPr>
        <p:spPr>
          <a:xfrm>
            <a:off x="9584741" y="6600139"/>
            <a:ext cx="448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CD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ALERT</a:t>
            </a:r>
            <a:endParaRPr lang="en-US" sz="900" dirty="0"/>
          </a:p>
        </p:txBody>
      </p:sp>
      <p:sp>
        <p:nvSpPr>
          <p:cNvPr id="102" name="Text 93"/>
          <p:cNvSpPr txBox="1"/>
          <p:nvPr/>
        </p:nvSpPr>
        <p:spPr>
          <a:xfrm>
            <a:off x="11037722" y="6588252"/>
            <a:ext cx="3145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Low</a:t>
            </a:r>
            <a:endParaRPr lang="en-US" sz="900" dirty="0"/>
          </a:p>
        </p:txBody>
      </p:sp>
      <p:pic>
        <p:nvPicPr>
          <p:cNvPr id="103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687007" y="7304227"/>
            <a:ext cx="114300" cy="114300"/>
          </a:xfrm>
          <a:prstGeom prst="rect">
            <a:avLst/>
          </a:prstGeom>
        </p:spPr>
      </p:pic>
      <p:sp>
        <p:nvSpPr>
          <p:cNvPr id="104" name="Text 94"/>
          <p:cNvSpPr txBox="1"/>
          <p:nvPr/>
        </p:nvSpPr>
        <p:spPr>
          <a:xfrm>
            <a:off x="6877202" y="7270394"/>
            <a:ext cx="3913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Note:</a:t>
            </a:r>
            <a:endParaRPr lang="en-US" sz="900" dirty="0"/>
          </a:p>
        </p:txBody>
      </p:sp>
      <p:sp>
        <p:nvSpPr>
          <p:cNvPr id="105" name="Text 95"/>
          <p:cNvSpPr txBox="1"/>
          <p:nvPr/>
        </p:nvSpPr>
        <p:spPr>
          <a:xfrm>
            <a:off x="6687007" y="7270394"/>
            <a:ext cx="46488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오탐 최소화를 위해 'Policy' 및 'Scan' 카테고리는 초기 운영 기간 동안 차단 대신 경고(Alert) 모드로 운영합니다.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571500" y="838505"/>
            <a:ext cx="1117762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하이브리드 보안 인프라 구성을 위한 AWS 클라우드 활용 전략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71500" y="1257300"/>
            <a:ext cx="571500" cy="38405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71500" y="2431390"/>
            <a:ext cx="5333695" cy="1143000"/>
          </a:xfrm>
          <a:prstGeom prst="roundRect">
            <a:avLst>
              <a:gd name="adj" fmla="val 5333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50392" y="2745943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10335" y="2936138"/>
            <a:ext cx="450067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관리형 인프라를 통해 하드웨어 장애로부터 자유로우며, 안정적인 네트워크 품질을 보장합니다.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71500" y="3760013"/>
            <a:ext cx="5333695" cy="1143000"/>
          </a:xfrm>
          <a:prstGeom prst="roundRect">
            <a:avLst>
              <a:gd name="adj" fmla="val 5333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l="-80" r="-80"/>
          <a:stretch/>
        </p:blipFill>
        <p:spPr>
          <a:xfrm>
            <a:off x="800100" y="4074566"/>
            <a:ext cx="286207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66444" y="4264762"/>
            <a:ext cx="454822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IAM, Security Group, VPC 등 계층화된 보안 서비스를 통해 사용자 및 리소스 접근을 정교하게 통제합니다.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71500" y="5088636"/>
            <a:ext cx="5333695" cy="1143000"/>
          </a:xfrm>
          <a:prstGeom prst="roundRect">
            <a:avLst>
              <a:gd name="adj" fmla="val 5333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l="-57" r="-57"/>
          <a:stretch/>
        </p:blipFill>
        <p:spPr>
          <a:xfrm>
            <a:off x="843077" y="5403190"/>
            <a:ext cx="200254" cy="228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68273" y="5593385"/>
            <a:ext cx="45390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OpenVPN 서버, 모니터링 노드 등 필요 자원을 즉시 프로비저닝하여 온프레미스 자원의 한계를 보완합니다.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6286500" y="1752905"/>
            <a:ext cx="5333695" cy="5152644"/>
          </a:xfrm>
          <a:prstGeom prst="roundRect">
            <a:avLst>
              <a:gd name="adj" fmla="val 262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t="-180" b="-180"/>
          <a:stretch/>
        </p:blipFill>
        <p:spPr>
          <a:xfrm>
            <a:off x="6620256" y="2104949"/>
            <a:ext cx="190195" cy="152705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524244" y="2676449"/>
            <a:ext cx="1218895" cy="437998"/>
          </a:xfrm>
          <a:prstGeom prst="rect">
            <a:avLst/>
          </a:prstGeom>
          <a:solidFill>
            <a:srgbClr val="0F172A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1"/>
          <p:cNvSpPr/>
          <p:nvPr/>
        </p:nvSpPr>
        <p:spPr>
          <a:xfrm>
            <a:off x="6524244" y="3095244"/>
            <a:ext cx="1218895" cy="19202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7739482" y="2676449"/>
            <a:ext cx="1800454" cy="437998"/>
          </a:xfrm>
          <a:prstGeom prst="rect">
            <a:avLst/>
          </a:prstGeom>
          <a:solidFill>
            <a:srgbClr val="0F172A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3"/>
          <p:cNvSpPr/>
          <p:nvPr/>
        </p:nvSpPr>
        <p:spPr>
          <a:xfrm>
            <a:off x="7739482" y="3095244"/>
            <a:ext cx="1800454" cy="19202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4"/>
          <p:cNvSpPr/>
          <p:nvPr/>
        </p:nvSpPr>
        <p:spPr>
          <a:xfrm>
            <a:off x="9536278" y="2676449"/>
            <a:ext cx="1848002" cy="437998"/>
          </a:xfrm>
          <a:prstGeom prst="rect">
            <a:avLst/>
          </a:prstGeom>
          <a:solidFill>
            <a:srgbClr val="0F172A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5"/>
          <p:cNvSpPr/>
          <p:nvPr/>
        </p:nvSpPr>
        <p:spPr>
          <a:xfrm>
            <a:off x="9536278" y="3095244"/>
            <a:ext cx="1848002" cy="19202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6"/>
          <p:cNvSpPr/>
          <p:nvPr/>
        </p:nvSpPr>
        <p:spPr>
          <a:xfrm>
            <a:off x="6524244" y="3114446"/>
            <a:ext cx="1218895" cy="619049"/>
          </a:xfrm>
          <a:prstGeom prst="rect">
            <a:avLst/>
          </a:prstGeom>
          <a:solidFill>
            <a:srgbClr val="1E293B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7"/>
          <p:cNvSpPr/>
          <p:nvPr/>
        </p:nvSpPr>
        <p:spPr>
          <a:xfrm>
            <a:off x="6524244" y="3724351"/>
            <a:ext cx="1218895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8"/>
          <p:cNvSpPr/>
          <p:nvPr/>
        </p:nvSpPr>
        <p:spPr>
          <a:xfrm>
            <a:off x="7739482" y="3724351"/>
            <a:ext cx="1800454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9"/>
          <p:cNvSpPr/>
          <p:nvPr/>
        </p:nvSpPr>
        <p:spPr>
          <a:xfrm>
            <a:off x="9536278" y="3724351"/>
            <a:ext cx="1848002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0"/>
          <p:cNvSpPr/>
          <p:nvPr/>
        </p:nvSpPr>
        <p:spPr>
          <a:xfrm>
            <a:off x="6524244" y="3733495"/>
            <a:ext cx="1218895" cy="619049"/>
          </a:xfrm>
          <a:prstGeom prst="rect">
            <a:avLst/>
          </a:prstGeom>
          <a:solidFill>
            <a:srgbClr val="1E293B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1"/>
          <p:cNvSpPr/>
          <p:nvPr/>
        </p:nvSpPr>
        <p:spPr>
          <a:xfrm>
            <a:off x="6524244" y="4343400"/>
            <a:ext cx="1218895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7739482" y="4343400"/>
            <a:ext cx="1800454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3"/>
          <p:cNvSpPr/>
          <p:nvPr/>
        </p:nvSpPr>
        <p:spPr>
          <a:xfrm>
            <a:off x="9536278" y="4343400"/>
            <a:ext cx="1848002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4"/>
          <p:cNvSpPr/>
          <p:nvPr/>
        </p:nvSpPr>
        <p:spPr>
          <a:xfrm>
            <a:off x="6524244" y="4352544"/>
            <a:ext cx="1218895" cy="619049"/>
          </a:xfrm>
          <a:prstGeom prst="rect">
            <a:avLst/>
          </a:prstGeom>
          <a:solidFill>
            <a:srgbClr val="1E293B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5"/>
          <p:cNvSpPr/>
          <p:nvPr/>
        </p:nvSpPr>
        <p:spPr>
          <a:xfrm>
            <a:off x="6524244" y="4962449"/>
            <a:ext cx="1218895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6"/>
          <p:cNvSpPr/>
          <p:nvPr/>
        </p:nvSpPr>
        <p:spPr>
          <a:xfrm>
            <a:off x="7739482" y="4962449"/>
            <a:ext cx="1800454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7"/>
          <p:cNvSpPr/>
          <p:nvPr/>
        </p:nvSpPr>
        <p:spPr>
          <a:xfrm>
            <a:off x="9536278" y="4962449"/>
            <a:ext cx="1848002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8"/>
          <p:cNvSpPr/>
          <p:nvPr/>
        </p:nvSpPr>
        <p:spPr>
          <a:xfrm>
            <a:off x="6524244" y="4972507"/>
            <a:ext cx="1218895" cy="609905"/>
          </a:xfrm>
          <a:prstGeom prst="rect">
            <a:avLst/>
          </a:prstGeom>
          <a:solidFill>
            <a:srgbClr val="1E293B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9"/>
          <p:cNvSpPr/>
          <p:nvPr/>
        </p:nvSpPr>
        <p:spPr>
          <a:xfrm>
            <a:off x="6524244" y="5810098"/>
            <a:ext cx="4858207" cy="857707"/>
          </a:xfrm>
          <a:prstGeom prst="roundRect">
            <a:avLst>
              <a:gd name="adj" fmla="val 4738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rcRect t="-100" b="-100"/>
          <a:stretch/>
        </p:blipFill>
        <p:spPr>
          <a:xfrm>
            <a:off x="6687007" y="6010351"/>
            <a:ext cx="114300" cy="152705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6915607" y="5971946"/>
            <a:ext cx="44055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결론: 하이브리드 전략의 이점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6915607" y="6200546"/>
            <a:ext cx="43918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민감한 데이터는 온프레미스(OpenStack)에서 직접 통제하고, 외부 접점 및 가변적인 리소스는 AWS를 활용하여보안성과 효율성의 균형을 달성합니다.</a:t>
            </a:r>
            <a:endParaRPr lang="en-US" sz="900" dirty="0"/>
          </a:p>
        </p:txBody>
      </p:sp>
      <p:sp>
        <p:nvSpPr>
          <p:cNvPr id="39" name="Text 32"/>
          <p:cNvSpPr txBox="1"/>
          <p:nvPr/>
        </p:nvSpPr>
        <p:spPr>
          <a:xfrm>
            <a:off x="571500" y="323698"/>
            <a:ext cx="380116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 도입 배경 및 필요성</a:t>
            </a:r>
            <a:endParaRPr lang="en-US" sz="2700" dirty="0"/>
          </a:p>
        </p:txBody>
      </p:sp>
      <p:sp>
        <p:nvSpPr>
          <p:cNvPr id="40" name="Text 33"/>
          <p:cNvSpPr txBox="1"/>
          <p:nvPr/>
        </p:nvSpPr>
        <p:spPr>
          <a:xfrm>
            <a:off x="1310335" y="2621585"/>
            <a:ext cx="29059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고가용성 및 안정성 (Availability)</a:t>
            </a:r>
            <a:endParaRPr lang="en-US" sz="1500" dirty="0"/>
          </a:p>
        </p:txBody>
      </p:sp>
      <p:sp>
        <p:nvSpPr>
          <p:cNvPr id="41" name="Text 34"/>
          <p:cNvSpPr txBox="1"/>
          <p:nvPr/>
        </p:nvSpPr>
        <p:spPr>
          <a:xfrm>
            <a:off x="1266444" y="3950208"/>
            <a:ext cx="3048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세밀한 접근 제어 (Access Control)</a:t>
            </a:r>
            <a:endParaRPr lang="en-US" sz="1500" dirty="0"/>
          </a:p>
        </p:txBody>
      </p:sp>
      <p:sp>
        <p:nvSpPr>
          <p:cNvPr id="42" name="Text 35"/>
          <p:cNvSpPr txBox="1"/>
          <p:nvPr/>
        </p:nvSpPr>
        <p:spPr>
          <a:xfrm>
            <a:off x="1268273" y="5278831"/>
            <a:ext cx="24387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유연한 확장성 (Scalability)</a:t>
            </a:r>
            <a:endParaRPr lang="en-US" sz="1500" dirty="0"/>
          </a:p>
        </p:txBody>
      </p:sp>
      <p:sp>
        <p:nvSpPr>
          <p:cNvPr id="43" name="Text 36"/>
          <p:cNvSpPr txBox="1"/>
          <p:nvPr/>
        </p:nvSpPr>
        <p:spPr>
          <a:xfrm>
            <a:off x="7019849" y="2038198"/>
            <a:ext cx="21534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온프레미스 vs AWS 비교</a:t>
            </a:r>
            <a:endParaRPr lang="en-US" sz="1500" dirty="0"/>
          </a:p>
        </p:txBody>
      </p:sp>
      <p:sp>
        <p:nvSpPr>
          <p:cNvPr id="44" name="Text 37"/>
          <p:cNvSpPr txBox="1"/>
          <p:nvPr/>
        </p:nvSpPr>
        <p:spPr>
          <a:xfrm>
            <a:off x="6959498" y="2790749"/>
            <a:ext cx="3483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구분</a:t>
            </a:r>
            <a:endParaRPr lang="en-US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7855610" y="2790749"/>
            <a:ext cx="15672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온프레미스 (OpenStack)</a:t>
            </a:r>
            <a:endParaRPr lang="en-US" sz="1000" dirty="0"/>
          </a:p>
        </p:txBody>
      </p:sp>
      <p:sp>
        <p:nvSpPr>
          <p:cNvPr id="46" name="Text 39"/>
          <p:cNvSpPr txBox="1"/>
          <p:nvPr/>
        </p:nvSpPr>
        <p:spPr>
          <a:xfrm>
            <a:off x="10000793" y="2790749"/>
            <a:ext cx="9198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 클라우드</a:t>
            </a:r>
            <a:endParaRPr lang="en-US" sz="1000" dirty="0"/>
          </a:p>
        </p:txBody>
      </p:sp>
      <p:sp>
        <p:nvSpPr>
          <p:cNvPr id="47" name="Text 40"/>
          <p:cNvSpPr txBox="1"/>
          <p:nvPr/>
        </p:nvSpPr>
        <p:spPr>
          <a:xfrm>
            <a:off x="6752844" y="3323844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구축 비용</a:t>
            </a:r>
            <a:endParaRPr lang="en-US" sz="1000" dirty="0"/>
          </a:p>
        </p:txBody>
      </p:sp>
      <p:sp>
        <p:nvSpPr>
          <p:cNvPr id="48" name="Text 41"/>
          <p:cNvSpPr txBox="1"/>
          <p:nvPr/>
        </p:nvSpPr>
        <p:spPr>
          <a:xfrm>
            <a:off x="7804404" y="3228746"/>
            <a:ext cx="16724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투자 비용(CapEx) 높음</a:t>
            </a:r>
            <a:endParaRPr lang="en-US" sz="1000" dirty="0"/>
          </a:p>
        </p:txBody>
      </p:sp>
      <p:sp>
        <p:nvSpPr>
          <p:cNvPr id="49" name="Text 42"/>
          <p:cNvSpPr txBox="1"/>
          <p:nvPr/>
        </p:nvSpPr>
        <p:spPr>
          <a:xfrm>
            <a:off x="8057693" y="3438144"/>
            <a:ext cx="11622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서버, 네트워크 장비 등</a:t>
            </a:r>
            <a:endParaRPr lang="en-US" sz="900" dirty="0"/>
          </a:p>
        </p:txBody>
      </p:sp>
      <p:sp>
        <p:nvSpPr>
          <p:cNvPr id="50" name="Text 43"/>
          <p:cNvSpPr txBox="1"/>
          <p:nvPr/>
        </p:nvSpPr>
        <p:spPr>
          <a:xfrm>
            <a:off x="9797796" y="3228746"/>
            <a:ext cx="1329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비용(OpEx) 기반</a:t>
            </a:r>
            <a:endParaRPr lang="en-US" sz="1000" dirty="0"/>
          </a:p>
        </p:txBody>
      </p:sp>
      <p:sp>
        <p:nvSpPr>
          <p:cNvPr id="51" name="Text 44"/>
          <p:cNvSpPr txBox="1"/>
          <p:nvPr/>
        </p:nvSpPr>
        <p:spPr>
          <a:xfrm>
            <a:off x="10016338" y="3438144"/>
            <a:ext cx="896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사용한 만큼 지불</a:t>
            </a:r>
            <a:endParaRPr lang="en-US" sz="900" dirty="0"/>
          </a:p>
        </p:txBody>
      </p:sp>
      <p:sp>
        <p:nvSpPr>
          <p:cNvPr id="52" name="Text 45"/>
          <p:cNvSpPr txBox="1"/>
          <p:nvPr/>
        </p:nvSpPr>
        <p:spPr>
          <a:xfrm>
            <a:off x="6752844" y="3943807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 편의성</a:t>
            </a:r>
            <a:endParaRPr lang="en-US" sz="1000" dirty="0"/>
          </a:p>
        </p:txBody>
      </p:sp>
      <p:sp>
        <p:nvSpPr>
          <p:cNvPr id="53" name="Text 46"/>
          <p:cNvSpPr txBox="1"/>
          <p:nvPr/>
        </p:nvSpPr>
        <p:spPr>
          <a:xfrm>
            <a:off x="7923276" y="3847795"/>
            <a:ext cx="14337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관리 (High Effort)</a:t>
            </a:r>
            <a:endParaRPr lang="en-US" sz="1000" dirty="0"/>
          </a:p>
        </p:txBody>
      </p:sp>
      <p:sp>
        <p:nvSpPr>
          <p:cNvPr id="54" name="Text 47"/>
          <p:cNvSpPr txBox="1"/>
          <p:nvPr/>
        </p:nvSpPr>
        <p:spPr>
          <a:xfrm>
            <a:off x="8089697" y="4058107"/>
            <a:ext cx="11055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물리적 유지보수 필요</a:t>
            </a:r>
            <a:endParaRPr lang="en-US" sz="900" dirty="0"/>
          </a:p>
        </p:txBody>
      </p:sp>
      <p:sp>
        <p:nvSpPr>
          <p:cNvPr id="55" name="Text 48"/>
          <p:cNvSpPr txBox="1"/>
          <p:nvPr/>
        </p:nvSpPr>
        <p:spPr>
          <a:xfrm>
            <a:off x="9638690" y="3847795"/>
            <a:ext cx="16431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관리형 서비스 (Low Effort)</a:t>
            </a:r>
            <a:endParaRPr lang="en-US" sz="1000" dirty="0"/>
          </a:p>
        </p:txBody>
      </p:sp>
      <p:sp>
        <p:nvSpPr>
          <p:cNvPr id="56" name="Text 49"/>
          <p:cNvSpPr txBox="1"/>
          <p:nvPr/>
        </p:nvSpPr>
        <p:spPr>
          <a:xfrm>
            <a:off x="10016338" y="4058107"/>
            <a:ext cx="896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인프라 관리 위임</a:t>
            </a:r>
            <a:endParaRPr lang="en-US" sz="900" dirty="0"/>
          </a:p>
        </p:txBody>
      </p:sp>
      <p:sp>
        <p:nvSpPr>
          <p:cNvPr id="57" name="Text 50"/>
          <p:cNvSpPr txBox="1"/>
          <p:nvPr/>
        </p:nvSpPr>
        <p:spPr>
          <a:xfrm>
            <a:off x="6752844" y="4562856"/>
            <a:ext cx="4718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확장성</a:t>
            </a:r>
            <a:endParaRPr lang="en-US" sz="1000" dirty="0"/>
          </a:p>
        </p:txBody>
      </p:sp>
      <p:sp>
        <p:nvSpPr>
          <p:cNvPr id="58" name="Text 51"/>
          <p:cNvSpPr txBox="1"/>
          <p:nvPr/>
        </p:nvSpPr>
        <p:spPr>
          <a:xfrm>
            <a:off x="8120786" y="4466844"/>
            <a:ext cx="10341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물리적 한계 존재</a:t>
            </a:r>
            <a:endParaRPr lang="en-US" sz="1000" dirty="0"/>
          </a:p>
        </p:txBody>
      </p:sp>
      <p:sp>
        <p:nvSpPr>
          <p:cNvPr id="59" name="Text 52"/>
          <p:cNvSpPr txBox="1"/>
          <p:nvPr/>
        </p:nvSpPr>
        <p:spPr>
          <a:xfrm>
            <a:off x="8178394" y="4677156"/>
            <a:ext cx="9244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증설 시 시간 소요</a:t>
            </a:r>
            <a:endParaRPr lang="en-US" sz="900" dirty="0"/>
          </a:p>
        </p:txBody>
      </p:sp>
      <p:sp>
        <p:nvSpPr>
          <p:cNvPr id="60" name="Text 53"/>
          <p:cNvSpPr txBox="1"/>
          <p:nvPr/>
        </p:nvSpPr>
        <p:spPr>
          <a:xfrm>
            <a:off x="9819742" y="4466844"/>
            <a:ext cx="12819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즉각적인 탄력적 확장</a:t>
            </a:r>
            <a:endParaRPr lang="en-US" sz="1000" dirty="0"/>
          </a:p>
        </p:txBody>
      </p:sp>
      <p:sp>
        <p:nvSpPr>
          <p:cNvPr id="61" name="Text 54"/>
          <p:cNvSpPr txBox="1"/>
          <p:nvPr/>
        </p:nvSpPr>
        <p:spPr>
          <a:xfrm>
            <a:off x="9961474" y="4677156"/>
            <a:ext cx="10003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 Scaling 지원</a:t>
            </a:r>
            <a:endParaRPr lang="en-US" sz="900" dirty="0"/>
          </a:p>
        </p:txBody>
      </p:sp>
      <p:sp>
        <p:nvSpPr>
          <p:cNvPr id="62" name="Text 55"/>
          <p:cNvSpPr txBox="1"/>
          <p:nvPr/>
        </p:nvSpPr>
        <p:spPr>
          <a:xfrm>
            <a:off x="6752844" y="5181905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책임</a:t>
            </a:r>
            <a:endParaRPr lang="en-US" sz="1000" dirty="0"/>
          </a:p>
        </p:txBody>
      </p:sp>
      <p:sp>
        <p:nvSpPr>
          <p:cNvPr id="63" name="Text 56"/>
          <p:cNvSpPr txBox="1"/>
          <p:nvPr/>
        </p:nvSpPr>
        <p:spPr>
          <a:xfrm>
            <a:off x="7894015" y="5086807"/>
            <a:ext cx="14913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책임 (Full Control)</a:t>
            </a:r>
            <a:endParaRPr lang="en-US" sz="1000" dirty="0"/>
          </a:p>
        </p:txBody>
      </p:sp>
      <p:sp>
        <p:nvSpPr>
          <p:cNvPr id="64" name="Text 57"/>
          <p:cNvSpPr txBox="1"/>
          <p:nvPr/>
        </p:nvSpPr>
        <p:spPr>
          <a:xfrm>
            <a:off x="7984541" y="5296205"/>
            <a:ext cx="1314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물리 보안부터 데이터까지</a:t>
            </a:r>
            <a:endParaRPr lang="en-US" sz="900" dirty="0"/>
          </a:p>
        </p:txBody>
      </p:sp>
      <p:sp>
        <p:nvSpPr>
          <p:cNvPr id="65" name="Text 58"/>
          <p:cNvSpPr txBox="1"/>
          <p:nvPr/>
        </p:nvSpPr>
        <p:spPr>
          <a:xfrm>
            <a:off x="10003536" y="5086807"/>
            <a:ext cx="9198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공동 책임 모델</a:t>
            </a:r>
            <a:endParaRPr lang="en-US" sz="1000" dirty="0"/>
          </a:p>
        </p:txBody>
      </p:sp>
      <p:sp>
        <p:nvSpPr>
          <p:cNvPr id="66" name="Text 59"/>
          <p:cNvSpPr txBox="1"/>
          <p:nvPr/>
        </p:nvSpPr>
        <p:spPr>
          <a:xfrm>
            <a:off x="9829800" y="5296205"/>
            <a:ext cx="12673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인프라 보안은 AWS 담당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71500" y="381305"/>
            <a:ext cx="571500" cy="57607"/>
          </a:xfrm>
          <a:prstGeom prst="roundRect">
            <a:avLst>
              <a:gd name="adj" fmla="val 793654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571500" y="1047902"/>
            <a:ext cx="1117762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하이브리드 클라우드 연결 및 관리자 보안 접근 아키텍처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533095"/>
            <a:ext cx="336316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 OpenVPN 구성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71500" y="4229100"/>
            <a:ext cx="5429707" cy="2257654"/>
          </a:xfrm>
          <a:prstGeom prst="roundRect">
            <a:avLst>
              <a:gd name="adj" fmla="val 2051"/>
            </a:avLst>
          </a:prstGeom>
          <a:solidFill>
            <a:srgbClr val="1E293B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71500" y="4229100"/>
            <a:ext cx="38405" cy="2257654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00100" y="4772254"/>
            <a:ext cx="5009998" cy="9144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l="-1282" r="-1282"/>
          <a:stretch/>
        </p:blipFill>
        <p:spPr>
          <a:xfrm>
            <a:off x="800100" y="4449470"/>
            <a:ext cx="219456" cy="190195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00100" y="4954219"/>
            <a:ext cx="133502" cy="13350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28700" y="4918558"/>
            <a:ext cx="27797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MFA 적용:</a:t>
            </a: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Google Authenticator (OTP) 필수</a:t>
            </a:r>
            <a:endParaRPr lang="en-US" sz="1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00100" y="5255971"/>
            <a:ext cx="133502" cy="13350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28700" y="5219395"/>
            <a:ext cx="275143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암호화:</a:t>
            </a: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AES-256-GCM / 2048-bit RSA 인증서</a:t>
            </a:r>
            <a:endParaRPr lang="en-US" sz="10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00100" y="5556809"/>
            <a:ext cx="133502" cy="13350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28700" y="5520233"/>
            <a:ext cx="25319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계정 정책:</a:t>
            </a: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 그룹별 별도 Profile 적용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6191402" y="4229100"/>
            <a:ext cx="5429707" cy="2257654"/>
          </a:xfrm>
          <a:prstGeom prst="roundRect">
            <a:avLst>
              <a:gd name="adj" fmla="val 2051"/>
            </a:avLst>
          </a:prstGeom>
          <a:solidFill>
            <a:srgbClr val="1E293B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1"/>
          <p:cNvSpPr/>
          <p:nvPr/>
        </p:nvSpPr>
        <p:spPr>
          <a:xfrm>
            <a:off x="6191402" y="4229100"/>
            <a:ext cx="38405" cy="2257654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6420002" y="4772254"/>
            <a:ext cx="5009998" cy="9144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20002" y="4449470"/>
            <a:ext cx="190195" cy="190195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6420002" y="5195621"/>
            <a:ext cx="1314907" cy="9144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4"/>
          <p:cNvSpPr/>
          <p:nvPr/>
        </p:nvSpPr>
        <p:spPr>
          <a:xfrm>
            <a:off x="7730338" y="5195621"/>
            <a:ext cx="1343254" cy="9144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5"/>
          <p:cNvSpPr/>
          <p:nvPr/>
        </p:nvSpPr>
        <p:spPr>
          <a:xfrm>
            <a:off x="9069019" y="5195621"/>
            <a:ext cx="2361895" cy="9144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6"/>
          <p:cNvSpPr/>
          <p:nvPr/>
        </p:nvSpPr>
        <p:spPr>
          <a:xfrm>
            <a:off x="6420002" y="5565038"/>
            <a:ext cx="1314907" cy="9144"/>
          </a:xfrm>
          <a:prstGeom prst="rect">
            <a:avLst/>
          </a:prstGeom>
          <a:solidFill>
            <a:srgbClr val="475569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7"/>
          <p:cNvSpPr/>
          <p:nvPr/>
        </p:nvSpPr>
        <p:spPr>
          <a:xfrm>
            <a:off x="7730338" y="5565038"/>
            <a:ext cx="1343254" cy="9144"/>
          </a:xfrm>
          <a:prstGeom prst="rect">
            <a:avLst/>
          </a:prstGeom>
          <a:solidFill>
            <a:srgbClr val="475569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8"/>
          <p:cNvSpPr/>
          <p:nvPr/>
        </p:nvSpPr>
        <p:spPr>
          <a:xfrm>
            <a:off x="9069019" y="5565038"/>
            <a:ext cx="2361895" cy="9144"/>
          </a:xfrm>
          <a:prstGeom prst="rect">
            <a:avLst/>
          </a:prstGeom>
          <a:solidFill>
            <a:srgbClr val="475569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19"/>
          <p:cNvSpPr/>
          <p:nvPr/>
        </p:nvSpPr>
        <p:spPr>
          <a:xfrm>
            <a:off x="6420002" y="5930798"/>
            <a:ext cx="1314907" cy="9144"/>
          </a:xfrm>
          <a:prstGeom prst="rect">
            <a:avLst/>
          </a:prstGeom>
          <a:solidFill>
            <a:srgbClr val="475569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0"/>
          <p:cNvSpPr/>
          <p:nvPr/>
        </p:nvSpPr>
        <p:spPr>
          <a:xfrm>
            <a:off x="7730338" y="5930798"/>
            <a:ext cx="1343254" cy="9144"/>
          </a:xfrm>
          <a:prstGeom prst="rect">
            <a:avLst/>
          </a:prstGeom>
          <a:solidFill>
            <a:srgbClr val="475569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1"/>
          <p:cNvSpPr/>
          <p:nvPr/>
        </p:nvSpPr>
        <p:spPr>
          <a:xfrm>
            <a:off x="9069019" y="5930798"/>
            <a:ext cx="2361895" cy="9144"/>
          </a:xfrm>
          <a:prstGeom prst="rect">
            <a:avLst/>
          </a:prstGeom>
          <a:solidFill>
            <a:srgbClr val="475569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2"/>
          <p:cNvSpPr txBox="1"/>
          <p:nvPr/>
        </p:nvSpPr>
        <p:spPr>
          <a:xfrm>
            <a:off x="1133856" y="4419295"/>
            <a:ext cx="226954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Authentication &amp; Security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6724498" y="4419295"/>
            <a:ext cx="196413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Network Routing Path</a:t>
            </a:r>
            <a:endParaRPr lang="en-US" sz="1300" dirty="0"/>
          </a:p>
        </p:txBody>
      </p:sp>
      <p:sp>
        <p:nvSpPr>
          <p:cNvPr id="31" name="Text 24"/>
          <p:cNvSpPr txBox="1"/>
          <p:nvPr/>
        </p:nvSpPr>
        <p:spPr>
          <a:xfrm>
            <a:off x="6429146" y="4927702"/>
            <a:ext cx="5358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Source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7739482" y="4927702"/>
            <a:ext cx="2971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Via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9078163" y="4927702"/>
            <a:ext cx="8311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Destination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6420002" y="5288890"/>
            <a:ext cx="12115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Client VPN IP Pool</a:t>
            </a:r>
            <a:endParaRPr lang="en-US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7730338" y="5288890"/>
            <a:ext cx="11640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 EC2 VPN GW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9069019" y="5293462"/>
            <a:ext cx="1057046" cy="190195"/>
          </a:xfrm>
          <a:prstGeom prst="roundRect">
            <a:avLst>
              <a:gd name="adj" fmla="val 96154"/>
            </a:avLst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0"/>
          <p:cNvSpPr txBox="1"/>
          <p:nvPr/>
        </p:nvSpPr>
        <p:spPr>
          <a:xfrm>
            <a:off x="9125712" y="5312664"/>
            <a:ext cx="104058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10.0.10.0/24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10118750" y="5284318"/>
            <a:ext cx="5358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(Mgmt)</a:t>
            </a:r>
            <a:endParaRPr lang="en-US" sz="1000" dirty="0"/>
          </a:p>
        </p:txBody>
      </p:sp>
      <p:sp>
        <p:nvSpPr>
          <p:cNvPr id="39" name="Text 32"/>
          <p:cNvSpPr txBox="1"/>
          <p:nvPr/>
        </p:nvSpPr>
        <p:spPr>
          <a:xfrm>
            <a:off x="6420002" y="5654650"/>
            <a:ext cx="11164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 VPC Subnet</a:t>
            </a:r>
            <a:endParaRPr lang="en-US" sz="1000" dirty="0"/>
          </a:p>
        </p:txBody>
      </p:sp>
      <p:sp>
        <p:nvSpPr>
          <p:cNvPr id="40" name="Text 33"/>
          <p:cNvSpPr txBox="1"/>
          <p:nvPr/>
        </p:nvSpPr>
        <p:spPr>
          <a:xfrm>
            <a:off x="7730338" y="5654650"/>
            <a:ext cx="12307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Site-to-Site Tunnel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9069019" y="5659222"/>
            <a:ext cx="1362456" cy="190195"/>
          </a:xfrm>
          <a:prstGeom prst="roundRect">
            <a:avLst>
              <a:gd name="adj" fmla="val 96154"/>
            </a:avLst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5"/>
          <p:cNvSpPr txBox="1"/>
          <p:nvPr/>
        </p:nvSpPr>
        <p:spPr>
          <a:xfrm>
            <a:off x="9125712" y="5678424"/>
            <a:ext cx="13450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192.168.100.0/24</a:t>
            </a:r>
            <a:endParaRPr lang="en-US" sz="1000" dirty="0"/>
          </a:p>
        </p:txBody>
      </p:sp>
      <p:sp>
        <p:nvSpPr>
          <p:cNvPr id="43" name="Text 36"/>
          <p:cNvSpPr txBox="1"/>
          <p:nvPr/>
        </p:nvSpPr>
        <p:spPr>
          <a:xfrm>
            <a:off x="10430561" y="5650078"/>
            <a:ext cx="7360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(On-Prem)</a:t>
            </a:r>
            <a:endParaRPr lang="en-US" sz="1000" dirty="0"/>
          </a:p>
        </p:txBody>
      </p:sp>
      <p:sp>
        <p:nvSpPr>
          <p:cNvPr id="44" name="Text 37"/>
          <p:cNvSpPr txBox="1"/>
          <p:nvPr/>
        </p:nvSpPr>
        <p:spPr>
          <a:xfrm>
            <a:off x="6420002" y="6015838"/>
            <a:ext cx="935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Internet (Any)</a:t>
            </a:r>
            <a:endParaRPr lang="en-US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7730338" y="6015838"/>
            <a:ext cx="9738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Blocked by SG</a:t>
            </a:r>
            <a:endParaRPr lang="en-US" sz="1000" dirty="0"/>
          </a:p>
        </p:txBody>
      </p:sp>
      <p:sp>
        <p:nvSpPr>
          <p:cNvPr id="46" name="Text 39"/>
          <p:cNvSpPr txBox="1"/>
          <p:nvPr/>
        </p:nvSpPr>
        <p:spPr>
          <a:xfrm>
            <a:off x="9069019" y="6015838"/>
            <a:ext cx="16029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Internal Ports (SSH/RDP)</a:t>
            </a:r>
            <a:endParaRPr lang="en-US" sz="1000" dirty="0"/>
          </a:p>
        </p:txBody>
      </p:sp>
      <p:sp>
        <p:nvSpPr>
          <p:cNvPr id="47" name="Shape 40"/>
          <p:cNvSpPr/>
          <p:nvPr/>
        </p:nvSpPr>
        <p:spPr>
          <a:xfrm>
            <a:off x="571500" y="1600200"/>
            <a:ext cx="11048695" cy="2438705"/>
          </a:xfrm>
          <a:prstGeom prst="roundRect">
            <a:avLst>
              <a:gd name="adj" fmla="val 2343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1"/>
          <p:cNvSpPr/>
          <p:nvPr/>
        </p:nvSpPr>
        <p:spPr>
          <a:xfrm>
            <a:off x="1152144" y="2809951"/>
            <a:ext cx="9887407" cy="19202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2"/>
          <p:cNvSpPr/>
          <p:nvPr/>
        </p:nvSpPr>
        <p:spPr>
          <a:xfrm>
            <a:off x="3007462" y="2321662"/>
            <a:ext cx="1143000" cy="256946"/>
          </a:xfrm>
          <a:prstGeom prst="roundRect">
            <a:avLst>
              <a:gd name="adj" fmla="val 158166"/>
            </a:avLst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6"/>
          <a:srcRect l="-1677" r="-1677"/>
          <a:stretch/>
        </p:blipFill>
        <p:spPr>
          <a:xfrm>
            <a:off x="3112618" y="2402129"/>
            <a:ext cx="95098" cy="105156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3245206" y="2369210"/>
            <a:ext cx="8805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TLS / UDP 1194</a:t>
            </a:r>
            <a:endParaRPr lang="en-US" sz="800" dirty="0"/>
          </a:p>
        </p:txBody>
      </p:sp>
      <p:sp>
        <p:nvSpPr>
          <p:cNvPr id="52" name="Shape 44"/>
          <p:cNvSpPr/>
          <p:nvPr/>
        </p:nvSpPr>
        <p:spPr>
          <a:xfrm>
            <a:off x="5875020" y="2321662"/>
            <a:ext cx="1228954" cy="256946"/>
          </a:xfrm>
          <a:prstGeom prst="roundRect">
            <a:avLst>
              <a:gd name="adj" fmla="val 158166"/>
            </a:avLst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6" descr="preencoded.png"/>
          <p:cNvPicPr>
            <a:picLocks noChangeAspect="1"/>
          </p:cNvPicPr>
          <p:nvPr/>
        </p:nvPicPr>
        <p:blipFill>
          <a:blip r:embed="rId7"/>
          <a:srcRect l="-783" r="-783"/>
          <a:stretch/>
        </p:blipFill>
        <p:spPr>
          <a:xfrm>
            <a:off x="5980176" y="2402129"/>
            <a:ext cx="133502" cy="105156"/>
          </a:xfrm>
          <a:prstGeom prst="rect">
            <a:avLst/>
          </a:prstGeom>
        </p:spPr>
      </p:pic>
      <p:sp>
        <p:nvSpPr>
          <p:cNvPr id="54" name="Text 45"/>
          <p:cNvSpPr txBox="1"/>
          <p:nvPr/>
        </p:nvSpPr>
        <p:spPr>
          <a:xfrm>
            <a:off x="6151169" y="2369210"/>
            <a:ext cx="92811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Tunnel Interface</a:t>
            </a:r>
            <a:endParaRPr lang="en-US" sz="800" dirty="0"/>
          </a:p>
        </p:txBody>
      </p:sp>
      <p:sp>
        <p:nvSpPr>
          <p:cNvPr id="55" name="Shape 46"/>
          <p:cNvSpPr/>
          <p:nvPr/>
        </p:nvSpPr>
        <p:spPr>
          <a:xfrm>
            <a:off x="8743493" y="2321662"/>
            <a:ext cx="1209751" cy="256946"/>
          </a:xfrm>
          <a:prstGeom prst="roundRect">
            <a:avLst>
              <a:gd name="adj" fmla="val 158166"/>
            </a:avLst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6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847734" y="2402129"/>
            <a:ext cx="105156" cy="105156"/>
          </a:xfrm>
          <a:prstGeom prst="rect">
            <a:avLst/>
          </a:prstGeom>
        </p:spPr>
      </p:pic>
      <p:sp>
        <p:nvSpPr>
          <p:cNvPr id="57" name="Text 47"/>
          <p:cNvSpPr txBox="1"/>
          <p:nvPr/>
        </p:nvSpPr>
        <p:spPr>
          <a:xfrm>
            <a:off x="8990381" y="2369210"/>
            <a:ext cx="9381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Internal Routing</a:t>
            </a:r>
            <a:endParaRPr lang="en-US" sz="800" dirty="0"/>
          </a:p>
        </p:txBody>
      </p:sp>
      <p:sp>
        <p:nvSpPr>
          <p:cNvPr id="58" name="Shape 48"/>
          <p:cNvSpPr/>
          <p:nvPr/>
        </p:nvSpPr>
        <p:spPr>
          <a:xfrm>
            <a:off x="961949" y="2066544"/>
            <a:ext cx="1714500" cy="1505102"/>
          </a:xfrm>
          <a:prstGeom prst="roundRect">
            <a:avLst>
              <a:gd name="adj" fmla="val 4614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49"/>
          <p:cNvSpPr/>
          <p:nvPr/>
        </p:nvSpPr>
        <p:spPr>
          <a:xfrm>
            <a:off x="1552651" y="2275942"/>
            <a:ext cx="533095" cy="533095"/>
          </a:xfrm>
          <a:prstGeom prst="ellipse">
            <a:avLst/>
          </a:prstGeom>
          <a:solidFill>
            <a:srgbClr val="F472B6">
              <a:alpha val="10000"/>
            </a:srgbClr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0" name="Image 8" descr="preencoded.png"/>
          <p:cNvPicPr>
            <a:picLocks noChangeAspect="1"/>
          </p:cNvPicPr>
          <p:nvPr/>
        </p:nvPicPr>
        <p:blipFill>
          <a:blip r:embed="rId9"/>
          <a:srcRect l="-80" r="-80"/>
          <a:stretch/>
        </p:blipFill>
        <p:spPr>
          <a:xfrm>
            <a:off x="1676095" y="2428646"/>
            <a:ext cx="286207" cy="228600"/>
          </a:xfrm>
          <a:prstGeom prst="rect">
            <a:avLst/>
          </a:prstGeom>
        </p:spPr>
      </p:pic>
      <p:sp>
        <p:nvSpPr>
          <p:cNvPr id="61" name="Text 50"/>
          <p:cNvSpPr txBox="1"/>
          <p:nvPr/>
        </p:nvSpPr>
        <p:spPr>
          <a:xfrm>
            <a:off x="1209751" y="2924251"/>
            <a:ext cx="12289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Remote Admin</a:t>
            </a:r>
            <a:endParaRPr lang="en-US" sz="1200" dirty="0"/>
          </a:p>
        </p:txBody>
      </p:sp>
      <p:sp>
        <p:nvSpPr>
          <p:cNvPr id="62" name="Text 51"/>
          <p:cNvSpPr txBox="1"/>
          <p:nvPr/>
        </p:nvSpPr>
        <p:spPr>
          <a:xfrm>
            <a:off x="1228039" y="3190342"/>
            <a:ext cx="11914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OpenVPN Client App</a:t>
            </a:r>
            <a:endParaRPr lang="en-US" sz="900" dirty="0"/>
          </a:p>
        </p:txBody>
      </p:sp>
      <p:sp>
        <p:nvSpPr>
          <p:cNvPr id="63" name="Shape 52"/>
          <p:cNvSpPr/>
          <p:nvPr/>
        </p:nvSpPr>
        <p:spPr>
          <a:xfrm>
            <a:off x="3813048" y="1981505"/>
            <a:ext cx="1714500" cy="1676095"/>
          </a:xfrm>
          <a:prstGeom prst="roundRect">
            <a:avLst>
              <a:gd name="adj" fmla="val 3720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53"/>
          <p:cNvSpPr/>
          <p:nvPr/>
        </p:nvSpPr>
        <p:spPr>
          <a:xfrm>
            <a:off x="4403750" y="2190902"/>
            <a:ext cx="533095" cy="533095"/>
          </a:xfrm>
          <a:prstGeom prst="ellipse">
            <a:avLst/>
          </a:prstGeom>
          <a:solidFill>
            <a:srgbClr val="FBBF24">
              <a:alpha val="10000"/>
            </a:srgbClr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5" name="Image 9" descr="preencoded.png"/>
          <p:cNvPicPr>
            <a:picLocks noChangeAspect="1"/>
          </p:cNvPicPr>
          <p:nvPr/>
        </p:nvPicPr>
        <p:blipFill>
          <a:blip r:embed="rId10"/>
          <a:srcRect l="-80" r="-80"/>
          <a:stretch/>
        </p:blipFill>
        <p:spPr>
          <a:xfrm>
            <a:off x="4527194" y="2342693"/>
            <a:ext cx="286207" cy="228600"/>
          </a:xfrm>
          <a:prstGeom prst="rect">
            <a:avLst/>
          </a:prstGeom>
        </p:spPr>
      </p:pic>
      <p:sp>
        <p:nvSpPr>
          <p:cNvPr id="66" name="Text 54"/>
          <p:cNvSpPr txBox="1"/>
          <p:nvPr/>
        </p:nvSpPr>
        <p:spPr>
          <a:xfrm>
            <a:off x="4278478" y="2838298"/>
            <a:ext cx="790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 VPC</a:t>
            </a:r>
            <a:endParaRPr lang="en-US" sz="1200" dirty="0"/>
          </a:p>
        </p:txBody>
      </p:sp>
      <p:sp>
        <p:nvSpPr>
          <p:cNvPr id="67" name="Text 55"/>
          <p:cNvSpPr txBox="1"/>
          <p:nvPr/>
        </p:nvSpPr>
        <p:spPr>
          <a:xfrm>
            <a:off x="3931920" y="3105302"/>
            <a:ext cx="14767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OpenVPN Access Server (EC2)</a:t>
            </a:r>
            <a:endParaRPr lang="en-US" sz="900" dirty="0"/>
          </a:p>
        </p:txBody>
      </p:sp>
      <p:sp>
        <p:nvSpPr>
          <p:cNvPr id="68" name="Shape 56"/>
          <p:cNvSpPr/>
          <p:nvPr/>
        </p:nvSpPr>
        <p:spPr>
          <a:xfrm>
            <a:off x="6664147" y="2066544"/>
            <a:ext cx="1714500" cy="1505102"/>
          </a:xfrm>
          <a:prstGeom prst="roundRect">
            <a:avLst>
              <a:gd name="adj" fmla="val 4614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57"/>
          <p:cNvSpPr/>
          <p:nvPr/>
        </p:nvSpPr>
        <p:spPr>
          <a:xfrm>
            <a:off x="7254850" y="2275942"/>
            <a:ext cx="533095" cy="533095"/>
          </a:xfrm>
          <a:prstGeom prst="ellipse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0" name="Image 1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407554" y="2428646"/>
            <a:ext cx="228600" cy="228600"/>
          </a:xfrm>
          <a:prstGeom prst="rect">
            <a:avLst/>
          </a:prstGeom>
        </p:spPr>
      </p:pic>
      <p:sp>
        <p:nvSpPr>
          <p:cNvPr id="71" name="Text 58"/>
          <p:cNvSpPr txBox="1"/>
          <p:nvPr/>
        </p:nvSpPr>
        <p:spPr>
          <a:xfrm>
            <a:off x="6818681" y="2924251"/>
            <a:ext cx="14100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pfSense Gateway</a:t>
            </a:r>
            <a:endParaRPr lang="en-US" sz="1200" dirty="0"/>
          </a:p>
        </p:txBody>
      </p:sp>
      <p:sp>
        <p:nvSpPr>
          <p:cNvPr id="72" name="Text 59"/>
          <p:cNvSpPr txBox="1"/>
          <p:nvPr/>
        </p:nvSpPr>
        <p:spPr>
          <a:xfrm>
            <a:off x="6932066" y="3190342"/>
            <a:ext cx="11814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VPN Client / Routing</a:t>
            </a:r>
            <a:endParaRPr lang="en-US" sz="900" dirty="0"/>
          </a:p>
        </p:txBody>
      </p:sp>
      <p:sp>
        <p:nvSpPr>
          <p:cNvPr id="73" name="Shape 60"/>
          <p:cNvSpPr/>
          <p:nvPr/>
        </p:nvSpPr>
        <p:spPr>
          <a:xfrm>
            <a:off x="9515246" y="2066544"/>
            <a:ext cx="1714500" cy="1505102"/>
          </a:xfrm>
          <a:prstGeom prst="roundRect">
            <a:avLst>
              <a:gd name="adj" fmla="val 4614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61"/>
          <p:cNvSpPr/>
          <p:nvPr/>
        </p:nvSpPr>
        <p:spPr>
          <a:xfrm>
            <a:off x="10105949" y="2275942"/>
            <a:ext cx="533095" cy="533095"/>
          </a:xfrm>
          <a:prstGeom prst="ellipse">
            <a:avLst/>
          </a:prstGeom>
          <a:solidFill>
            <a:srgbClr val="34D399">
              <a:alpha val="10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5" name="Image 11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0258654" y="2428646"/>
            <a:ext cx="228600" cy="228600"/>
          </a:xfrm>
          <a:prstGeom prst="rect">
            <a:avLst/>
          </a:prstGeom>
        </p:spPr>
      </p:pic>
      <p:sp>
        <p:nvSpPr>
          <p:cNvPr id="76" name="Text 62"/>
          <p:cNvSpPr txBox="1"/>
          <p:nvPr/>
        </p:nvSpPr>
        <p:spPr>
          <a:xfrm>
            <a:off x="9670694" y="2924251"/>
            <a:ext cx="14100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Internal Network</a:t>
            </a:r>
            <a:endParaRPr lang="en-US" sz="1200" dirty="0"/>
          </a:p>
        </p:txBody>
      </p:sp>
      <p:sp>
        <p:nvSpPr>
          <p:cNvPr id="77" name="Text 63"/>
          <p:cNvSpPr txBox="1"/>
          <p:nvPr/>
        </p:nvSpPr>
        <p:spPr>
          <a:xfrm>
            <a:off x="9832543" y="3190342"/>
            <a:ext cx="10863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OpenStack / Mgmt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71500" y="381305"/>
            <a:ext cx="571500" cy="57607"/>
          </a:xfrm>
          <a:prstGeom prst="roundRect">
            <a:avLst>
              <a:gd name="adj" fmla="val 793654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571500" y="1047902"/>
            <a:ext cx="1117762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웹 서버 진입 후 권한 상승 및 측면 이동(Lateral Movement) 단계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533095"/>
            <a:ext cx="399135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공격 시나리오 1: 웹쉘 공격</a:t>
            </a:r>
            <a:endParaRPr lang="en-US" sz="2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505" r="-505"/>
          <a:stretch/>
        </p:blipFill>
        <p:spPr>
          <a:xfrm>
            <a:off x="2632558" y="3614623"/>
            <a:ext cx="114300" cy="181051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rcRect l="-505" r="-505"/>
          <a:stretch/>
        </p:blipFill>
        <p:spPr>
          <a:xfrm>
            <a:off x="4903927" y="3614623"/>
            <a:ext cx="114300" cy="181051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rcRect l="-505" r="-505"/>
          <a:stretch/>
        </p:blipFill>
        <p:spPr>
          <a:xfrm>
            <a:off x="7174382" y="3614623"/>
            <a:ext cx="114300" cy="181051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/>
          <a:srcRect l="-505" r="-505"/>
          <a:stretch/>
        </p:blipFill>
        <p:spPr>
          <a:xfrm>
            <a:off x="9444838" y="3614623"/>
            <a:ext cx="114300" cy="181051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571500" y="1695298"/>
            <a:ext cx="1971446" cy="4591202"/>
          </a:xfrm>
          <a:prstGeom prst="roundRect">
            <a:avLst>
              <a:gd name="adj" fmla="val 2689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5"/>
          <p:cNvSpPr/>
          <p:nvPr/>
        </p:nvSpPr>
        <p:spPr>
          <a:xfrm>
            <a:off x="1269187" y="1990649"/>
            <a:ext cx="571500" cy="571500"/>
          </a:xfrm>
          <a:prstGeom prst="ellipse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40180" y="2162556"/>
            <a:ext cx="228600" cy="22860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661111" y="2704795"/>
            <a:ext cx="179313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접근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(Initial Access)</a:t>
            </a:r>
            <a:endParaRPr lang="en-US" sz="1300" dirty="0"/>
          </a:p>
        </p:txBody>
      </p:sp>
      <p:sp>
        <p:nvSpPr>
          <p:cNvPr id="14" name="Text 7"/>
          <p:cNvSpPr txBox="1"/>
          <p:nvPr/>
        </p:nvSpPr>
        <p:spPr>
          <a:xfrm>
            <a:off x="675742" y="3147365"/>
            <a:ext cx="1764792" cy="2200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공개된 웹 서비스 취약점 탐색 및 업로드 경로 확보 시도</a:t>
            </a:r>
            <a:endParaRPr lang="en-US" sz="1000" dirty="0"/>
          </a:p>
        </p:txBody>
      </p:sp>
      <p:sp>
        <p:nvSpPr>
          <p:cNvPr id="15" name="Shape 8"/>
          <p:cNvSpPr/>
          <p:nvPr/>
        </p:nvSpPr>
        <p:spPr>
          <a:xfrm>
            <a:off x="724205" y="5484571"/>
            <a:ext cx="1666951" cy="609905"/>
          </a:xfrm>
          <a:prstGeom prst="roundRect">
            <a:avLst>
              <a:gd name="adj" fmla="val 14055"/>
            </a:avLst>
          </a:prstGeom>
          <a:solidFill>
            <a:srgbClr val="0F172A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9"/>
          <p:cNvSpPr/>
          <p:nvPr/>
        </p:nvSpPr>
        <p:spPr>
          <a:xfrm>
            <a:off x="724205" y="5484571"/>
            <a:ext cx="1666951" cy="19202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0"/>
          <p:cNvSpPr txBox="1"/>
          <p:nvPr/>
        </p:nvSpPr>
        <p:spPr>
          <a:xfrm>
            <a:off x="779069" y="5598871"/>
            <a:ext cx="155722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kern="0" spc="4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ATTACK TECH</a:t>
            </a:r>
            <a:endParaRPr lang="en-US" sz="800" dirty="0"/>
          </a:p>
        </p:txBody>
      </p:sp>
      <p:sp>
        <p:nvSpPr>
          <p:cNvPr id="18" name="Text 11"/>
          <p:cNvSpPr txBox="1"/>
          <p:nvPr/>
        </p:nvSpPr>
        <p:spPr>
          <a:xfrm>
            <a:off x="770839" y="5797296"/>
            <a:ext cx="15736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Vuln Scanning</a:t>
            </a:r>
            <a:endParaRPr lang="en-US" sz="1000" dirty="0"/>
          </a:p>
        </p:txBody>
      </p:sp>
      <p:sp>
        <p:nvSpPr>
          <p:cNvPr id="19" name="Shape 12"/>
          <p:cNvSpPr/>
          <p:nvPr/>
        </p:nvSpPr>
        <p:spPr>
          <a:xfrm>
            <a:off x="2841955" y="1695298"/>
            <a:ext cx="1971446" cy="4591202"/>
          </a:xfrm>
          <a:prstGeom prst="roundRect">
            <a:avLst>
              <a:gd name="adj" fmla="val 2689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3"/>
          <p:cNvSpPr/>
          <p:nvPr/>
        </p:nvSpPr>
        <p:spPr>
          <a:xfrm>
            <a:off x="3539642" y="1990649"/>
            <a:ext cx="571500" cy="571500"/>
          </a:xfrm>
          <a:prstGeom prst="ellipse">
            <a:avLst/>
          </a:prstGeom>
          <a:solidFill>
            <a:srgbClr val="FACC15">
              <a:alpha val="10000"/>
            </a:srgbClr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5"/>
          <a:srcRect l="-133" r="-133"/>
          <a:stretch/>
        </p:blipFill>
        <p:spPr>
          <a:xfrm>
            <a:off x="3739896" y="2162556"/>
            <a:ext cx="171907" cy="22860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2931566" y="2704795"/>
            <a:ext cx="179313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웹쉘 설치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(Installation)</a:t>
            </a:r>
            <a:endParaRPr lang="en-US" sz="1300" dirty="0"/>
          </a:p>
        </p:txBody>
      </p:sp>
      <p:sp>
        <p:nvSpPr>
          <p:cNvPr id="23" name="Text 15"/>
          <p:cNvSpPr txBox="1"/>
          <p:nvPr/>
        </p:nvSpPr>
        <p:spPr>
          <a:xfrm>
            <a:off x="2946197" y="3147365"/>
            <a:ext cx="1764792" cy="2200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 업로드 필터링 우회 후 악성 스크립트(Web Shell) 설치</a:t>
            </a:r>
            <a:endParaRPr lang="en-US" sz="1000" dirty="0"/>
          </a:p>
        </p:txBody>
      </p:sp>
      <p:sp>
        <p:nvSpPr>
          <p:cNvPr id="24" name="Shape 16"/>
          <p:cNvSpPr/>
          <p:nvPr/>
        </p:nvSpPr>
        <p:spPr>
          <a:xfrm>
            <a:off x="2994660" y="5484571"/>
            <a:ext cx="1666951" cy="609905"/>
          </a:xfrm>
          <a:prstGeom prst="roundRect">
            <a:avLst>
              <a:gd name="adj" fmla="val 14055"/>
            </a:avLst>
          </a:prstGeom>
          <a:solidFill>
            <a:srgbClr val="0F172A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7"/>
          <p:cNvSpPr/>
          <p:nvPr/>
        </p:nvSpPr>
        <p:spPr>
          <a:xfrm>
            <a:off x="2994660" y="5484571"/>
            <a:ext cx="1666951" cy="19202"/>
          </a:xfrm>
          <a:prstGeom prst="rect">
            <a:avLst/>
          </a:prstGeom>
          <a:solidFill>
            <a:srgbClr val="FACC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8"/>
          <p:cNvSpPr txBox="1"/>
          <p:nvPr/>
        </p:nvSpPr>
        <p:spPr>
          <a:xfrm>
            <a:off x="3049524" y="5598871"/>
            <a:ext cx="155722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kern="0" spc="4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ATTACK TECH</a:t>
            </a:r>
            <a:endParaRPr lang="en-US" sz="800" dirty="0"/>
          </a:p>
        </p:txBody>
      </p:sp>
      <p:sp>
        <p:nvSpPr>
          <p:cNvPr id="27" name="Text 19"/>
          <p:cNvSpPr txBox="1"/>
          <p:nvPr/>
        </p:nvSpPr>
        <p:spPr>
          <a:xfrm>
            <a:off x="3041294" y="5797296"/>
            <a:ext cx="15736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File Bypass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5113325" y="1695298"/>
            <a:ext cx="1971446" cy="4591202"/>
          </a:xfrm>
          <a:prstGeom prst="roundRect">
            <a:avLst>
              <a:gd name="adj" fmla="val 2689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1"/>
          <p:cNvSpPr/>
          <p:nvPr/>
        </p:nvSpPr>
        <p:spPr>
          <a:xfrm>
            <a:off x="5810098" y="1990649"/>
            <a:ext cx="571500" cy="571500"/>
          </a:xfrm>
          <a:prstGeom prst="ellipse">
            <a:avLst/>
          </a:prstGeom>
          <a:solidFill>
            <a:srgbClr val="FB923C">
              <a:alpha val="10000"/>
            </a:srgbClr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6"/>
          <a:srcRect t="-45" b="-45"/>
          <a:stretch/>
        </p:blipFill>
        <p:spPr>
          <a:xfrm>
            <a:off x="5967374" y="2162556"/>
            <a:ext cx="256946" cy="22860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5233111" y="2704795"/>
            <a:ext cx="172638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명령 실행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(Execution)</a:t>
            </a:r>
            <a:endParaRPr lang="en-US" sz="1300" dirty="0"/>
          </a:p>
        </p:txBody>
      </p:sp>
      <p:sp>
        <p:nvSpPr>
          <p:cNvPr id="32" name="Text 23"/>
          <p:cNvSpPr txBox="1"/>
          <p:nvPr/>
        </p:nvSpPr>
        <p:spPr>
          <a:xfrm>
            <a:off x="5216652" y="3147365"/>
            <a:ext cx="1764792" cy="2200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업로드된 웹쉘을 통해 시스템 정보 조회 및 중요 파일 접근</a:t>
            </a:r>
            <a:endParaRPr lang="en-US" sz="1000" dirty="0"/>
          </a:p>
        </p:txBody>
      </p:sp>
      <p:sp>
        <p:nvSpPr>
          <p:cNvPr id="33" name="Shape 24"/>
          <p:cNvSpPr/>
          <p:nvPr/>
        </p:nvSpPr>
        <p:spPr>
          <a:xfrm>
            <a:off x="5265115" y="5484571"/>
            <a:ext cx="1666951" cy="609905"/>
          </a:xfrm>
          <a:prstGeom prst="roundRect">
            <a:avLst>
              <a:gd name="adj" fmla="val 14055"/>
            </a:avLst>
          </a:prstGeom>
          <a:solidFill>
            <a:srgbClr val="0F172A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5"/>
          <p:cNvSpPr/>
          <p:nvPr/>
        </p:nvSpPr>
        <p:spPr>
          <a:xfrm>
            <a:off x="5265115" y="5484571"/>
            <a:ext cx="1666951" cy="19202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6"/>
          <p:cNvSpPr txBox="1"/>
          <p:nvPr/>
        </p:nvSpPr>
        <p:spPr>
          <a:xfrm>
            <a:off x="5320894" y="5598871"/>
            <a:ext cx="155722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kern="0" spc="4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ATTACK TECH</a:t>
            </a:r>
            <a:endParaRPr lang="en-US" sz="800" dirty="0"/>
          </a:p>
        </p:txBody>
      </p:sp>
      <p:sp>
        <p:nvSpPr>
          <p:cNvPr id="36" name="Text 27"/>
          <p:cNvSpPr txBox="1"/>
          <p:nvPr/>
        </p:nvSpPr>
        <p:spPr>
          <a:xfrm>
            <a:off x="5312664" y="5797296"/>
            <a:ext cx="15736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Command Inj.</a:t>
            </a:r>
            <a:endParaRPr lang="en-US" sz="1000" dirty="0"/>
          </a:p>
        </p:txBody>
      </p:sp>
      <p:sp>
        <p:nvSpPr>
          <p:cNvPr id="37" name="Shape 28"/>
          <p:cNvSpPr/>
          <p:nvPr/>
        </p:nvSpPr>
        <p:spPr>
          <a:xfrm>
            <a:off x="7383780" y="1695298"/>
            <a:ext cx="1971446" cy="4591202"/>
          </a:xfrm>
          <a:prstGeom prst="roundRect">
            <a:avLst>
              <a:gd name="adj" fmla="val 2689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29"/>
          <p:cNvSpPr/>
          <p:nvPr/>
        </p:nvSpPr>
        <p:spPr>
          <a:xfrm>
            <a:off x="8081467" y="1990649"/>
            <a:ext cx="571500" cy="571500"/>
          </a:xfrm>
          <a:prstGeom prst="ellipse">
            <a:avLst/>
          </a:prstGeom>
          <a:solidFill>
            <a:srgbClr val="F87171">
              <a:alpha val="10000"/>
            </a:srgbClr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7"/>
          <a:srcRect l="-57" r="-57"/>
          <a:stretch/>
        </p:blipFill>
        <p:spPr>
          <a:xfrm>
            <a:off x="8267090" y="2162556"/>
            <a:ext cx="200254" cy="228600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7473391" y="2704795"/>
            <a:ext cx="179313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권한 상승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(Privilege Esc)</a:t>
            </a:r>
            <a:endParaRPr lang="en-US" sz="1300" dirty="0"/>
          </a:p>
        </p:txBody>
      </p:sp>
      <p:sp>
        <p:nvSpPr>
          <p:cNvPr id="41" name="Text 31"/>
          <p:cNvSpPr txBox="1"/>
          <p:nvPr/>
        </p:nvSpPr>
        <p:spPr>
          <a:xfrm>
            <a:off x="7488022" y="3147365"/>
            <a:ext cx="1764792" cy="2200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취약한 설정이나 커널 취약점을 악용하여 Root 권한 획득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7536485" y="5484571"/>
            <a:ext cx="1666951" cy="609905"/>
          </a:xfrm>
          <a:prstGeom prst="roundRect">
            <a:avLst>
              <a:gd name="adj" fmla="val 14055"/>
            </a:avLst>
          </a:prstGeom>
          <a:solidFill>
            <a:srgbClr val="0F172A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3"/>
          <p:cNvSpPr/>
          <p:nvPr/>
        </p:nvSpPr>
        <p:spPr>
          <a:xfrm>
            <a:off x="7536485" y="5484571"/>
            <a:ext cx="1666951" cy="19202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4"/>
          <p:cNvSpPr txBox="1"/>
          <p:nvPr/>
        </p:nvSpPr>
        <p:spPr>
          <a:xfrm>
            <a:off x="7591349" y="5598871"/>
            <a:ext cx="155722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kern="0" spc="4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ATTACK TECH</a:t>
            </a:r>
            <a:endParaRPr lang="en-US" sz="800" dirty="0"/>
          </a:p>
        </p:txBody>
      </p:sp>
      <p:sp>
        <p:nvSpPr>
          <p:cNvPr id="45" name="Text 35"/>
          <p:cNvSpPr txBox="1"/>
          <p:nvPr/>
        </p:nvSpPr>
        <p:spPr>
          <a:xfrm>
            <a:off x="7583119" y="5797296"/>
            <a:ext cx="15736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Exploit</a:t>
            </a:r>
            <a:endParaRPr lang="en-US" sz="1000" dirty="0"/>
          </a:p>
        </p:txBody>
      </p:sp>
      <p:sp>
        <p:nvSpPr>
          <p:cNvPr id="46" name="Shape 36"/>
          <p:cNvSpPr/>
          <p:nvPr/>
        </p:nvSpPr>
        <p:spPr>
          <a:xfrm>
            <a:off x="9655150" y="1695298"/>
            <a:ext cx="1971446" cy="4591202"/>
          </a:xfrm>
          <a:prstGeom prst="roundRect">
            <a:avLst>
              <a:gd name="adj" fmla="val 2689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37"/>
          <p:cNvSpPr/>
          <p:nvPr/>
        </p:nvSpPr>
        <p:spPr>
          <a:xfrm>
            <a:off x="10351922" y="1990649"/>
            <a:ext cx="571500" cy="571500"/>
          </a:xfrm>
          <a:prstGeom prst="ellipse">
            <a:avLst/>
          </a:prstGeom>
          <a:solidFill>
            <a:srgbClr val="C084FC">
              <a:alpha val="10000"/>
            </a:srgbClr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8"/>
          <a:srcRect l="-80" r="-80"/>
          <a:stretch/>
        </p:blipFill>
        <p:spPr>
          <a:xfrm>
            <a:off x="10494569" y="2162556"/>
            <a:ext cx="286207" cy="228600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9744761" y="2704795"/>
            <a:ext cx="179313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SSH 시도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(Lateral Move)</a:t>
            </a:r>
            <a:endParaRPr lang="en-US" sz="1300" dirty="0"/>
          </a:p>
        </p:txBody>
      </p:sp>
      <p:sp>
        <p:nvSpPr>
          <p:cNvPr id="50" name="Text 39"/>
          <p:cNvSpPr txBox="1"/>
          <p:nvPr/>
        </p:nvSpPr>
        <p:spPr>
          <a:xfrm>
            <a:off x="9758477" y="3147365"/>
            <a:ext cx="1764792" cy="2200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탈취한 계정 정보를 이용해 내부망의 타 시스템으로 SSH 접속</a:t>
            </a:r>
            <a:endParaRPr lang="en-US" sz="1000" dirty="0"/>
          </a:p>
        </p:txBody>
      </p:sp>
      <p:sp>
        <p:nvSpPr>
          <p:cNvPr id="51" name="Shape 40"/>
          <p:cNvSpPr/>
          <p:nvPr/>
        </p:nvSpPr>
        <p:spPr>
          <a:xfrm>
            <a:off x="9806940" y="5484571"/>
            <a:ext cx="1666951" cy="609905"/>
          </a:xfrm>
          <a:prstGeom prst="roundRect">
            <a:avLst>
              <a:gd name="adj" fmla="val 14055"/>
            </a:avLst>
          </a:prstGeom>
          <a:solidFill>
            <a:srgbClr val="0F172A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41"/>
          <p:cNvSpPr/>
          <p:nvPr/>
        </p:nvSpPr>
        <p:spPr>
          <a:xfrm>
            <a:off x="9806940" y="5484571"/>
            <a:ext cx="1666951" cy="19202"/>
          </a:xfrm>
          <a:prstGeom prst="rect">
            <a:avLst/>
          </a:prstGeom>
          <a:solidFill>
            <a:srgbClr val="C084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42"/>
          <p:cNvSpPr txBox="1"/>
          <p:nvPr/>
        </p:nvSpPr>
        <p:spPr>
          <a:xfrm>
            <a:off x="9862718" y="5598871"/>
            <a:ext cx="155722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kern="0" spc="4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ATTACK TECH</a:t>
            </a:r>
            <a:endParaRPr lang="en-US" sz="800" dirty="0"/>
          </a:p>
        </p:txBody>
      </p:sp>
      <p:sp>
        <p:nvSpPr>
          <p:cNvPr id="54" name="Text 43"/>
          <p:cNvSpPr txBox="1"/>
          <p:nvPr/>
        </p:nvSpPr>
        <p:spPr>
          <a:xfrm>
            <a:off x="9853574" y="5797296"/>
            <a:ext cx="15736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SSH Access</a:t>
            </a:r>
            <a:endParaRPr lang="en-US" sz="1000" dirty="0"/>
          </a:p>
        </p:txBody>
      </p:sp>
      <p:sp>
        <p:nvSpPr>
          <p:cNvPr id="55" name="Shape 44"/>
          <p:cNvSpPr/>
          <p:nvPr/>
        </p:nvSpPr>
        <p:spPr>
          <a:xfrm>
            <a:off x="1401775" y="1561795"/>
            <a:ext cx="304495" cy="304495"/>
          </a:xfrm>
          <a:prstGeom prst="ellipse">
            <a:avLst/>
          </a:prstGeom>
          <a:solidFill>
            <a:srgbClr val="0F172A"/>
          </a:solidFill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45"/>
          <p:cNvSpPr txBox="1"/>
          <p:nvPr/>
        </p:nvSpPr>
        <p:spPr>
          <a:xfrm>
            <a:off x="1419149" y="1612087"/>
            <a:ext cx="274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000" dirty="0"/>
          </a:p>
        </p:txBody>
      </p:sp>
      <p:sp>
        <p:nvSpPr>
          <p:cNvPr id="57" name="Shape 46"/>
          <p:cNvSpPr/>
          <p:nvPr/>
        </p:nvSpPr>
        <p:spPr>
          <a:xfrm>
            <a:off x="3673145" y="1561795"/>
            <a:ext cx="304495" cy="304495"/>
          </a:xfrm>
          <a:prstGeom prst="ellipse">
            <a:avLst/>
          </a:prstGeom>
          <a:solidFill>
            <a:srgbClr val="0F172A"/>
          </a:solidFill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47"/>
          <p:cNvSpPr txBox="1"/>
          <p:nvPr/>
        </p:nvSpPr>
        <p:spPr>
          <a:xfrm>
            <a:off x="3690518" y="1612087"/>
            <a:ext cx="274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000" dirty="0"/>
          </a:p>
        </p:txBody>
      </p:sp>
      <p:sp>
        <p:nvSpPr>
          <p:cNvPr id="59" name="Shape 48"/>
          <p:cNvSpPr/>
          <p:nvPr/>
        </p:nvSpPr>
        <p:spPr>
          <a:xfrm>
            <a:off x="5943600" y="1561795"/>
            <a:ext cx="304495" cy="304495"/>
          </a:xfrm>
          <a:prstGeom prst="ellipse">
            <a:avLst/>
          </a:prstGeom>
          <a:solidFill>
            <a:srgbClr val="0F172A"/>
          </a:solidFill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49"/>
          <p:cNvSpPr txBox="1"/>
          <p:nvPr/>
        </p:nvSpPr>
        <p:spPr>
          <a:xfrm>
            <a:off x="5960974" y="1612087"/>
            <a:ext cx="274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000" dirty="0"/>
          </a:p>
        </p:txBody>
      </p:sp>
      <p:sp>
        <p:nvSpPr>
          <p:cNvPr id="61" name="Shape 50"/>
          <p:cNvSpPr/>
          <p:nvPr/>
        </p:nvSpPr>
        <p:spPr>
          <a:xfrm>
            <a:off x="8214970" y="1561795"/>
            <a:ext cx="304495" cy="304495"/>
          </a:xfrm>
          <a:prstGeom prst="ellipse">
            <a:avLst/>
          </a:prstGeom>
          <a:solidFill>
            <a:srgbClr val="0F172A"/>
          </a:solidFill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1"/>
          <p:cNvSpPr txBox="1"/>
          <p:nvPr/>
        </p:nvSpPr>
        <p:spPr>
          <a:xfrm>
            <a:off x="8232343" y="1612087"/>
            <a:ext cx="274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000" dirty="0"/>
          </a:p>
        </p:txBody>
      </p:sp>
      <p:sp>
        <p:nvSpPr>
          <p:cNvPr id="63" name="Shape 52"/>
          <p:cNvSpPr/>
          <p:nvPr/>
        </p:nvSpPr>
        <p:spPr>
          <a:xfrm>
            <a:off x="10485425" y="1561795"/>
            <a:ext cx="304495" cy="304495"/>
          </a:xfrm>
          <a:prstGeom prst="ellipse">
            <a:avLst/>
          </a:prstGeom>
          <a:solidFill>
            <a:srgbClr val="0F172A"/>
          </a:solidFill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53"/>
          <p:cNvSpPr txBox="1"/>
          <p:nvPr/>
        </p:nvSpPr>
        <p:spPr>
          <a:xfrm>
            <a:off x="10502798" y="1612087"/>
            <a:ext cx="274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81305" y="1353312"/>
            <a:ext cx="11430000" cy="9144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381305" y="952805"/>
            <a:ext cx="471739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웹쉘 공격 시도에 대한 통합 로그 분석 및 타임라인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34879" y="1042416"/>
            <a:ext cx="133502" cy="13350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6286" y="1547165"/>
            <a:ext cx="5410505" cy="4934102"/>
          </a:xfrm>
          <a:prstGeom prst="roundRect">
            <a:avLst>
              <a:gd name="adj" fmla="val 429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05626" y="1804111"/>
            <a:ext cx="152705" cy="15270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605626" y="2671877"/>
            <a:ext cx="1009498" cy="9144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7606894" y="2671877"/>
            <a:ext cx="1257300" cy="9144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8857793" y="2671877"/>
            <a:ext cx="2009851" cy="9144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10860329" y="2671877"/>
            <a:ext cx="752551" cy="9144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6605626" y="3357677"/>
            <a:ext cx="1009498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606894" y="3357677"/>
            <a:ext cx="12573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8857793" y="3357677"/>
            <a:ext cx="2009851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10860329" y="3357677"/>
            <a:ext cx="752551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6605626" y="4245559"/>
            <a:ext cx="1009498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7606894" y="4245559"/>
            <a:ext cx="12573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8857793" y="4245559"/>
            <a:ext cx="2009851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10860329" y="4245559"/>
            <a:ext cx="752551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6605626" y="4939589"/>
            <a:ext cx="1009498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7606894" y="4939589"/>
            <a:ext cx="12573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8"/>
          <p:cNvSpPr/>
          <p:nvPr/>
        </p:nvSpPr>
        <p:spPr>
          <a:xfrm>
            <a:off x="8857793" y="4939589"/>
            <a:ext cx="2009851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10860329" y="4939589"/>
            <a:ext cx="752551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6605626" y="5827471"/>
            <a:ext cx="1009498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1"/>
          <p:cNvSpPr/>
          <p:nvPr/>
        </p:nvSpPr>
        <p:spPr>
          <a:xfrm>
            <a:off x="7606894" y="5827471"/>
            <a:ext cx="12573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2"/>
          <p:cNvSpPr/>
          <p:nvPr/>
        </p:nvSpPr>
        <p:spPr>
          <a:xfrm>
            <a:off x="8857793" y="5827471"/>
            <a:ext cx="2009851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3"/>
          <p:cNvSpPr/>
          <p:nvPr/>
        </p:nvSpPr>
        <p:spPr>
          <a:xfrm>
            <a:off x="10860329" y="5827471"/>
            <a:ext cx="752551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4"/>
          <p:cNvSpPr txBox="1"/>
          <p:nvPr/>
        </p:nvSpPr>
        <p:spPr>
          <a:xfrm>
            <a:off x="381305" y="390449"/>
            <a:ext cx="48774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공격 시나리오 1: 탐지 및 대응</a:t>
            </a:r>
            <a:endParaRPr lang="en-US" sz="3000" dirty="0"/>
          </a:p>
        </p:txBody>
      </p:sp>
      <p:sp>
        <p:nvSpPr>
          <p:cNvPr id="29" name="Text 25"/>
          <p:cNvSpPr txBox="1"/>
          <p:nvPr/>
        </p:nvSpPr>
        <p:spPr>
          <a:xfrm>
            <a:off x="10444277" y="1013155"/>
            <a:ext cx="14721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Detection &amp; Response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6834226" y="1756562"/>
            <a:ext cx="20628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공격 타임라인 및 대응 요약</a:t>
            </a:r>
            <a:endParaRPr lang="en-US" sz="1300" dirty="0"/>
          </a:p>
        </p:txBody>
      </p:sp>
      <p:sp>
        <p:nvSpPr>
          <p:cNvPr id="31" name="Text 27"/>
          <p:cNvSpPr txBox="1"/>
          <p:nvPr/>
        </p:nvSpPr>
        <p:spPr>
          <a:xfrm>
            <a:off x="6700723" y="2347265"/>
            <a:ext cx="4370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Time</a:t>
            </a:r>
            <a:endParaRPr lang="en-US" sz="1000" dirty="0"/>
          </a:p>
        </p:txBody>
      </p:sp>
      <p:sp>
        <p:nvSpPr>
          <p:cNvPr id="32" name="Text 28"/>
          <p:cNvSpPr txBox="1"/>
          <p:nvPr/>
        </p:nvSpPr>
        <p:spPr>
          <a:xfrm>
            <a:off x="7701991" y="2347265"/>
            <a:ext cx="5605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Source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8953805" y="2347265"/>
            <a:ext cx="12655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Event Description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10955426" y="2347265"/>
            <a:ext cx="45537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Level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6700723" y="2931566"/>
            <a:ext cx="7699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14:00:05</a:t>
            </a:r>
            <a:endParaRPr lang="en-US" sz="1000" dirty="0"/>
          </a:p>
        </p:txBody>
      </p:sp>
      <p:sp>
        <p:nvSpPr>
          <p:cNvPr id="36" name="Text 32"/>
          <p:cNvSpPr txBox="1"/>
          <p:nvPr/>
        </p:nvSpPr>
        <p:spPr>
          <a:xfrm>
            <a:off x="7701991" y="2913278"/>
            <a:ext cx="62727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Suricata</a:t>
            </a:r>
            <a:endParaRPr lang="en-US" sz="1000" dirty="0"/>
          </a:p>
        </p:txBody>
      </p:sp>
      <p:sp>
        <p:nvSpPr>
          <p:cNvPr id="37" name="Text 33"/>
          <p:cNvSpPr txBox="1"/>
          <p:nvPr/>
        </p:nvSpPr>
        <p:spPr>
          <a:xfrm>
            <a:off x="8953805" y="2809951"/>
            <a:ext cx="15224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 취약점 스캔 패턴 탐지</a:t>
            </a:r>
            <a:endParaRPr lang="en-US" sz="1000" dirty="0"/>
          </a:p>
        </p:txBody>
      </p:sp>
      <p:sp>
        <p:nvSpPr>
          <p:cNvPr id="38" name="Text 34"/>
          <p:cNvSpPr txBox="1"/>
          <p:nvPr/>
        </p:nvSpPr>
        <p:spPr>
          <a:xfrm>
            <a:off x="8953805" y="3044038"/>
            <a:ext cx="12573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Signature ID: 2010123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10955426" y="2916022"/>
            <a:ext cx="448056" cy="209398"/>
          </a:xfrm>
          <a:prstGeom prst="roundRect">
            <a:avLst>
              <a:gd name="adj" fmla="val 79396"/>
            </a:avLst>
          </a:prstGeom>
          <a:solidFill>
            <a:srgbClr val="F59E0B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6"/>
          <p:cNvSpPr txBox="1"/>
          <p:nvPr/>
        </p:nvSpPr>
        <p:spPr>
          <a:xfrm>
            <a:off x="11031322" y="2935224"/>
            <a:ext cx="381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Warn</a:t>
            </a:r>
            <a:endParaRPr lang="en-US" sz="900" dirty="0"/>
          </a:p>
        </p:txBody>
      </p:sp>
      <p:sp>
        <p:nvSpPr>
          <p:cNvPr id="41" name="Text 37"/>
          <p:cNvSpPr txBox="1"/>
          <p:nvPr/>
        </p:nvSpPr>
        <p:spPr>
          <a:xfrm>
            <a:off x="6700723" y="3722522"/>
            <a:ext cx="7699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14:02:12</a:t>
            </a:r>
            <a:endParaRPr lang="en-US" sz="1000" dirty="0"/>
          </a:p>
        </p:txBody>
      </p:sp>
      <p:sp>
        <p:nvSpPr>
          <p:cNvPr id="42" name="Text 38"/>
          <p:cNvSpPr txBox="1"/>
          <p:nvPr/>
        </p:nvSpPr>
        <p:spPr>
          <a:xfrm>
            <a:off x="7701991" y="3703320"/>
            <a:ext cx="6364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Web Svr</a:t>
            </a:r>
            <a:endParaRPr lang="en-US" sz="1000" dirty="0"/>
          </a:p>
        </p:txBody>
      </p:sp>
      <p:sp>
        <p:nvSpPr>
          <p:cNvPr id="43" name="Text 39"/>
          <p:cNvSpPr txBox="1"/>
          <p:nvPr/>
        </p:nvSpPr>
        <p:spPr>
          <a:xfrm>
            <a:off x="8953805" y="3497580"/>
            <a:ext cx="176022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의심스러운 PHP 파일 업로드 성공</a:t>
            </a:r>
            <a:endParaRPr lang="en-US" sz="1000" dirty="0"/>
          </a:p>
        </p:txBody>
      </p:sp>
      <p:sp>
        <p:nvSpPr>
          <p:cNvPr id="44" name="Text 40"/>
          <p:cNvSpPr txBox="1"/>
          <p:nvPr/>
        </p:nvSpPr>
        <p:spPr>
          <a:xfrm>
            <a:off x="8953805" y="3938321"/>
            <a:ext cx="8385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File: shell.php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10955426" y="3706978"/>
            <a:ext cx="562356" cy="209398"/>
          </a:xfrm>
          <a:prstGeom prst="roundRect">
            <a:avLst>
              <a:gd name="adj" fmla="val 79396"/>
            </a:avLst>
          </a:prstGeom>
          <a:solidFill>
            <a:srgbClr val="EF4444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2"/>
          <p:cNvSpPr txBox="1"/>
          <p:nvPr/>
        </p:nvSpPr>
        <p:spPr>
          <a:xfrm>
            <a:off x="11031322" y="3725266"/>
            <a:ext cx="495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</a:t>
            </a:r>
            <a:endParaRPr lang="en-US" sz="900" dirty="0"/>
          </a:p>
        </p:txBody>
      </p:sp>
      <p:sp>
        <p:nvSpPr>
          <p:cNvPr id="47" name="Text 43"/>
          <p:cNvSpPr txBox="1"/>
          <p:nvPr/>
        </p:nvSpPr>
        <p:spPr>
          <a:xfrm>
            <a:off x="6700723" y="4513478"/>
            <a:ext cx="7699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14:02:15</a:t>
            </a:r>
            <a:endParaRPr lang="en-US" sz="1000" dirty="0"/>
          </a:p>
        </p:txBody>
      </p:sp>
      <p:sp>
        <p:nvSpPr>
          <p:cNvPr id="48" name="Text 44"/>
          <p:cNvSpPr txBox="1"/>
          <p:nvPr/>
        </p:nvSpPr>
        <p:spPr>
          <a:xfrm>
            <a:off x="7701991" y="4494276"/>
            <a:ext cx="3511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ELK</a:t>
            </a:r>
            <a:endParaRPr lang="en-US" sz="1000" dirty="0"/>
          </a:p>
        </p:txBody>
      </p:sp>
      <p:sp>
        <p:nvSpPr>
          <p:cNvPr id="49" name="Text 45"/>
          <p:cNvSpPr txBox="1"/>
          <p:nvPr/>
        </p:nvSpPr>
        <p:spPr>
          <a:xfrm>
            <a:off x="8953805" y="4391863"/>
            <a:ext cx="18562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명령어(cmd) 실행 감지</a:t>
            </a:r>
            <a:endParaRPr lang="en-US" sz="1000" dirty="0"/>
          </a:p>
        </p:txBody>
      </p:sp>
      <p:sp>
        <p:nvSpPr>
          <p:cNvPr id="50" name="Text 46"/>
          <p:cNvSpPr txBox="1"/>
          <p:nvPr/>
        </p:nvSpPr>
        <p:spPr>
          <a:xfrm>
            <a:off x="8953805" y="4625950"/>
            <a:ext cx="13816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Auditbeat Process Event</a:t>
            </a:r>
            <a:endParaRPr lang="en-US" sz="900" dirty="0"/>
          </a:p>
        </p:txBody>
      </p:sp>
      <p:sp>
        <p:nvSpPr>
          <p:cNvPr id="51" name="Shape 47"/>
          <p:cNvSpPr/>
          <p:nvPr/>
        </p:nvSpPr>
        <p:spPr>
          <a:xfrm>
            <a:off x="10955426" y="4497019"/>
            <a:ext cx="562356" cy="209398"/>
          </a:xfrm>
          <a:prstGeom prst="roundRect">
            <a:avLst>
              <a:gd name="adj" fmla="val 79396"/>
            </a:avLst>
          </a:prstGeom>
          <a:solidFill>
            <a:srgbClr val="EF4444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8"/>
          <p:cNvSpPr txBox="1"/>
          <p:nvPr/>
        </p:nvSpPr>
        <p:spPr>
          <a:xfrm>
            <a:off x="11031322" y="4516222"/>
            <a:ext cx="495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</a:t>
            </a:r>
            <a:endParaRPr lang="en-US" sz="900" dirty="0"/>
          </a:p>
        </p:txBody>
      </p:sp>
      <p:sp>
        <p:nvSpPr>
          <p:cNvPr id="53" name="Text 49"/>
          <p:cNvSpPr txBox="1"/>
          <p:nvPr/>
        </p:nvSpPr>
        <p:spPr>
          <a:xfrm>
            <a:off x="6700723" y="5304434"/>
            <a:ext cx="7699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14:05:00</a:t>
            </a:r>
            <a:endParaRPr lang="en-US" sz="1000" dirty="0"/>
          </a:p>
        </p:txBody>
      </p:sp>
      <p:sp>
        <p:nvSpPr>
          <p:cNvPr id="54" name="Text 50"/>
          <p:cNvSpPr txBox="1"/>
          <p:nvPr/>
        </p:nvSpPr>
        <p:spPr>
          <a:xfrm>
            <a:off x="7701991" y="5285232"/>
            <a:ext cx="61722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pfSense</a:t>
            </a:r>
            <a:endParaRPr lang="en-US" sz="1000" dirty="0"/>
          </a:p>
        </p:txBody>
      </p:sp>
      <p:sp>
        <p:nvSpPr>
          <p:cNvPr id="55" name="Text 51"/>
          <p:cNvSpPr txBox="1"/>
          <p:nvPr/>
        </p:nvSpPr>
        <p:spPr>
          <a:xfrm>
            <a:off x="8953805" y="5079492"/>
            <a:ext cx="191292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C&amp;C 서버 추정 IP로 아웃바운드 차단</a:t>
            </a:r>
            <a:endParaRPr lang="en-US" sz="1000" dirty="0"/>
          </a:p>
        </p:txBody>
      </p:sp>
      <p:sp>
        <p:nvSpPr>
          <p:cNvPr id="56" name="Text 52"/>
          <p:cNvSpPr txBox="1"/>
          <p:nvPr/>
        </p:nvSpPr>
        <p:spPr>
          <a:xfrm>
            <a:off x="8953805" y="5519318"/>
            <a:ext cx="14100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Firewall Rule #105 DROP</a:t>
            </a:r>
            <a:endParaRPr lang="en-US" sz="900" dirty="0"/>
          </a:p>
        </p:txBody>
      </p:sp>
      <p:sp>
        <p:nvSpPr>
          <p:cNvPr id="57" name="Shape 53"/>
          <p:cNvSpPr/>
          <p:nvPr/>
        </p:nvSpPr>
        <p:spPr>
          <a:xfrm>
            <a:off x="10955426" y="5287975"/>
            <a:ext cx="476402" cy="209398"/>
          </a:xfrm>
          <a:prstGeom prst="roundRect">
            <a:avLst>
              <a:gd name="adj" fmla="val 79396"/>
            </a:avLst>
          </a:pr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4"/>
          <p:cNvSpPr txBox="1"/>
          <p:nvPr/>
        </p:nvSpPr>
        <p:spPr>
          <a:xfrm>
            <a:off x="11031322" y="5307178"/>
            <a:ext cx="4096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Block</a:t>
            </a:r>
            <a:endParaRPr lang="en-US" sz="900" dirty="0"/>
          </a:p>
        </p:txBody>
      </p:sp>
      <p:sp>
        <p:nvSpPr>
          <p:cNvPr id="59" name="Text 55"/>
          <p:cNvSpPr txBox="1"/>
          <p:nvPr/>
        </p:nvSpPr>
        <p:spPr>
          <a:xfrm>
            <a:off x="6700723" y="6197803"/>
            <a:ext cx="7699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14:10:00</a:t>
            </a:r>
            <a:endParaRPr lang="en-US" sz="1000" dirty="0"/>
          </a:p>
        </p:txBody>
      </p:sp>
      <p:sp>
        <p:nvSpPr>
          <p:cNvPr id="60" name="Text 56"/>
          <p:cNvSpPr txBox="1"/>
          <p:nvPr/>
        </p:nvSpPr>
        <p:spPr>
          <a:xfrm>
            <a:off x="7701991" y="6178601"/>
            <a:ext cx="5221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Admin</a:t>
            </a:r>
            <a:endParaRPr lang="en-US" sz="1000" dirty="0"/>
          </a:p>
        </p:txBody>
      </p:sp>
      <p:sp>
        <p:nvSpPr>
          <p:cNvPr id="61" name="Text 57"/>
          <p:cNvSpPr txBox="1"/>
          <p:nvPr/>
        </p:nvSpPr>
        <p:spPr>
          <a:xfrm>
            <a:off x="8953805" y="5972861"/>
            <a:ext cx="185623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IP 차단 및 웹쉘 파일 격리 조치 완료</a:t>
            </a:r>
            <a:endParaRPr lang="en-US" sz="1000" dirty="0"/>
          </a:p>
        </p:txBody>
      </p:sp>
      <p:sp>
        <p:nvSpPr>
          <p:cNvPr id="62" name="Text 58"/>
          <p:cNvSpPr txBox="1"/>
          <p:nvPr/>
        </p:nvSpPr>
        <p:spPr>
          <a:xfrm>
            <a:off x="8953805" y="6413602"/>
            <a:ext cx="10771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Incident Response</a:t>
            </a:r>
            <a:endParaRPr lang="en-US" sz="900" dirty="0"/>
          </a:p>
        </p:txBody>
      </p:sp>
      <p:sp>
        <p:nvSpPr>
          <p:cNvPr id="63" name="Shape 59"/>
          <p:cNvSpPr/>
          <p:nvPr/>
        </p:nvSpPr>
        <p:spPr>
          <a:xfrm>
            <a:off x="10955426" y="6182258"/>
            <a:ext cx="448056" cy="209398"/>
          </a:xfrm>
          <a:prstGeom prst="roundRect">
            <a:avLst>
              <a:gd name="adj" fmla="val 79396"/>
            </a:avLst>
          </a:pr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0"/>
          <p:cNvSpPr txBox="1"/>
          <p:nvPr/>
        </p:nvSpPr>
        <p:spPr>
          <a:xfrm>
            <a:off x="11031322" y="6200546"/>
            <a:ext cx="381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Clear</a:t>
            </a:r>
            <a:endParaRPr lang="en-US" sz="900" dirty="0"/>
          </a:p>
        </p:txBody>
      </p:sp>
      <p:sp>
        <p:nvSpPr>
          <p:cNvPr id="65" name="Shape 61"/>
          <p:cNvSpPr/>
          <p:nvPr/>
        </p:nvSpPr>
        <p:spPr>
          <a:xfrm>
            <a:off x="381305" y="1547165"/>
            <a:ext cx="5743346" cy="4934102"/>
          </a:xfrm>
          <a:prstGeom prst="roundRect">
            <a:avLst>
              <a:gd name="adj" fmla="val 429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  <a:effectLst>
            <a:outerShdw blurRad="292100" dist="1016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2"/>
          <p:cNvSpPr/>
          <p:nvPr/>
        </p:nvSpPr>
        <p:spPr>
          <a:xfrm>
            <a:off x="371246" y="1537106"/>
            <a:ext cx="190195" cy="1920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3"/>
          <p:cNvSpPr/>
          <p:nvPr/>
        </p:nvSpPr>
        <p:spPr>
          <a:xfrm>
            <a:off x="371246" y="1537106"/>
            <a:ext cx="19202" cy="190195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4"/>
          <p:cNvSpPr/>
          <p:nvPr/>
        </p:nvSpPr>
        <p:spPr>
          <a:xfrm>
            <a:off x="5939028" y="1537106"/>
            <a:ext cx="190195" cy="1920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5"/>
          <p:cNvSpPr/>
          <p:nvPr/>
        </p:nvSpPr>
        <p:spPr>
          <a:xfrm>
            <a:off x="6110021" y="1537106"/>
            <a:ext cx="19202" cy="190195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6"/>
          <p:cNvSpPr/>
          <p:nvPr/>
        </p:nvSpPr>
        <p:spPr>
          <a:xfrm>
            <a:off x="371246" y="6467551"/>
            <a:ext cx="190195" cy="1920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7"/>
          <p:cNvSpPr/>
          <p:nvPr/>
        </p:nvSpPr>
        <p:spPr>
          <a:xfrm>
            <a:off x="371246" y="6295644"/>
            <a:ext cx="19202" cy="190195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68"/>
          <p:cNvSpPr/>
          <p:nvPr/>
        </p:nvSpPr>
        <p:spPr>
          <a:xfrm>
            <a:off x="5939028" y="6467551"/>
            <a:ext cx="190195" cy="1920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69"/>
          <p:cNvSpPr/>
          <p:nvPr/>
        </p:nvSpPr>
        <p:spPr>
          <a:xfrm>
            <a:off x="6110021" y="6295644"/>
            <a:ext cx="19202" cy="190195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0"/>
          <p:cNvSpPr/>
          <p:nvPr/>
        </p:nvSpPr>
        <p:spPr>
          <a:xfrm>
            <a:off x="390449" y="1556309"/>
            <a:ext cx="5724144" cy="49149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1"/>
          <p:cNvSpPr/>
          <p:nvPr/>
        </p:nvSpPr>
        <p:spPr>
          <a:xfrm>
            <a:off x="390449" y="1556309"/>
            <a:ext cx="5724144" cy="381305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2"/>
          <p:cNvSpPr/>
          <p:nvPr/>
        </p:nvSpPr>
        <p:spPr>
          <a:xfrm>
            <a:off x="390449" y="1928470"/>
            <a:ext cx="5724144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3"/>
          <p:cNvSpPr/>
          <p:nvPr/>
        </p:nvSpPr>
        <p:spPr>
          <a:xfrm>
            <a:off x="533095" y="1694383"/>
            <a:ext cx="95098" cy="9509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4"/>
          <p:cNvSpPr/>
          <p:nvPr/>
        </p:nvSpPr>
        <p:spPr>
          <a:xfrm>
            <a:off x="724205" y="1694383"/>
            <a:ext cx="95098" cy="9509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5"/>
          <p:cNvSpPr/>
          <p:nvPr/>
        </p:nvSpPr>
        <p:spPr>
          <a:xfrm>
            <a:off x="914400" y="1694383"/>
            <a:ext cx="95098" cy="9509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Text 76"/>
          <p:cNvSpPr txBox="1"/>
          <p:nvPr/>
        </p:nvSpPr>
        <p:spPr>
          <a:xfrm>
            <a:off x="1181405" y="1656893"/>
            <a:ext cx="20007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Kibana Dashboard - Security Events</a:t>
            </a:r>
            <a:endParaRPr lang="en-US" sz="900" dirty="0"/>
          </a:p>
        </p:txBody>
      </p:sp>
      <p:sp>
        <p:nvSpPr>
          <p:cNvPr id="81" name="Shape 77"/>
          <p:cNvSpPr/>
          <p:nvPr/>
        </p:nvSpPr>
        <p:spPr>
          <a:xfrm>
            <a:off x="580644" y="2127809"/>
            <a:ext cx="2600554" cy="1333195"/>
          </a:xfrm>
          <a:prstGeom prst="roundRect">
            <a:avLst>
              <a:gd name="adj" fmla="val 2939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2" name="Image 2" descr="preencoded.png"/>
          <p:cNvPicPr>
            <a:picLocks noChangeAspect="1"/>
          </p:cNvPicPr>
          <p:nvPr/>
        </p:nvPicPr>
        <p:blipFill>
          <a:blip r:embed="rId5"/>
          <a:srcRect l="-607" r="-607"/>
          <a:stretch/>
        </p:blipFill>
        <p:spPr>
          <a:xfrm>
            <a:off x="1684325" y="2509114"/>
            <a:ext cx="390449" cy="342900"/>
          </a:xfrm>
          <a:prstGeom prst="rect">
            <a:avLst/>
          </a:prstGeom>
        </p:spPr>
      </p:pic>
      <p:sp>
        <p:nvSpPr>
          <p:cNvPr id="83" name="Text 78"/>
          <p:cNvSpPr txBox="1"/>
          <p:nvPr/>
        </p:nvSpPr>
        <p:spPr>
          <a:xfrm>
            <a:off x="1391717" y="2918765"/>
            <a:ext cx="10671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Attack Source Geo</a:t>
            </a:r>
            <a:endParaRPr lang="en-US" sz="900" dirty="0"/>
          </a:p>
        </p:txBody>
      </p:sp>
      <p:sp>
        <p:nvSpPr>
          <p:cNvPr id="84" name="Shape 79"/>
          <p:cNvSpPr/>
          <p:nvPr/>
        </p:nvSpPr>
        <p:spPr>
          <a:xfrm>
            <a:off x="3322015" y="2127809"/>
            <a:ext cx="2600554" cy="1333195"/>
          </a:xfrm>
          <a:prstGeom prst="roundRect">
            <a:avLst>
              <a:gd name="adj" fmla="val 2939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449470" y="2509114"/>
            <a:ext cx="342900" cy="342900"/>
          </a:xfrm>
          <a:prstGeom prst="rect">
            <a:avLst/>
          </a:prstGeom>
        </p:spPr>
      </p:pic>
      <p:sp>
        <p:nvSpPr>
          <p:cNvPr id="86" name="Text 80"/>
          <p:cNvSpPr txBox="1"/>
          <p:nvPr/>
        </p:nvSpPr>
        <p:spPr>
          <a:xfrm>
            <a:off x="4324198" y="2918765"/>
            <a:ext cx="6858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Alert Trend</a:t>
            </a:r>
            <a:endParaRPr lang="en-US" sz="900" dirty="0"/>
          </a:p>
        </p:txBody>
      </p:sp>
      <p:sp>
        <p:nvSpPr>
          <p:cNvPr id="87" name="Shape 81"/>
          <p:cNvSpPr/>
          <p:nvPr/>
        </p:nvSpPr>
        <p:spPr>
          <a:xfrm>
            <a:off x="580644" y="3604565"/>
            <a:ext cx="5343754" cy="2676449"/>
          </a:xfrm>
          <a:prstGeom prst="roundRect">
            <a:avLst>
              <a:gd name="adj" fmla="val 72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2"/>
          <p:cNvSpPr txBox="1"/>
          <p:nvPr/>
        </p:nvSpPr>
        <p:spPr>
          <a:xfrm>
            <a:off x="685800" y="3708806"/>
            <a:ext cx="52203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[Suricata] 14:00:05.123 ET WEB_SERVER Possible Webshell Upload Attempt</a:t>
            </a:r>
            <a:endParaRPr lang="en-US" sz="900" dirty="0"/>
          </a:p>
        </p:txBody>
      </p:sp>
      <p:sp>
        <p:nvSpPr>
          <p:cNvPr id="89" name="Text 83"/>
          <p:cNvSpPr txBox="1"/>
          <p:nvPr/>
        </p:nvSpPr>
        <p:spPr>
          <a:xfrm>
            <a:off x="685800" y="3880714"/>
            <a:ext cx="52203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[Apache] 14:02:12.455 POST /upload/shell.php 200 OK</a:t>
            </a:r>
            <a:endParaRPr lang="en-US" sz="900" dirty="0"/>
          </a:p>
        </p:txBody>
      </p:sp>
      <p:sp>
        <p:nvSpPr>
          <p:cNvPr id="90" name="Text 84"/>
          <p:cNvSpPr txBox="1"/>
          <p:nvPr/>
        </p:nvSpPr>
        <p:spPr>
          <a:xfrm>
            <a:off x="685800" y="4051706"/>
            <a:ext cx="52203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[Auditbeat] 14:02:15.789 Execve: /bin/sh -c "cat /etc/passwd"</a:t>
            </a:r>
            <a:endParaRPr lang="en-US" sz="900" dirty="0"/>
          </a:p>
        </p:txBody>
      </p:sp>
      <p:sp>
        <p:nvSpPr>
          <p:cNvPr id="91" name="Text 85"/>
          <p:cNvSpPr txBox="1"/>
          <p:nvPr/>
        </p:nvSpPr>
        <p:spPr>
          <a:xfrm>
            <a:off x="685800" y="4223614"/>
            <a:ext cx="52203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[pfSense] 14:05:00.001 Blocked Outbound Traffic TCP 192.168.1.100:443 -&gt; 45.x.x.x</a:t>
            </a:r>
            <a:endParaRPr lang="en-US" sz="900" dirty="0"/>
          </a:p>
        </p:txBody>
      </p:sp>
      <p:sp>
        <p:nvSpPr>
          <p:cNvPr id="92" name="Text 86"/>
          <p:cNvSpPr txBox="1"/>
          <p:nvPr/>
        </p:nvSpPr>
        <p:spPr>
          <a:xfrm>
            <a:off x="685800" y="4566514"/>
            <a:ext cx="52203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More events loading ...</a:t>
            </a:r>
            <a:endParaRPr lang="en-US" sz="900" dirty="0"/>
          </a:p>
        </p:txBody>
      </p:sp>
      <p:sp>
        <p:nvSpPr>
          <p:cNvPr id="93" name="Shape 87"/>
          <p:cNvSpPr/>
          <p:nvPr/>
        </p:nvSpPr>
        <p:spPr>
          <a:xfrm>
            <a:off x="4437583" y="6067044"/>
            <a:ext cx="1524305" cy="247802"/>
          </a:xfrm>
          <a:prstGeom prst="roundRect">
            <a:avLst>
              <a:gd name="adj" fmla="val 56770"/>
            </a:avLst>
          </a:prstGeom>
          <a:solidFill>
            <a:srgbClr val="000000">
              <a:alpha val="7000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4" name="Image 4" descr="preencoded.png"/>
          <p:cNvPicPr>
            <a:picLocks noChangeAspect="1"/>
          </p:cNvPicPr>
          <p:nvPr/>
        </p:nvPicPr>
        <p:blipFill>
          <a:blip r:embed="rId7"/>
          <a:srcRect l="-1911" r="-1911"/>
          <a:stretch/>
        </p:blipFill>
        <p:spPr>
          <a:xfrm>
            <a:off x="4561942" y="6139282"/>
            <a:ext cx="133502" cy="114300"/>
          </a:xfrm>
          <a:prstGeom prst="rect">
            <a:avLst/>
          </a:prstGeom>
        </p:spPr>
      </p:pic>
      <p:sp>
        <p:nvSpPr>
          <p:cNvPr id="95" name="Text 88"/>
          <p:cNvSpPr txBox="1"/>
          <p:nvPr/>
        </p:nvSpPr>
        <p:spPr>
          <a:xfrm>
            <a:off x="4732934" y="6105449"/>
            <a:ext cx="11914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ELK Dashboard View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71500" y="381305"/>
            <a:ext cx="571500" cy="57607"/>
          </a:xfrm>
          <a:prstGeom prst="roundRect">
            <a:avLst>
              <a:gd name="adj" fmla="val 793654"/>
            </a:avLst>
          </a:prstGeom>
          <a:solidFill>
            <a:srgbClr val="F472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571500" y="1047902"/>
            <a:ext cx="1117762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피싱부터 관리망 침투, 권한 남용 및 대응까지의 공격 단계 개요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533095"/>
            <a:ext cx="57918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공격 시나리오 2: 인증 우회 및 계정 탈취</a:t>
            </a:r>
            <a:endParaRPr lang="en-US" sz="2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505" r="-505"/>
          <a:stretch/>
        </p:blipFill>
        <p:spPr>
          <a:xfrm>
            <a:off x="2632558" y="3614623"/>
            <a:ext cx="114300" cy="181051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rcRect l="-505" r="-505"/>
          <a:stretch/>
        </p:blipFill>
        <p:spPr>
          <a:xfrm>
            <a:off x="4903927" y="3614623"/>
            <a:ext cx="114300" cy="181051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rcRect l="-505" r="-505"/>
          <a:stretch/>
        </p:blipFill>
        <p:spPr>
          <a:xfrm>
            <a:off x="7174382" y="3614623"/>
            <a:ext cx="114300" cy="181051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/>
          <a:srcRect l="-505" r="-505"/>
          <a:stretch/>
        </p:blipFill>
        <p:spPr>
          <a:xfrm>
            <a:off x="9444838" y="3614623"/>
            <a:ext cx="114300" cy="181051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571500" y="1695298"/>
            <a:ext cx="1971446" cy="4591202"/>
          </a:xfrm>
          <a:prstGeom prst="roundRect">
            <a:avLst>
              <a:gd name="adj" fmla="val 2689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5"/>
          <p:cNvSpPr/>
          <p:nvPr/>
        </p:nvSpPr>
        <p:spPr>
          <a:xfrm>
            <a:off x="1269187" y="1990649"/>
            <a:ext cx="571500" cy="571500"/>
          </a:xfrm>
          <a:prstGeom prst="ellipse">
            <a:avLst/>
          </a:prstGeom>
          <a:solidFill>
            <a:srgbClr val="F87171">
              <a:alpha val="10000"/>
            </a:srgbClr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40180" y="2162556"/>
            <a:ext cx="228600" cy="22860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905256" y="2704795"/>
            <a:ext cx="130759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피싱 및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 수집</a:t>
            </a:r>
            <a:endParaRPr lang="en-US" sz="1300" dirty="0"/>
          </a:p>
        </p:txBody>
      </p:sp>
      <p:sp>
        <p:nvSpPr>
          <p:cNvPr id="14" name="Text 7"/>
          <p:cNvSpPr txBox="1"/>
          <p:nvPr/>
        </p:nvSpPr>
        <p:spPr>
          <a:xfrm>
            <a:off x="675742" y="3268980"/>
            <a:ext cx="1764792" cy="2076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 피싱 및 크리덴셜 스터핑을 통해 임직원의 계정 자격 증명(ID/PW) 확보 시도</a:t>
            </a:r>
            <a:endParaRPr lang="en-US" sz="1000" dirty="0"/>
          </a:p>
        </p:txBody>
      </p:sp>
      <p:sp>
        <p:nvSpPr>
          <p:cNvPr id="15" name="Shape 8"/>
          <p:cNvSpPr/>
          <p:nvPr/>
        </p:nvSpPr>
        <p:spPr>
          <a:xfrm>
            <a:off x="724205" y="5484571"/>
            <a:ext cx="1666951" cy="609905"/>
          </a:xfrm>
          <a:prstGeom prst="roundRect">
            <a:avLst>
              <a:gd name="adj" fmla="val 14055"/>
            </a:avLst>
          </a:prstGeom>
          <a:solidFill>
            <a:srgbClr val="0F172A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9"/>
          <p:cNvSpPr/>
          <p:nvPr/>
        </p:nvSpPr>
        <p:spPr>
          <a:xfrm>
            <a:off x="724205" y="5484571"/>
            <a:ext cx="1666951" cy="19202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0"/>
          <p:cNvSpPr txBox="1"/>
          <p:nvPr/>
        </p:nvSpPr>
        <p:spPr>
          <a:xfrm>
            <a:off x="779069" y="5598871"/>
            <a:ext cx="155722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kern="0" spc="4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ATTACK TACTIC</a:t>
            </a:r>
            <a:endParaRPr lang="en-US" sz="800" dirty="0"/>
          </a:p>
        </p:txBody>
      </p:sp>
      <p:sp>
        <p:nvSpPr>
          <p:cNvPr id="18" name="Text 11"/>
          <p:cNvSpPr txBox="1"/>
          <p:nvPr/>
        </p:nvSpPr>
        <p:spPr>
          <a:xfrm>
            <a:off x="770839" y="5797296"/>
            <a:ext cx="15736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Initial Access</a:t>
            </a:r>
            <a:endParaRPr lang="en-US" sz="1000" dirty="0"/>
          </a:p>
        </p:txBody>
      </p:sp>
      <p:sp>
        <p:nvSpPr>
          <p:cNvPr id="19" name="Shape 12"/>
          <p:cNvSpPr/>
          <p:nvPr/>
        </p:nvSpPr>
        <p:spPr>
          <a:xfrm>
            <a:off x="2841955" y="1695298"/>
            <a:ext cx="1971446" cy="4591202"/>
          </a:xfrm>
          <a:prstGeom prst="roundRect">
            <a:avLst>
              <a:gd name="adj" fmla="val 2689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3"/>
          <p:cNvSpPr/>
          <p:nvPr/>
        </p:nvSpPr>
        <p:spPr>
          <a:xfrm>
            <a:off x="3539642" y="1990649"/>
            <a:ext cx="571500" cy="571500"/>
          </a:xfrm>
          <a:prstGeom prst="ellipse">
            <a:avLst/>
          </a:prstGeom>
          <a:solidFill>
            <a:srgbClr val="FB923C">
              <a:alpha val="10000"/>
            </a:srgbClr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5"/>
          <a:srcRect l="-57" r="-57"/>
          <a:stretch/>
        </p:blipFill>
        <p:spPr>
          <a:xfrm>
            <a:off x="3725266" y="2162556"/>
            <a:ext cx="200254" cy="22860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2998318" y="2704795"/>
            <a:ext cx="165963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인증 우회 및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세션 탈취</a:t>
            </a:r>
            <a:endParaRPr lang="en-US" sz="1300" dirty="0"/>
          </a:p>
        </p:txBody>
      </p:sp>
      <p:sp>
        <p:nvSpPr>
          <p:cNvPr id="23" name="Text 15"/>
          <p:cNvSpPr txBox="1"/>
          <p:nvPr/>
        </p:nvSpPr>
        <p:spPr>
          <a:xfrm>
            <a:off x="2946197" y="3268980"/>
            <a:ext cx="1764792" cy="2076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탈취 계정으로 로그인 시도, MFA 피로 공격(Fatigue) 등으로 추가 인증 절차 우회</a:t>
            </a:r>
            <a:endParaRPr lang="en-US" sz="1000" dirty="0"/>
          </a:p>
        </p:txBody>
      </p:sp>
      <p:sp>
        <p:nvSpPr>
          <p:cNvPr id="24" name="Shape 16"/>
          <p:cNvSpPr/>
          <p:nvPr/>
        </p:nvSpPr>
        <p:spPr>
          <a:xfrm>
            <a:off x="2994660" y="5484571"/>
            <a:ext cx="1666951" cy="609905"/>
          </a:xfrm>
          <a:prstGeom prst="roundRect">
            <a:avLst>
              <a:gd name="adj" fmla="val 14055"/>
            </a:avLst>
          </a:prstGeom>
          <a:solidFill>
            <a:srgbClr val="0F172A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7"/>
          <p:cNvSpPr/>
          <p:nvPr/>
        </p:nvSpPr>
        <p:spPr>
          <a:xfrm>
            <a:off x="2994660" y="5484571"/>
            <a:ext cx="1666951" cy="19202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8"/>
          <p:cNvSpPr txBox="1"/>
          <p:nvPr/>
        </p:nvSpPr>
        <p:spPr>
          <a:xfrm>
            <a:off x="3049524" y="5598871"/>
            <a:ext cx="155722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kern="0" spc="4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ATTACK TACTIC</a:t>
            </a:r>
            <a:endParaRPr lang="en-US" sz="800" dirty="0"/>
          </a:p>
        </p:txBody>
      </p:sp>
      <p:sp>
        <p:nvSpPr>
          <p:cNvPr id="27" name="Text 19"/>
          <p:cNvSpPr txBox="1"/>
          <p:nvPr/>
        </p:nvSpPr>
        <p:spPr>
          <a:xfrm>
            <a:off x="3041294" y="5797296"/>
            <a:ext cx="15736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Credential Access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5113325" y="1695298"/>
            <a:ext cx="1971446" cy="4591202"/>
          </a:xfrm>
          <a:prstGeom prst="roundRect">
            <a:avLst>
              <a:gd name="adj" fmla="val 2689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1"/>
          <p:cNvSpPr/>
          <p:nvPr/>
        </p:nvSpPr>
        <p:spPr>
          <a:xfrm>
            <a:off x="5810098" y="1990649"/>
            <a:ext cx="571500" cy="571500"/>
          </a:xfrm>
          <a:prstGeom prst="ellipse">
            <a:avLst/>
          </a:prstGeom>
          <a:solidFill>
            <a:srgbClr val="FACC15">
              <a:alpha val="10000"/>
            </a:srgbClr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5953658" y="2162556"/>
            <a:ext cx="286207" cy="22860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5292547" y="2704795"/>
            <a:ext cx="161208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관리망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접속 성공</a:t>
            </a:r>
            <a:endParaRPr lang="en-US" sz="1300" dirty="0"/>
          </a:p>
        </p:txBody>
      </p:sp>
      <p:sp>
        <p:nvSpPr>
          <p:cNvPr id="32" name="Text 23"/>
          <p:cNvSpPr txBox="1"/>
          <p:nvPr/>
        </p:nvSpPr>
        <p:spPr>
          <a:xfrm>
            <a:off x="5216652" y="3268980"/>
            <a:ext cx="1764792" cy="2076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VPN 또는 관리자 포털에 정상 사용자로 위장하여 접속 후 내부망으로 이동</a:t>
            </a:r>
            <a:endParaRPr lang="en-US" sz="1000" dirty="0"/>
          </a:p>
        </p:txBody>
      </p:sp>
      <p:sp>
        <p:nvSpPr>
          <p:cNvPr id="33" name="Shape 24"/>
          <p:cNvSpPr/>
          <p:nvPr/>
        </p:nvSpPr>
        <p:spPr>
          <a:xfrm>
            <a:off x="5265115" y="5484571"/>
            <a:ext cx="1666951" cy="609905"/>
          </a:xfrm>
          <a:prstGeom prst="roundRect">
            <a:avLst>
              <a:gd name="adj" fmla="val 14055"/>
            </a:avLst>
          </a:prstGeom>
          <a:solidFill>
            <a:srgbClr val="0F172A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5"/>
          <p:cNvSpPr/>
          <p:nvPr/>
        </p:nvSpPr>
        <p:spPr>
          <a:xfrm>
            <a:off x="5265115" y="5484571"/>
            <a:ext cx="1666951" cy="19202"/>
          </a:xfrm>
          <a:prstGeom prst="rect">
            <a:avLst/>
          </a:prstGeom>
          <a:solidFill>
            <a:srgbClr val="FACC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6"/>
          <p:cNvSpPr txBox="1"/>
          <p:nvPr/>
        </p:nvSpPr>
        <p:spPr>
          <a:xfrm>
            <a:off x="5320894" y="5598871"/>
            <a:ext cx="155722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kern="0" spc="4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ATTACK TACTIC</a:t>
            </a:r>
            <a:endParaRPr lang="en-US" sz="800" dirty="0"/>
          </a:p>
        </p:txBody>
      </p:sp>
      <p:sp>
        <p:nvSpPr>
          <p:cNvPr id="36" name="Text 27"/>
          <p:cNvSpPr txBox="1"/>
          <p:nvPr/>
        </p:nvSpPr>
        <p:spPr>
          <a:xfrm>
            <a:off x="5312664" y="5797296"/>
            <a:ext cx="15736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Lateral Move</a:t>
            </a:r>
            <a:endParaRPr lang="en-US" sz="1000" dirty="0"/>
          </a:p>
        </p:txBody>
      </p:sp>
      <p:sp>
        <p:nvSpPr>
          <p:cNvPr id="37" name="Shape 28"/>
          <p:cNvSpPr/>
          <p:nvPr/>
        </p:nvSpPr>
        <p:spPr>
          <a:xfrm>
            <a:off x="7383780" y="1695298"/>
            <a:ext cx="1971446" cy="4591202"/>
          </a:xfrm>
          <a:prstGeom prst="roundRect">
            <a:avLst>
              <a:gd name="adj" fmla="val 2689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29"/>
          <p:cNvSpPr/>
          <p:nvPr/>
        </p:nvSpPr>
        <p:spPr>
          <a:xfrm>
            <a:off x="8081467" y="1990649"/>
            <a:ext cx="571500" cy="571500"/>
          </a:xfrm>
          <a:prstGeom prst="ellipse">
            <a:avLst/>
          </a:prstGeom>
          <a:solidFill>
            <a:srgbClr val="A78BFA">
              <a:alpha val="10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7"/>
          <a:srcRect l="-57" r="-57"/>
          <a:stretch/>
        </p:blipFill>
        <p:spPr>
          <a:xfrm>
            <a:off x="8267090" y="2162556"/>
            <a:ext cx="200254" cy="228600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7473391" y="2704795"/>
            <a:ext cx="1793138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권한 남용 및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유출</a:t>
            </a:r>
            <a:endParaRPr lang="en-US" sz="1300" dirty="0"/>
          </a:p>
        </p:txBody>
      </p:sp>
      <p:sp>
        <p:nvSpPr>
          <p:cNvPr id="41" name="Text 31"/>
          <p:cNvSpPr txBox="1"/>
          <p:nvPr/>
        </p:nvSpPr>
        <p:spPr>
          <a:xfrm>
            <a:off x="7488022" y="3268980"/>
            <a:ext cx="1764792" cy="2076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 권한을 악용하여 민감 데이터 조회 및 대용량 파일 외부 전송 시도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7536485" y="5484571"/>
            <a:ext cx="1666951" cy="609905"/>
          </a:xfrm>
          <a:prstGeom prst="roundRect">
            <a:avLst>
              <a:gd name="adj" fmla="val 14055"/>
            </a:avLst>
          </a:prstGeom>
          <a:solidFill>
            <a:srgbClr val="0F172A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3"/>
          <p:cNvSpPr/>
          <p:nvPr/>
        </p:nvSpPr>
        <p:spPr>
          <a:xfrm>
            <a:off x="7536485" y="5484571"/>
            <a:ext cx="1666951" cy="19202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4"/>
          <p:cNvSpPr txBox="1"/>
          <p:nvPr/>
        </p:nvSpPr>
        <p:spPr>
          <a:xfrm>
            <a:off x="7591349" y="5598871"/>
            <a:ext cx="155722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kern="0" spc="4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ATTACK TACTIC</a:t>
            </a:r>
            <a:endParaRPr lang="en-US" sz="800" dirty="0"/>
          </a:p>
        </p:txBody>
      </p:sp>
      <p:sp>
        <p:nvSpPr>
          <p:cNvPr id="45" name="Text 35"/>
          <p:cNvSpPr txBox="1"/>
          <p:nvPr/>
        </p:nvSpPr>
        <p:spPr>
          <a:xfrm>
            <a:off x="7583119" y="5797296"/>
            <a:ext cx="15736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Exfiltration</a:t>
            </a:r>
            <a:endParaRPr lang="en-US" sz="1000" dirty="0"/>
          </a:p>
        </p:txBody>
      </p:sp>
      <p:sp>
        <p:nvSpPr>
          <p:cNvPr id="46" name="Shape 36"/>
          <p:cNvSpPr/>
          <p:nvPr/>
        </p:nvSpPr>
        <p:spPr>
          <a:xfrm>
            <a:off x="9655150" y="1695298"/>
            <a:ext cx="1971446" cy="4591202"/>
          </a:xfrm>
          <a:prstGeom prst="roundRect">
            <a:avLst>
              <a:gd name="adj" fmla="val 2689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37"/>
          <p:cNvSpPr/>
          <p:nvPr/>
        </p:nvSpPr>
        <p:spPr>
          <a:xfrm>
            <a:off x="10351922" y="1990649"/>
            <a:ext cx="571500" cy="571500"/>
          </a:xfrm>
          <a:prstGeom prst="ellipse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523830" y="2162556"/>
            <a:ext cx="228600" cy="228600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9987991" y="2704795"/>
            <a:ext cx="130759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탐지 및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차단</a:t>
            </a:r>
            <a:endParaRPr lang="en-US" sz="1300" dirty="0"/>
          </a:p>
        </p:txBody>
      </p:sp>
      <p:sp>
        <p:nvSpPr>
          <p:cNvPr id="50" name="Text 39"/>
          <p:cNvSpPr txBox="1"/>
          <p:nvPr/>
        </p:nvSpPr>
        <p:spPr>
          <a:xfrm>
            <a:off x="9758477" y="3268980"/>
            <a:ext cx="1764792" cy="2076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비정상 접근 및 트래픽 패턴 탐지, 계정 잠금 및 세션 강제 종료 조치</a:t>
            </a:r>
            <a:endParaRPr lang="en-US" sz="1000" dirty="0"/>
          </a:p>
        </p:txBody>
      </p:sp>
      <p:sp>
        <p:nvSpPr>
          <p:cNvPr id="51" name="Shape 40"/>
          <p:cNvSpPr/>
          <p:nvPr/>
        </p:nvSpPr>
        <p:spPr>
          <a:xfrm>
            <a:off x="9806940" y="5484571"/>
            <a:ext cx="1666951" cy="609905"/>
          </a:xfrm>
          <a:prstGeom prst="roundRect">
            <a:avLst>
              <a:gd name="adj" fmla="val 14055"/>
            </a:avLst>
          </a:prstGeom>
          <a:solidFill>
            <a:srgbClr val="0F172A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41"/>
          <p:cNvSpPr/>
          <p:nvPr/>
        </p:nvSpPr>
        <p:spPr>
          <a:xfrm>
            <a:off x="9806940" y="5484571"/>
            <a:ext cx="1666951" cy="1920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42"/>
          <p:cNvSpPr txBox="1"/>
          <p:nvPr/>
        </p:nvSpPr>
        <p:spPr>
          <a:xfrm>
            <a:off x="9862718" y="5598871"/>
            <a:ext cx="155722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kern="0" spc="4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RESPONSE</a:t>
            </a:r>
            <a:endParaRPr lang="en-US" sz="800" dirty="0"/>
          </a:p>
        </p:txBody>
      </p:sp>
      <p:sp>
        <p:nvSpPr>
          <p:cNvPr id="54" name="Text 43"/>
          <p:cNvSpPr txBox="1"/>
          <p:nvPr/>
        </p:nvSpPr>
        <p:spPr>
          <a:xfrm>
            <a:off x="9853574" y="5797296"/>
            <a:ext cx="15736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Block &amp; Reset</a:t>
            </a:r>
            <a:endParaRPr lang="en-US" sz="1000" dirty="0"/>
          </a:p>
        </p:txBody>
      </p:sp>
      <p:sp>
        <p:nvSpPr>
          <p:cNvPr id="55" name="Shape 44"/>
          <p:cNvSpPr/>
          <p:nvPr/>
        </p:nvSpPr>
        <p:spPr>
          <a:xfrm>
            <a:off x="1401775" y="1561795"/>
            <a:ext cx="304495" cy="304495"/>
          </a:xfrm>
          <a:prstGeom prst="ellipse">
            <a:avLst/>
          </a:prstGeom>
          <a:solidFill>
            <a:srgbClr val="0F172A"/>
          </a:solidFill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45"/>
          <p:cNvSpPr txBox="1"/>
          <p:nvPr/>
        </p:nvSpPr>
        <p:spPr>
          <a:xfrm>
            <a:off x="1419149" y="1612087"/>
            <a:ext cx="274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000" dirty="0"/>
          </a:p>
        </p:txBody>
      </p:sp>
      <p:sp>
        <p:nvSpPr>
          <p:cNvPr id="57" name="Shape 46"/>
          <p:cNvSpPr/>
          <p:nvPr/>
        </p:nvSpPr>
        <p:spPr>
          <a:xfrm>
            <a:off x="3673145" y="1561795"/>
            <a:ext cx="304495" cy="304495"/>
          </a:xfrm>
          <a:prstGeom prst="ellipse">
            <a:avLst/>
          </a:prstGeom>
          <a:solidFill>
            <a:srgbClr val="0F172A"/>
          </a:solidFill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47"/>
          <p:cNvSpPr txBox="1"/>
          <p:nvPr/>
        </p:nvSpPr>
        <p:spPr>
          <a:xfrm>
            <a:off x="3690518" y="1612087"/>
            <a:ext cx="274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000" dirty="0"/>
          </a:p>
        </p:txBody>
      </p:sp>
      <p:sp>
        <p:nvSpPr>
          <p:cNvPr id="59" name="Shape 48"/>
          <p:cNvSpPr/>
          <p:nvPr/>
        </p:nvSpPr>
        <p:spPr>
          <a:xfrm>
            <a:off x="5943600" y="1561795"/>
            <a:ext cx="304495" cy="304495"/>
          </a:xfrm>
          <a:prstGeom prst="ellipse">
            <a:avLst/>
          </a:prstGeom>
          <a:solidFill>
            <a:srgbClr val="0F172A"/>
          </a:solidFill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49"/>
          <p:cNvSpPr txBox="1"/>
          <p:nvPr/>
        </p:nvSpPr>
        <p:spPr>
          <a:xfrm>
            <a:off x="5960974" y="1612087"/>
            <a:ext cx="274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000" dirty="0"/>
          </a:p>
        </p:txBody>
      </p:sp>
      <p:sp>
        <p:nvSpPr>
          <p:cNvPr id="61" name="Shape 50"/>
          <p:cNvSpPr/>
          <p:nvPr/>
        </p:nvSpPr>
        <p:spPr>
          <a:xfrm>
            <a:off x="8214970" y="1561795"/>
            <a:ext cx="304495" cy="304495"/>
          </a:xfrm>
          <a:prstGeom prst="ellipse">
            <a:avLst/>
          </a:prstGeom>
          <a:solidFill>
            <a:srgbClr val="0F172A"/>
          </a:solidFill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1"/>
          <p:cNvSpPr txBox="1"/>
          <p:nvPr/>
        </p:nvSpPr>
        <p:spPr>
          <a:xfrm>
            <a:off x="8232343" y="1612087"/>
            <a:ext cx="274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000" dirty="0"/>
          </a:p>
        </p:txBody>
      </p:sp>
      <p:sp>
        <p:nvSpPr>
          <p:cNvPr id="63" name="Shape 52"/>
          <p:cNvSpPr/>
          <p:nvPr/>
        </p:nvSpPr>
        <p:spPr>
          <a:xfrm>
            <a:off x="10485425" y="1561795"/>
            <a:ext cx="304495" cy="304495"/>
          </a:xfrm>
          <a:prstGeom prst="ellipse">
            <a:avLst/>
          </a:prstGeom>
          <a:solidFill>
            <a:srgbClr val="0F172A"/>
          </a:solidFill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53"/>
          <p:cNvSpPr txBox="1"/>
          <p:nvPr/>
        </p:nvSpPr>
        <p:spPr>
          <a:xfrm>
            <a:off x="10502798" y="1612087"/>
            <a:ext cx="274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382305" y="-952805"/>
            <a:ext cx="4762195" cy="4762195"/>
          </a:xfrm>
          <a:prstGeom prst="ellipse">
            <a:avLst/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22D3EE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71500" y="381305"/>
            <a:ext cx="571500" cy="57607"/>
          </a:xfrm>
          <a:prstGeom prst="roundRect">
            <a:avLst>
              <a:gd name="adj" fmla="val 793654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571500" y="1047902"/>
            <a:ext cx="1117762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수행 과정의 기술적 제약사항과 달성한 보안 가치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533095"/>
            <a:ext cx="197236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한계 및 의의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71500" y="2048256"/>
            <a:ext cx="5286146" cy="9144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1695298"/>
            <a:ext cx="190195" cy="19019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334049" y="2048256"/>
            <a:ext cx="5286146" cy="9144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34049" y="1695298"/>
            <a:ext cx="142646" cy="19019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75995" y="1647749"/>
            <a:ext cx="30769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LIMITATIONS &amp; CHALLENGES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590995" y="1647749"/>
            <a:ext cx="25146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22D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SIGNIFICANCE &amp; VALUE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71500" y="2295144"/>
            <a:ext cx="5286146" cy="2838298"/>
          </a:xfrm>
          <a:prstGeom prst="roundRect">
            <a:avLst>
              <a:gd name="adj" fmla="val 1297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838505" y="2533802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 l="-133" r="-133"/>
          <a:stretch/>
        </p:blipFill>
        <p:spPr>
          <a:xfrm>
            <a:off x="981151" y="2648102"/>
            <a:ext cx="171907" cy="2286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4895698" y="2305202"/>
            <a:ext cx="952805" cy="952805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3"/>
          <p:cNvSpPr txBox="1"/>
          <p:nvPr/>
        </p:nvSpPr>
        <p:spPr>
          <a:xfrm>
            <a:off x="838505" y="3143707"/>
            <a:ext cx="16596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제한된 리소스 및 시간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838505" y="3490265"/>
            <a:ext cx="489021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물리적 하드웨어 자원의 한계로 인해 대규모 트래픽 부하 테스트와 완전한 이중화(HA) 구성에 제약이 있었습니다.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38505" y="4221785"/>
            <a:ext cx="4781398" cy="676656"/>
          </a:xfrm>
          <a:prstGeom prst="roundRect">
            <a:avLst>
              <a:gd name="adj" fmla="val 15226"/>
            </a:avLst>
          </a:prstGeom>
          <a:solidFill>
            <a:srgbClr val="0F172A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6"/>
          <p:cNvSpPr/>
          <p:nvPr/>
        </p:nvSpPr>
        <p:spPr>
          <a:xfrm>
            <a:off x="990295" y="4404665"/>
            <a:ext cx="57607" cy="57607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7"/>
          <p:cNvSpPr txBox="1"/>
          <p:nvPr/>
        </p:nvSpPr>
        <p:spPr>
          <a:xfrm>
            <a:off x="1143000" y="4336085"/>
            <a:ext cx="24505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Control Plane 이중화 미구현 (SPOF 존재)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990295" y="4656125"/>
            <a:ext cx="57607" cy="57607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9"/>
          <p:cNvSpPr txBox="1"/>
          <p:nvPr/>
        </p:nvSpPr>
        <p:spPr>
          <a:xfrm>
            <a:off x="1143000" y="4587545"/>
            <a:ext cx="24505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Storage 성능 병목으로 인한 백업 시간 지연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571500" y="5324551"/>
            <a:ext cx="5286146" cy="2838298"/>
          </a:xfrm>
          <a:prstGeom prst="roundRect">
            <a:avLst>
              <a:gd name="adj" fmla="val 1297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1"/>
          <p:cNvSpPr/>
          <p:nvPr/>
        </p:nvSpPr>
        <p:spPr>
          <a:xfrm>
            <a:off x="838505" y="5562295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52805" y="5676595"/>
            <a:ext cx="228600" cy="2286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38505" y="6172200"/>
            <a:ext cx="185989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복잡성 및 오탐 이슈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838505" y="6518758"/>
            <a:ext cx="489021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다양한 보안 솔루션의 통합으로 인해 정책 관리 포인트가 증가하고, 초기 설정 시 Suricata 등의 오탐(False Positive) 조정에 어려움이 있었습니다.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838505" y="7250278"/>
            <a:ext cx="4781398" cy="676656"/>
          </a:xfrm>
          <a:prstGeom prst="roundRect">
            <a:avLst>
              <a:gd name="adj" fmla="val 15226"/>
            </a:avLst>
          </a:prstGeom>
          <a:solidFill>
            <a:srgbClr val="0F172A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5"/>
          <p:cNvSpPr/>
          <p:nvPr/>
        </p:nvSpPr>
        <p:spPr>
          <a:xfrm>
            <a:off x="990295" y="7433158"/>
            <a:ext cx="57607" cy="57607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6"/>
          <p:cNvSpPr txBox="1"/>
          <p:nvPr/>
        </p:nvSpPr>
        <p:spPr>
          <a:xfrm>
            <a:off x="1143000" y="7364578"/>
            <a:ext cx="24688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정상 트래픽 차단 사례 발생 (초기 튜닝 필요)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990295" y="7684618"/>
            <a:ext cx="57607" cy="57607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8"/>
          <p:cNvSpPr txBox="1"/>
          <p:nvPr/>
        </p:nvSpPr>
        <p:spPr>
          <a:xfrm>
            <a:off x="1143000" y="7616038"/>
            <a:ext cx="21076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간 로그 포맷 불일치 해결 소요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6334049" y="2295144"/>
            <a:ext cx="5286146" cy="2838298"/>
          </a:xfrm>
          <a:prstGeom prst="roundRect">
            <a:avLst>
              <a:gd name="adj" fmla="val 1297"/>
            </a:avLst>
          </a:prstGeom>
          <a:solidFill>
            <a:srgbClr val="1E293B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6601054" y="2533802"/>
            <a:ext cx="457200" cy="342900"/>
          </a:xfrm>
          <a:prstGeom prst="roundRect">
            <a:avLst>
              <a:gd name="adj" fmla="val 74074"/>
            </a:avLst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715354" y="2590495"/>
            <a:ext cx="228600" cy="228600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10658246" y="2305202"/>
            <a:ext cx="952805" cy="952805"/>
          </a:xfrm>
          <a:prstGeom prst="rect">
            <a:avLst/>
          </a:prstGeom>
          <a:solidFill>
            <a:srgbClr val="22D3EE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2"/>
          <p:cNvSpPr txBox="1"/>
          <p:nvPr/>
        </p:nvSpPr>
        <p:spPr>
          <a:xfrm>
            <a:off x="6601054" y="3027578"/>
            <a:ext cx="181234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보안 아키텍처 실증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6601054" y="3374136"/>
            <a:ext cx="4890211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오픈소스(OpenStack, pfSense, ELK)와 클라우드(AWS)를 결합하여 비용 효율적이면서도 엔터프라이즈급 기능을 갖춘 보안 인프라를 성공적으로 구현했습니다.</a:t>
            </a:r>
            <a:endParaRPr lang="en-US" sz="1100" dirty="0"/>
          </a:p>
        </p:txBody>
      </p:sp>
      <p:sp>
        <p:nvSpPr>
          <p:cNvPr id="41" name="Shape 34"/>
          <p:cNvSpPr/>
          <p:nvPr/>
        </p:nvSpPr>
        <p:spPr>
          <a:xfrm>
            <a:off x="6601054" y="4221785"/>
            <a:ext cx="4781398" cy="676656"/>
          </a:xfrm>
          <a:prstGeom prst="roundRect">
            <a:avLst>
              <a:gd name="adj" fmla="val 15226"/>
            </a:avLst>
          </a:prstGeom>
          <a:solidFill>
            <a:srgbClr val="0F172A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5"/>
          <p:cNvSpPr/>
          <p:nvPr/>
        </p:nvSpPr>
        <p:spPr>
          <a:xfrm>
            <a:off x="6752844" y="4404665"/>
            <a:ext cx="57607" cy="57607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6"/>
          <p:cNvSpPr txBox="1"/>
          <p:nvPr/>
        </p:nvSpPr>
        <p:spPr>
          <a:xfrm>
            <a:off x="6905549" y="4336085"/>
            <a:ext cx="25648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On-Premise와 Public Cloud 간 안전한 연결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6752844" y="4656125"/>
            <a:ext cx="57607" cy="57607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38"/>
          <p:cNvSpPr txBox="1"/>
          <p:nvPr/>
        </p:nvSpPr>
        <p:spPr>
          <a:xfrm>
            <a:off x="6905549" y="4587545"/>
            <a:ext cx="215524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 구간 트래픽 가시성(Visibility) 확보</a:t>
            </a:r>
            <a:endParaRPr lang="en-US" sz="1000" dirty="0"/>
          </a:p>
        </p:txBody>
      </p:sp>
      <p:sp>
        <p:nvSpPr>
          <p:cNvPr id="46" name="Shape 39"/>
          <p:cNvSpPr/>
          <p:nvPr/>
        </p:nvSpPr>
        <p:spPr>
          <a:xfrm>
            <a:off x="6334049" y="5324551"/>
            <a:ext cx="5286146" cy="2838298"/>
          </a:xfrm>
          <a:prstGeom prst="roundRect">
            <a:avLst>
              <a:gd name="adj" fmla="val 1297"/>
            </a:avLst>
          </a:prstGeom>
          <a:solidFill>
            <a:srgbClr val="1E293B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0"/>
          <p:cNvSpPr/>
          <p:nvPr/>
        </p:nvSpPr>
        <p:spPr>
          <a:xfrm>
            <a:off x="6601054" y="5562295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715354" y="5676595"/>
            <a:ext cx="228600" cy="228600"/>
          </a:xfrm>
          <a:prstGeom prst="rect">
            <a:avLst/>
          </a:prstGeom>
        </p:spPr>
      </p:pic>
      <p:sp>
        <p:nvSpPr>
          <p:cNvPr id="49" name="Shape 41"/>
          <p:cNvSpPr/>
          <p:nvPr/>
        </p:nvSpPr>
        <p:spPr>
          <a:xfrm>
            <a:off x="10658246" y="5333695"/>
            <a:ext cx="952805" cy="952805"/>
          </a:xfrm>
          <a:prstGeom prst="rect">
            <a:avLst/>
          </a:prstGeom>
          <a:solidFill>
            <a:srgbClr val="22D3EE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2"/>
          <p:cNvSpPr txBox="1"/>
          <p:nvPr/>
        </p:nvSpPr>
        <p:spPr>
          <a:xfrm>
            <a:off x="6601054" y="6172200"/>
            <a:ext cx="150693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미래 확장 기반 확보</a:t>
            </a:r>
            <a:endParaRPr lang="en-US" sz="1300" dirty="0"/>
          </a:p>
        </p:txBody>
      </p:sp>
      <p:sp>
        <p:nvSpPr>
          <p:cNvPr id="51" name="Text 43"/>
          <p:cNvSpPr txBox="1"/>
          <p:nvPr/>
        </p:nvSpPr>
        <p:spPr>
          <a:xfrm>
            <a:off x="6601054" y="6518758"/>
            <a:ext cx="489021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구축된 인프라를 바탕으로 컨테이너 보안, Zero Trust 네트워크, 보안 자동화(SOAR) 등 차세대 보안 기술로 확장할 수 있는 토대를 마련했습니다.</a:t>
            </a:r>
            <a:endParaRPr lang="en-US" sz="1100" dirty="0"/>
          </a:p>
        </p:txBody>
      </p:sp>
      <p:sp>
        <p:nvSpPr>
          <p:cNvPr id="52" name="Shape 44"/>
          <p:cNvSpPr/>
          <p:nvPr/>
        </p:nvSpPr>
        <p:spPr>
          <a:xfrm>
            <a:off x="6601054" y="7250278"/>
            <a:ext cx="4781398" cy="676656"/>
          </a:xfrm>
          <a:prstGeom prst="roundRect">
            <a:avLst>
              <a:gd name="adj" fmla="val 15226"/>
            </a:avLst>
          </a:prstGeom>
          <a:solidFill>
            <a:srgbClr val="0F172A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45"/>
          <p:cNvSpPr/>
          <p:nvPr/>
        </p:nvSpPr>
        <p:spPr>
          <a:xfrm>
            <a:off x="6752844" y="7433158"/>
            <a:ext cx="57607" cy="57607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46"/>
          <p:cNvSpPr txBox="1"/>
          <p:nvPr/>
        </p:nvSpPr>
        <p:spPr>
          <a:xfrm>
            <a:off x="6905549" y="7364578"/>
            <a:ext cx="26791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K8s 클러스터 연동 및 마이크로서비스 보안 확장</a:t>
            </a:r>
            <a:endParaRPr lang="en-US" sz="1000" dirty="0"/>
          </a:p>
        </p:txBody>
      </p:sp>
      <p:sp>
        <p:nvSpPr>
          <p:cNvPr id="55" name="Shape 47"/>
          <p:cNvSpPr/>
          <p:nvPr/>
        </p:nvSpPr>
        <p:spPr>
          <a:xfrm>
            <a:off x="6752844" y="7684618"/>
            <a:ext cx="57607" cy="57607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Text 48"/>
          <p:cNvSpPr txBox="1"/>
          <p:nvPr/>
        </p:nvSpPr>
        <p:spPr>
          <a:xfrm>
            <a:off x="6905549" y="7616038"/>
            <a:ext cx="257403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기반 로그 분석 및 자동 대응 체계 도입 가능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952805" y="-952805"/>
            <a:ext cx="5715000" cy="5715000"/>
          </a:xfrm>
          <a:prstGeom prst="ellipse">
            <a:avLst/>
          </a:prstGeom>
          <a:solidFill>
            <a:srgbClr val="22D3EE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905902" y="3524098"/>
            <a:ext cx="4762195" cy="4762195"/>
          </a:xfrm>
          <a:prstGeom prst="ellipse">
            <a:avLst/>
          </a:prstGeom>
          <a:solidFill>
            <a:srgbClr val="3B82F6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685800"/>
            <a:ext cx="12191695" cy="9144"/>
          </a:xfrm>
          <a:prstGeom prst="rect">
            <a:avLst/>
          </a:prstGeom>
          <a:solidFill>
            <a:srgbClr val="334155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0" y="2057400"/>
            <a:ext cx="12191695" cy="9144"/>
          </a:xfrm>
          <a:prstGeom prst="rect">
            <a:avLst/>
          </a:prstGeom>
          <a:solidFill>
            <a:srgbClr val="334155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0" y="3429000"/>
            <a:ext cx="12191695" cy="9144"/>
          </a:xfrm>
          <a:prstGeom prst="rect">
            <a:avLst/>
          </a:prstGeom>
          <a:solidFill>
            <a:srgbClr val="334155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12191695" cy="9144"/>
          </a:xfrm>
          <a:prstGeom prst="rect">
            <a:avLst/>
          </a:prstGeom>
          <a:solidFill>
            <a:srgbClr val="334155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0" y="6172200"/>
            <a:ext cx="12191695" cy="9144"/>
          </a:xfrm>
          <a:prstGeom prst="rect">
            <a:avLst/>
          </a:prstGeom>
          <a:solidFill>
            <a:srgbClr val="334155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218895" y="0"/>
            <a:ext cx="9144" cy="6858000"/>
          </a:xfrm>
          <a:prstGeom prst="rect">
            <a:avLst/>
          </a:prstGeom>
          <a:solidFill>
            <a:srgbClr val="334155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334155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096305" y="0"/>
            <a:ext cx="9144" cy="6858000"/>
          </a:xfrm>
          <a:prstGeom prst="rect">
            <a:avLst/>
          </a:prstGeom>
          <a:solidFill>
            <a:srgbClr val="334155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534095" y="0"/>
            <a:ext cx="9144" cy="6858000"/>
          </a:xfrm>
          <a:prstGeom prst="rect">
            <a:avLst/>
          </a:prstGeom>
          <a:solidFill>
            <a:srgbClr val="334155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334155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761695" y="2866644"/>
            <a:ext cx="6553505" cy="685800"/>
          </a:xfrm>
          <a:prstGeom prst="rect">
            <a:avLst/>
          </a:prstGeom>
          <a:noFill/>
          <a:ln w="50800">
            <a:solidFill>
              <a:srgbClr val="22D3EE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경청해 주셔서 감사합니다.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프로젝트에 대해 궁금하신 점을 질문해 주세요.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1695" y="4315054"/>
            <a:ext cx="2790749" cy="1238098"/>
          </a:xfrm>
          <a:prstGeom prst="roundRect">
            <a:avLst>
              <a:gd name="adj" fmla="val 6817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rcRect l="-9880" r="-9880"/>
          <a:stretch/>
        </p:blipFill>
        <p:spPr>
          <a:xfrm>
            <a:off x="961949" y="4552798"/>
            <a:ext cx="228600" cy="152705"/>
          </a:xfrm>
          <a:prstGeom prst="rect">
            <a:avLst/>
          </a:prstGeom>
        </p:spPr>
      </p:pic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 l="-24850" r="-24850"/>
          <a:stretch/>
        </p:blipFill>
        <p:spPr>
          <a:xfrm>
            <a:off x="961949" y="4858207"/>
            <a:ext cx="228600" cy="152705"/>
          </a:xfrm>
          <a:prstGeom prst="rect">
            <a:avLst/>
          </a:prstGeom>
        </p:spPr>
      </p:pic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27265" r="-27265"/>
          <a:stretch/>
        </p:blipFill>
        <p:spPr>
          <a:xfrm>
            <a:off x="961949" y="5162702"/>
            <a:ext cx="228600" cy="15270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304849" y="4515307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인프라 구축 팀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1304849" y="4819802"/>
            <a:ext cx="21625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team_security@project.local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1304849" y="5124298"/>
            <a:ext cx="18772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github.com/project-repo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761695" y="886054"/>
            <a:ext cx="2343607" cy="221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</a:t>
            </a:r>
            <a:endParaRPr lang="en-US" sz="12000" dirty="0"/>
          </a:p>
        </p:txBody>
      </p:sp>
      <p:sp>
        <p:nvSpPr>
          <p:cNvPr id="24" name="Text 19"/>
          <p:cNvSpPr txBox="1"/>
          <p:nvPr/>
        </p:nvSpPr>
        <p:spPr>
          <a:xfrm>
            <a:off x="1959559" y="886054"/>
            <a:ext cx="2324405" cy="221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22D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&amp;</a:t>
            </a:r>
            <a:endParaRPr lang="en-US" sz="12000" dirty="0"/>
          </a:p>
        </p:txBody>
      </p:sp>
      <p:sp>
        <p:nvSpPr>
          <p:cNvPr id="25" name="Text 20"/>
          <p:cNvSpPr txBox="1"/>
          <p:nvPr/>
        </p:nvSpPr>
        <p:spPr>
          <a:xfrm>
            <a:off x="3138221" y="886054"/>
            <a:ext cx="2153412" cy="221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2000" dirty="0"/>
          </a:p>
        </p:txBody>
      </p:sp>
      <p:sp>
        <p:nvSpPr>
          <p:cNvPr id="26" name="Shape 21"/>
          <p:cNvSpPr/>
          <p:nvPr/>
        </p:nvSpPr>
        <p:spPr>
          <a:xfrm>
            <a:off x="7144207" y="1047902"/>
            <a:ext cx="4286707" cy="4762195"/>
          </a:xfrm>
          <a:prstGeom prst="roundRect">
            <a:avLst>
              <a:gd name="adj" fmla="val 948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  <a:effectLst>
            <a:outerShdw blurRad="241300" dist="1905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2"/>
          <p:cNvSpPr/>
          <p:nvPr/>
        </p:nvSpPr>
        <p:spPr>
          <a:xfrm>
            <a:off x="8715146" y="961949"/>
            <a:ext cx="1143000" cy="190195"/>
          </a:xfrm>
          <a:prstGeom prst="roundRect">
            <a:avLst>
              <a:gd name="adj" fmla="val 96154"/>
            </a:avLst>
          </a:prstGeom>
          <a:solidFill>
            <a:srgbClr val="38BDF8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3"/>
          <p:cNvSpPr/>
          <p:nvPr/>
        </p:nvSpPr>
        <p:spPr>
          <a:xfrm>
            <a:off x="7438644" y="1781251"/>
            <a:ext cx="3696005" cy="19202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4"/>
          <p:cNvSpPr txBox="1"/>
          <p:nvPr/>
        </p:nvSpPr>
        <p:spPr>
          <a:xfrm>
            <a:off x="7438644" y="1343254"/>
            <a:ext cx="17913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Discussion Points</a:t>
            </a:r>
            <a:endParaRPr lang="en-US" sz="15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10963656" y="1371600"/>
            <a:ext cx="171907" cy="228600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7438644" y="2104949"/>
            <a:ext cx="75895" cy="75895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6"/>
          <p:cNvSpPr/>
          <p:nvPr/>
        </p:nvSpPr>
        <p:spPr>
          <a:xfrm>
            <a:off x="7667244" y="2286914"/>
            <a:ext cx="346740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7"/>
          <p:cNvSpPr txBox="1"/>
          <p:nvPr/>
        </p:nvSpPr>
        <p:spPr>
          <a:xfrm>
            <a:off x="7667244" y="2029054"/>
            <a:ext cx="233812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백업 및 재해 복구(DR) 시나리오 상세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7438644" y="2521915"/>
            <a:ext cx="75895" cy="75895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9"/>
          <p:cNvSpPr/>
          <p:nvPr/>
        </p:nvSpPr>
        <p:spPr>
          <a:xfrm>
            <a:off x="7667244" y="2703881"/>
            <a:ext cx="346740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0"/>
          <p:cNvSpPr txBox="1"/>
          <p:nvPr/>
        </p:nvSpPr>
        <p:spPr>
          <a:xfrm>
            <a:off x="7667244" y="2446020"/>
            <a:ext cx="259506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Suricata 오탐(False Positive) 튜닝 과정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7438644" y="2939796"/>
            <a:ext cx="75895" cy="75895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2"/>
          <p:cNvSpPr/>
          <p:nvPr/>
        </p:nvSpPr>
        <p:spPr>
          <a:xfrm>
            <a:off x="7667244" y="3120847"/>
            <a:ext cx="346740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3"/>
          <p:cNvSpPr txBox="1"/>
          <p:nvPr/>
        </p:nvSpPr>
        <p:spPr>
          <a:xfrm>
            <a:off x="7667244" y="2862986"/>
            <a:ext cx="18425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 OpenVPN 이중화 방안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7438644" y="3356762"/>
            <a:ext cx="75895" cy="75895"/>
          </a:xfrm>
          <a:prstGeom prst="ellipse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5"/>
          <p:cNvSpPr/>
          <p:nvPr/>
        </p:nvSpPr>
        <p:spPr>
          <a:xfrm>
            <a:off x="7667244" y="3518611"/>
            <a:ext cx="346740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6"/>
          <p:cNvSpPr txBox="1"/>
          <p:nvPr/>
        </p:nvSpPr>
        <p:spPr>
          <a:xfrm>
            <a:off x="7667244" y="3279953"/>
            <a:ext cx="5833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Memo...</a:t>
            </a:r>
            <a:endParaRPr lang="en-US" sz="1000" dirty="0"/>
          </a:p>
        </p:txBody>
      </p:sp>
      <p:sp>
        <p:nvSpPr>
          <p:cNvPr id="43" name="Shape 37"/>
          <p:cNvSpPr/>
          <p:nvPr/>
        </p:nvSpPr>
        <p:spPr>
          <a:xfrm>
            <a:off x="7438644" y="3750869"/>
            <a:ext cx="75895" cy="75895"/>
          </a:xfrm>
          <a:prstGeom prst="ellipse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38"/>
          <p:cNvSpPr/>
          <p:nvPr/>
        </p:nvSpPr>
        <p:spPr>
          <a:xfrm>
            <a:off x="7667244" y="3894430"/>
            <a:ext cx="346740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39"/>
          <p:cNvSpPr/>
          <p:nvPr/>
        </p:nvSpPr>
        <p:spPr>
          <a:xfrm>
            <a:off x="7438644" y="4132174"/>
            <a:ext cx="75895" cy="75895"/>
          </a:xfrm>
          <a:prstGeom prst="ellipse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0"/>
          <p:cNvSpPr/>
          <p:nvPr/>
        </p:nvSpPr>
        <p:spPr>
          <a:xfrm>
            <a:off x="7667244" y="4274820"/>
            <a:ext cx="346740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1"/>
          <p:cNvSpPr/>
          <p:nvPr/>
        </p:nvSpPr>
        <p:spPr>
          <a:xfrm>
            <a:off x="7438644" y="4512564"/>
            <a:ext cx="75895" cy="75895"/>
          </a:xfrm>
          <a:prstGeom prst="ellipse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2"/>
          <p:cNvSpPr/>
          <p:nvPr/>
        </p:nvSpPr>
        <p:spPr>
          <a:xfrm>
            <a:off x="7667244" y="4656125"/>
            <a:ext cx="346740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9" name="Image 4" descr="preencoded.png"/>
          <p:cNvPicPr>
            <a:picLocks noChangeAspect="1"/>
          </p:cNvPicPr>
          <p:nvPr/>
        </p:nvPicPr>
        <p:blipFill>
          <a:blip r:embed="rId7"/>
          <a:srcRect t="-54" b="-54"/>
          <a:stretch/>
        </p:blipFill>
        <p:spPr>
          <a:xfrm>
            <a:off x="10696651" y="5000854"/>
            <a:ext cx="533095" cy="6099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1053</TotalTime>
  <Words>2075</Words>
  <Application>Microsoft Office PowerPoint</Application>
  <PresentationFormat>와이드스크린</PresentationFormat>
  <Paragraphs>474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3" baseType="lpstr">
      <vt:lpstr>Noto Sans KR</vt:lpstr>
      <vt:lpstr>ui-monospace</vt:lpstr>
      <vt:lpstr>맑은 고딕</vt:lpstr>
      <vt:lpstr>Arial</vt:lpstr>
      <vt:lpstr>Calibri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FullName</cp:lastModifiedBy>
  <cp:revision>17</cp:revision>
  <dcterms:created xsi:type="dcterms:W3CDTF">2026-01-21T11:43:03Z</dcterms:created>
  <dcterms:modified xsi:type="dcterms:W3CDTF">2026-01-30T06:55:32Z</dcterms:modified>
</cp:coreProperties>
</file>